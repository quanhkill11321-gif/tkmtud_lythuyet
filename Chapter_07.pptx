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2" r:id="rId4"/>
  </p:sldMasterIdLst>
  <p:notesMasterIdLst>
    <p:notesMasterId r:id="rId66"/>
  </p:notesMasterIdLst>
  <p:handoutMasterIdLst>
    <p:handoutMasterId r:id="rId67"/>
  </p:handoutMasterIdLst>
  <p:sldIdLst>
    <p:sldId id="621" r:id="rId5"/>
    <p:sldId id="623" r:id="rId6"/>
    <p:sldId id="624" r:id="rId7"/>
    <p:sldId id="760" r:id="rId8"/>
    <p:sldId id="770" r:id="rId9"/>
    <p:sldId id="775" r:id="rId10"/>
    <p:sldId id="772" r:id="rId11"/>
    <p:sldId id="774" r:id="rId12"/>
    <p:sldId id="759" r:id="rId13"/>
    <p:sldId id="666" r:id="rId14"/>
    <p:sldId id="798" r:id="rId15"/>
    <p:sldId id="761" r:id="rId16"/>
    <p:sldId id="776" r:id="rId17"/>
    <p:sldId id="777" r:id="rId18"/>
    <p:sldId id="778" r:id="rId19"/>
    <p:sldId id="779" r:id="rId20"/>
    <p:sldId id="780" r:id="rId21"/>
    <p:sldId id="781" r:id="rId22"/>
    <p:sldId id="784" r:id="rId23"/>
    <p:sldId id="785" r:id="rId24"/>
    <p:sldId id="786" r:id="rId25"/>
    <p:sldId id="787" r:id="rId26"/>
    <p:sldId id="792" r:id="rId27"/>
    <p:sldId id="793" r:id="rId28"/>
    <p:sldId id="802" r:id="rId29"/>
    <p:sldId id="803" r:id="rId30"/>
    <p:sldId id="804" r:id="rId31"/>
    <p:sldId id="805" r:id="rId32"/>
    <p:sldId id="807" r:id="rId33"/>
    <p:sldId id="808" r:id="rId34"/>
    <p:sldId id="809" r:id="rId35"/>
    <p:sldId id="810" r:id="rId36"/>
    <p:sldId id="811" r:id="rId37"/>
    <p:sldId id="688" r:id="rId38"/>
    <p:sldId id="689" r:id="rId39"/>
    <p:sldId id="690" r:id="rId40"/>
    <p:sldId id="691" r:id="rId41"/>
    <p:sldId id="801" r:id="rId42"/>
    <p:sldId id="794" r:id="rId43"/>
    <p:sldId id="795" r:id="rId44"/>
    <p:sldId id="796" r:id="rId45"/>
    <p:sldId id="797" r:id="rId46"/>
    <p:sldId id="723" r:id="rId47"/>
    <p:sldId id="724" r:id="rId48"/>
    <p:sldId id="726" r:id="rId49"/>
    <p:sldId id="727" r:id="rId50"/>
    <p:sldId id="799" r:id="rId51"/>
    <p:sldId id="800" r:id="rId52"/>
    <p:sldId id="741" r:id="rId53"/>
    <p:sldId id="744" r:id="rId54"/>
    <p:sldId id="745" r:id="rId55"/>
    <p:sldId id="746" r:id="rId56"/>
    <p:sldId id="747" r:id="rId57"/>
    <p:sldId id="748" r:id="rId58"/>
    <p:sldId id="751" r:id="rId59"/>
    <p:sldId id="752" r:id="rId60"/>
    <p:sldId id="753" r:id="rId61"/>
    <p:sldId id="754" r:id="rId62"/>
    <p:sldId id="755" r:id="rId63"/>
    <p:sldId id="756" r:id="rId64"/>
    <p:sldId id="757" r:id="rId65"/>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5pPr>
    <a:lvl6pPr marL="2286000" algn="l" defTabSz="914400" rtl="0" eaLnBrk="1" latinLnBrk="0" hangingPunct="1">
      <a:defRPr sz="2000" b="1" kern="1200">
        <a:solidFill>
          <a:schemeClr val="tx1"/>
        </a:solidFill>
        <a:latin typeface="Arial" panose="020B0604020202020204" pitchFamily="34" charset="0"/>
        <a:ea typeface="+mn-ea"/>
        <a:cs typeface="+mn-cs"/>
      </a:defRPr>
    </a:lvl6pPr>
    <a:lvl7pPr marL="2743200" algn="l" defTabSz="914400" rtl="0" eaLnBrk="1" latinLnBrk="0" hangingPunct="1">
      <a:defRPr sz="2000" b="1" kern="1200">
        <a:solidFill>
          <a:schemeClr val="tx1"/>
        </a:solidFill>
        <a:latin typeface="Arial" panose="020B0604020202020204" pitchFamily="34" charset="0"/>
        <a:ea typeface="+mn-ea"/>
        <a:cs typeface="+mn-cs"/>
      </a:defRPr>
    </a:lvl7pPr>
    <a:lvl8pPr marL="3200400" algn="l" defTabSz="914400" rtl="0" eaLnBrk="1" latinLnBrk="0" hangingPunct="1">
      <a:defRPr sz="2000" b="1" kern="1200">
        <a:solidFill>
          <a:schemeClr val="tx1"/>
        </a:solidFill>
        <a:latin typeface="Arial" panose="020B0604020202020204" pitchFamily="34" charset="0"/>
        <a:ea typeface="+mn-ea"/>
        <a:cs typeface="+mn-cs"/>
      </a:defRPr>
    </a:lvl8pPr>
    <a:lvl9pPr marL="3657600" algn="l" defTabSz="914400" rtl="0" eaLnBrk="1" latinLnBrk="0" hangingPunct="1">
      <a:defRPr sz="20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48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FE1CA"/>
    <a:srgbClr val="008000"/>
    <a:srgbClr val="F7D5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7220" autoAdjust="0"/>
  </p:normalViewPr>
  <p:slideViewPr>
    <p:cSldViewPr>
      <p:cViewPr varScale="1">
        <p:scale>
          <a:sx n="102" d="100"/>
          <a:sy n="102" d="100"/>
        </p:scale>
        <p:origin x="852" y="72"/>
      </p:cViewPr>
      <p:guideLst>
        <p:guide orient="horz" pos="4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75" d="100"/>
          <a:sy n="75" d="100"/>
        </p:scale>
        <p:origin x="-3288" y="-48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332163" y="4356100"/>
            <a:ext cx="4191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2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2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2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2000" b="1">
                <a:solidFill>
                  <a:schemeClr val="tx1"/>
                </a:solidFill>
                <a:latin typeface="Arial" panose="020B0604020202020204" pitchFamily="34" charset="0"/>
              </a:defRPr>
            </a:lvl9pPr>
          </a:lstStyle>
          <a:p>
            <a:pPr>
              <a:lnSpc>
                <a:spcPct val="90000"/>
              </a:lnSpc>
              <a:defRPr/>
            </a:pPr>
            <a:fld id="{DF06E681-7850-4294-9234-1066E5C38ED7}" type="slidenum">
              <a:rPr lang="en-US" altLang="en-US" sz="1600" smtClean="0"/>
              <a:pPr>
                <a:lnSpc>
                  <a:spcPct val="90000"/>
                </a:lnSpc>
                <a:defRPr/>
              </a:pPr>
              <a:t>‹#›</a:t>
            </a:fld>
            <a:endParaRPr lang="en-US" altLang="en-US" sz="1600"/>
          </a:p>
        </p:txBody>
      </p:sp>
      <p:sp>
        <p:nvSpPr>
          <p:cNvPr id="3075" name="Rectangle 3"/>
          <p:cNvSpPr>
            <a:spLocks noChangeArrowheads="1"/>
          </p:cNvSpPr>
          <p:nvPr/>
        </p:nvSpPr>
        <p:spPr bwMode="auto">
          <a:xfrm>
            <a:off x="3219450" y="4356100"/>
            <a:ext cx="419100" cy="322263"/>
          </a:xfrm>
          <a:prstGeom prst="rect">
            <a:avLst/>
          </a:prstGeom>
          <a:noFill/>
          <a:ln w="12700">
            <a:noFill/>
            <a:miter lim="800000"/>
            <a:headEnd/>
            <a:tailEnd/>
          </a:ln>
          <a:effec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2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2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2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2000" b="1">
                <a:solidFill>
                  <a:schemeClr val="tx1"/>
                </a:solidFill>
                <a:latin typeface="Arial" panose="020B0604020202020204" pitchFamily="34" charset="0"/>
              </a:defRPr>
            </a:lvl9pPr>
          </a:lstStyle>
          <a:p>
            <a:pPr algn="ctr">
              <a:lnSpc>
                <a:spcPct val="90000"/>
              </a:lnSpc>
              <a:defRPr/>
            </a:pPr>
            <a:fld id="{2AA0BF8F-CF43-4B04-8F67-1DD0E9624CDD}" type="slidenum">
              <a:rPr lang="en-US" altLang="en-US" sz="1600" smtClean="0">
                <a:effectLst>
                  <a:outerShdw blurRad="38100" dist="38100" dir="2700000" algn="tl">
                    <a:srgbClr val="C0C0C0"/>
                  </a:outerShdw>
                </a:effectLst>
              </a:rPr>
              <a:pPr algn="ctr">
                <a:lnSpc>
                  <a:spcPct val="90000"/>
                </a:lnSpc>
                <a:defRPr/>
              </a:pPr>
              <a:t>‹#›</a:t>
            </a:fld>
            <a:endParaRPr lang="en-US" altLang="en-US" sz="1600">
              <a:effectLst>
                <a:outerShdw blurRad="38100" dist="38100" dir="2700000" algn="tl">
                  <a:srgbClr val="C0C0C0"/>
                </a:outerShdw>
              </a:effectLst>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1" name="Rectangle 3"/>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1pPr>
    <a:lvl2pPr marL="457200"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2pPr>
    <a:lvl3pPr marL="914400"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3pPr>
    <a:lvl4pPr marL="1371600"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4pPr>
    <a:lvl5pPr marL="1828800"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spect="1" noChangeArrowheads="1" noTextEdit="1"/>
          </p:cNvSpPr>
          <p:nvPr>
            <p:ph type="sldImg"/>
          </p:nvPr>
        </p:nvSpPr>
        <p:spPr>
          <a:xfrm>
            <a:off x="1150938" y="692150"/>
            <a:ext cx="4556125" cy="3416300"/>
          </a:xfrm>
          <a:ln/>
        </p:spPr>
      </p:sp>
      <p:sp>
        <p:nvSpPr>
          <p:cNvPr id="51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xfrm>
            <a:off x="1150938" y="692150"/>
            <a:ext cx="4556125" cy="3416300"/>
          </a:xfrm>
          <a:ln/>
        </p:spPr>
      </p:sp>
      <p:sp>
        <p:nvSpPr>
          <p:cNvPr id="71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xfrm>
            <a:off x="1150938" y="692150"/>
            <a:ext cx="4556125" cy="3416300"/>
          </a:xfrm>
          <a:ln/>
        </p:spPr>
      </p:sp>
      <p:sp>
        <p:nvSpPr>
          <p:cNvPr id="921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xfrm>
            <a:off x="1150938" y="692150"/>
            <a:ext cx="4556125" cy="3416300"/>
          </a:xfrm>
          <a:ln/>
        </p:spPr>
      </p:sp>
      <p:sp>
        <p:nvSpPr>
          <p:cNvPr id="112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xfrm>
            <a:off x="1150938" y="692150"/>
            <a:ext cx="4556125" cy="3416300"/>
          </a:xfrm>
          <a:ln/>
        </p:spPr>
      </p:sp>
      <p:sp>
        <p:nvSpPr>
          <p:cNvPr id="112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376535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xfrm>
            <a:off x="1150938" y="692150"/>
            <a:ext cx="4556125" cy="3416300"/>
          </a:xfrm>
          <a:ln/>
        </p:spPr>
      </p:sp>
      <p:sp>
        <p:nvSpPr>
          <p:cNvPr id="112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945678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xfrm>
            <a:off x="1150938" y="692150"/>
            <a:ext cx="4556125" cy="3416300"/>
          </a:xfrm>
          <a:ln/>
        </p:spPr>
      </p:sp>
      <p:sp>
        <p:nvSpPr>
          <p:cNvPr id="112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214065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50938" y="692150"/>
            <a:ext cx="4556125" cy="341630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1150938" y="692150"/>
            <a:ext cx="4556125" cy="3416300"/>
          </a:xfrm>
          <a:ln/>
        </p:spPr>
      </p:sp>
      <p:sp>
        <p:nvSpPr>
          <p:cNvPr id="2560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4182217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latin typeface="Arial" panose="020B0604020202020204" pitchFamily="34" charset="0"/>
              </a:rPr>
              <a:t>Soạn</a:t>
            </a:r>
            <a:r>
              <a:rPr lang="en-US" altLang="en-US" dirty="0">
                <a:latin typeface="Arial" panose="020B0604020202020204" pitchFamily="34" charset="0"/>
              </a:rPr>
              <a:t> </a:t>
            </a:r>
            <a:r>
              <a:rPr lang="en-US" altLang="en-US" dirty="0" err="1">
                <a:latin typeface="Arial" panose="020B0604020202020204" pitchFamily="34" charset="0"/>
              </a:rPr>
              <a:t>lại</a:t>
            </a:r>
            <a:r>
              <a:rPr lang="en-US" altLang="en-US" dirty="0">
                <a:latin typeface="Arial" panose="020B0604020202020204" pitchFamily="34" charset="0"/>
              </a:rPr>
              <a:t>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mũi</a:t>
            </a:r>
            <a:r>
              <a:rPr lang="en-US" altLang="en-US" dirty="0">
                <a:latin typeface="Arial" panose="020B0604020202020204" pitchFamily="34" charset="0"/>
              </a:rPr>
              <a:t> </a:t>
            </a:r>
            <a:r>
              <a:rPr lang="en-US" altLang="en-US" dirty="0" err="1">
                <a:latin typeface="Arial" panose="020B0604020202020204" pitchFamily="34" charset="0"/>
              </a:rPr>
              <a:t>tên</a:t>
            </a:r>
            <a:r>
              <a:rPr lang="en-US" altLang="en-US" dirty="0">
                <a:latin typeface="Arial" panose="020B0604020202020204" pitchFamily="34" charset="0"/>
              </a:rPr>
              <a:t> </a:t>
            </a:r>
            <a:r>
              <a:rPr lang="en-US" altLang="en-US" dirty="0" err="1">
                <a:latin typeface="Arial" panose="020B0604020202020204" pitchFamily="34" charset="0"/>
              </a:rPr>
              <a:t>chỉ</a:t>
            </a:r>
            <a:r>
              <a:rPr lang="en-US" altLang="en-US" dirty="0">
                <a:latin typeface="Arial" panose="020B0604020202020204" pitchFamily="34" charset="0"/>
              </a:rPr>
              <a:t> X </a:t>
            </a:r>
            <a:r>
              <a:rPr lang="en-US" altLang="en-US" dirty="0" err="1">
                <a:latin typeface="Arial" panose="020B0604020202020204" pitchFamily="34" charset="0"/>
              </a:rPr>
              <a:t>ngang</a:t>
            </a:r>
            <a:r>
              <a:rPr lang="en-US" altLang="en-US" dirty="0">
                <a:latin typeface="Arial" panose="020B0604020202020204" pitchFamily="34" charset="0"/>
              </a:rPr>
              <a:t> </a:t>
            </a:r>
            <a:r>
              <a:rPr lang="en-US" altLang="en-US" dirty="0" err="1">
                <a:latin typeface="Arial" panose="020B0604020202020204" pitchFamily="34" charset="0"/>
              </a:rPr>
              <a:t>là</a:t>
            </a:r>
            <a:r>
              <a:rPr lang="en-US" altLang="en-US" dirty="0">
                <a:latin typeface="Arial" panose="020B0604020202020204" pitchFamily="34" charset="0"/>
              </a:rPr>
              <a:t> </a:t>
            </a:r>
            <a:r>
              <a:rPr lang="en-US" altLang="en-US" dirty="0" err="1">
                <a:latin typeface="Arial" panose="020B0604020202020204" pitchFamily="34" charset="0"/>
              </a:rPr>
              <a:t>trung</a:t>
            </a:r>
            <a:r>
              <a:rPr lang="en-US" altLang="en-US" dirty="0">
                <a:latin typeface="Arial" panose="020B0604020202020204" pitchFamily="34" charset="0"/>
              </a:rPr>
              <a:t> </a:t>
            </a:r>
            <a:r>
              <a:rPr lang="en-US" altLang="en-US" dirty="0" err="1">
                <a:latin typeface="Arial" panose="020B0604020202020204" pitchFamily="34" charset="0"/>
              </a:rPr>
              <a:t>bình</a:t>
            </a:r>
            <a:r>
              <a:rPr lang="en-US" altLang="en-US" dirty="0">
                <a:latin typeface="Arial" panose="020B0604020202020204" pitchFamily="34" charset="0"/>
              </a:rPr>
              <a:t> </a:t>
            </a:r>
            <a:r>
              <a:rPr lang="en-US" altLang="en-US" dirty="0" err="1">
                <a:latin typeface="Arial" panose="020B0604020202020204" pitchFamily="34" charset="0"/>
              </a:rPr>
              <a:t>của</a:t>
            </a:r>
            <a:r>
              <a:rPr lang="en-US" altLang="en-US" dirty="0">
                <a:latin typeface="Arial" panose="020B0604020202020204" pitchFamily="34" charset="0"/>
              </a:rPr>
              <a:t> </a:t>
            </a:r>
            <a:r>
              <a:rPr lang="en-US" altLang="en-US" dirty="0" err="1">
                <a:latin typeface="Arial" panose="020B0604020202020204" pitchFamily="34" charset="0"/>
              </a:rPr>
              <a:t>tập</a:t>
            </a:r>
            <a:r>
              <a:rPr lang="en-US" altLang="en-US" dirty="0">
                <a:latin typeface="Arial" panose="020B0604020202020204" pitchFamily="34" charset="0"/>
              </a:rPr>
              <a:t> </a:t>
            </a:r>
            <a:r>
              <a:rPr lang="en-US" altLang="en-US" dirty="0" err="1">
                <a:latin typeface="Arial" panose="020B0604020202020204" pitchFamily="34" charset="0"/>
              </a:rPr>
              <a:t>mẫu</a:t>
            </a:r>
            <a:r>
              <a:rPr lang="en-US" altLang="en-US" dirty="0">
                <a:latin typeface="Arial" panose="020B0604020202020204" pitchFamily="34" charset="0"/>
              </a:rPr>
              <a:t>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kích</a:t>
            </a:r>
            <a:r>
              <a:rPr lang="en-US" altLang="en-US" dirty="0">
                <a:latin typeface="Arial" panose="020B0604020202020204" pitchFamily="34" charset="0"/>
              </a:rPr>
              <a:t> </a:t>
            </a:r>
            <a:r>
              <a:rPr lang="en-US" altLang="en-US" dirty="0" err="1">
                <a:latin typeface="Arial" panose="020B0604020202020204" pitchFamily="34" charset="0"/>
              </a:rPr>
              <a:t>thước</a:t>
            </a:r>
            <a:r>
              <a:rPr lang="en-US" altLang="en-US" dirty="0">
                <a:latin typeface="Arial" panose="020B0604020202020204" pitchFamily="34" charset="0"/>
              </a:rPr>
              <a:t> n, E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mũi</a:t>
            </a:r>
            <a:r>
              <a:rPr lang="en-US" altLang="en-US" dirty="0">
                <a:latin typeface="Arial" panose="020B0604020202020204" pitchFamily="34" charset="0"/>
              </a:rPr>
              <a:t> </a:t>
            </a:r>
            <a:r>
              <a:rPr lang="en-US" altLang="en-US" dirty="0" err="1">
                <a:latin typeface="Arial" panose="020B0604020202020204" pitchFamily="34" charset="0"/>
              </a:rPr>
              <a:t>tên</a:t>
            </a:r>
            <a:r>
              <a:rPr lang="en-US" altLang="en-US" dirty="0">
                <a:latin typeface="Arial" panose="020B0604020202020204" pitchFamily="34" charset="0"/>
              </a:rPr>
              <a:t> </a:t>
            </a:r>
            <a:r>
              <a:rPr lang="en-US" altLang="en-US" dirty="0" err="1">
                <a:latin typeface="Arial" panose="020B0604020202020204" pitchFamily="34" charset="0"/>
              </a:rPr>
              <a:t>chỉ</a:t>
            </a:r>
            <a:r>
              <a:rPr lang="en-US" altLang="en-US" dirty="0">
                <a:latin typeface="Arial" panose="020B0604020202020204" pitchFamily="34" charset="0"/>
              </a:rPr>
              <a:t> </a:t>
            </a:r>
            <a:r>
              <a:rPr lang="en-US" altLang="en-US" dirty="0" err="1">
                <a:latin typeface="Arial" panose="020B0604020202020204" pitchFamily="34" charset="0"/>
              </a:rPr>
              <a:t>là</a:t>
            </a:r>
            <a:r>
              <a:rPr lang="en-US" altLang="en-US" dirty="0">
                <a:latin typeface="Arial" panose="020B0604020202020204" pitchFamily="34" charset="0"/>
              </a:rPr>
              <a:t> </a:t>
            </a:r>
            <a:r>
              <a:rPr lang="en-US" altLang="en-US" dirty="0" err="1">
                <a:latin typeface="Arial" panose="020B0604020202020204" pitchFamily="34" charset="0"/>
              </a:rPr>
              <a:t>biên</a:t>
            </a:r>
            <a:r>
              <a:rPr lang="en-US" altLang="en-US" dirty="0">
                <a:latin typeface="Arial" panose="020B0604020202020204" pitchFamily="34" charset="0"/>
              </a:rPr>
              <a:t> </a:t>
            </a:r>
            <a:r>
              <a:rPr lang="en-US" altLang="en-US" dirty="0" err="1">
                <a:latin typeface="Arial" panose="020B0604020202020204" pitchFamily="34" charset="0"/>
              </a:rPr>
              <a:t>độ</a:t>
            </a:r>
            <a:r>
              <a:rPr lang="en-US" altLang="en-US" dirty="0">
                <a:latin typeface="Arial" panose="020B0604020202020204" pitchFamily="34" charset="0"/>
              </a:rPr>
              <a:t> </a:t>
            </a:r>
            <a:r>
              <a:rPr lang="en-US" altLang="en-US" dirty="0" err="1">
                <a:latin typeface="Arial" panose="020B0604020202020204" pitchFamily="34" charset="0"/>
              </a:rPr>
              <a:t>lỗi</a:t>
            </a:r>
            <a:endParaRPr lang="en-US" altLang="en-US" dirty="0">
              <a:latin typeface="Arial" panose="020B0604020202020204" pitchFamily="34" charset="0"/>
            </a:endParaRPr>
          </a:p>
        </p:txBody>
      </p:sp>
      <p:sp>
        <p:nvSpPr>
          <p:cNvPr id="29699" name="Rectangle 3"/>
          <p:cNvSpPr>
            <a:spLocks noGrp="1" noRot="1" noChangeAspect="1" noChangeArrowheads="1" noTextEdit="1"/>
          </p:cNvSpPr>
          <p:nvPr>
            <p:ph type="sldImg"/>
          </p:nvPr>
        </p:nvSpPr>
        <p:spPr>
          <a:xfrm>
            <a:off x="1150938" y="692150"/>
            <a:ext cx="4556125" cy="3416300"/>
          </a:xfrm>
          <a:ln cap="fla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9699"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453986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latin typeface="Arial" panose="020B0604020202020204" pitchFamily="34" charset="0"/>
              </a:rPr>
              <a:t>Soạn</a:t>
            </a:r>
            <a:r>
              <a:rPr lang="en-US" altLang="en-US" dirty="0">
                <a:latin typeface="Arial" panose="020B0604020202020204" pitchFamily="34" charset="0"/>
              </a:rPr>
              <a:t> </a:t>
            </a:r>
            <a:r>
              <a:rPr lang="en-US" altLang="en-US" dirty="0" err="1">
                <a:latin typeface="Arial" panose="020B0604020202020204" pitchFamily="34" charset="0"/>
              </a:rPr>
              <a:t>lại</a:t>
            </a:r>
            <a:r>
              <a:rPr lang="en-US" altLang="en-US" dirty="0">
                <a:latin typeface="Arial" panose="020B0604020202020204" pitchFamily="34" charset="0"/>
              </a:rPr>
              <a:t> </a:t>
            </a:r>
            <a:r>
              <a:rPr lang="en-US" altLang="en-US" dirty="0" err="1">
                <a:latin typeface="Arial" panose="020B0604020202020204" pitchFamily="34" charset="0"/>
              </a:rPr>
              <a:t>hình</a:t>
            </a:r>
            <a:r>
              <a:rPr lang="en-US" altLang="en-US" dirty="0">
                <a:latin typeface="Arial" panose="020B0604020202020204" pitchFamily="34" charset="0"/>
              </a:rPr>
              <a:t>: </a:t>
            </a:r>
            <a:r>
              <a:rPr lang="en-US" altLang="en-US" dirty="0" err="1">
                <a:latin typeface="Arial" panose="020B0604020202020204" pitchFamily="34" charset="0"/>
              </a:rPr>
              <a:t>lần</a:t>
            </a:r>
            <a:r>
              <a:rPr lang="en-US" altLang="en-US" dirty="0">
                <a:latin typeface="Arial" panose="020B0604020202020204" pitchFamily="34" charset="0"/>
              </a:rPr>
              <a:t> </a:t>
            </a:r>
            <a:r>
              <a:rPr lang="en-US" altLang="en-US" dirty="0" err="1">
                <a:latin typeface="Arial" panose="020B0604020202020204" pitchFamily="34" charset="0"/>
              </a:rPr>
              <a:t>lượt</a:t>
            </a:r>
            <a:r>
              <a:rPr lang="en-US" altLang="en-US" dirty="0">
                <a:latin typeface="Arial" panose="020B0604020202020204" pitchFamily="34" charset="0"/>
              </a:rPr>
              <a:t>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hình</a:t>
            </a:r>
            <a:r>
              <a:rPr lang="en-US" altLang="en-US" dirty="0">
                <a:latin typeface="Arial" panose="020B0604020202020204" pitchFamily="34" charset="0"/>
              </a:rPr>
              <a:t> </a:t>
            </a:r>
            <a:r>
              <a:rPr lang="en-US" altLang="en-US" dirty="0" err="1">
                <a:latin typeface="Arial" panose="020B0604020202020204" pitchFamily="34" charset="0"/>
              </a:rPr>
              <a:t>phân</a:t>
            </a:r>
            <a:r>
              <a:rPr lang="en-US" altLang="en-US" dirty="0">
                <a:latin typeface="Arial" panose="020B0604020202020204" pitchFamily="34" charset="0"/>
              </a:rPr>
              <a:t> </a:t>
            </a:r>
            <a:r>
              <a:rPr lang="en-US" altLang="en-US" dirty="0" err="1">
                <a:latin typeface="Arial" panose="020B0604020202020204" pitchFamily="34" charset="0"/>
              </a:rPr>
              <a:t>phối</a:t>
            </a:r>
            <a:r>
              <a:rPr lang="en-US" altLang="en-US" dirty="0">
                <a:latin typeface="Arial" panose="020B0604020202020204" pitchFamily="34" charset="0"/>
              </a:rPr>
              <a:t> </a:t>
            </a:r>
            <a:r>
              <a:rPr lang="en-US" altLang="en-US" dirty="0" err="1">
                <a:latin typeface="Arial" panose="020B0604020202020204" pitchFamily="34" charset="0"/>
              </a:rPr>
              <a:t>chuẩn</a:t>
            </a:r>
            <a:r>
              <a:rPr lang="en-US" altLang="en-US" dirty="0">
                <a:latin typeface="Arial" panose="020B0604020202020204" pitchFamily="34" charset="0"/>
              </a:rPr>
              <a:t> </a:t>
            </a:r>
            <a:r>
              <a:rPr lang="en-US" altLang="en-US" dirty="0" err="1">
                <a:latin typeface="Arial" panose="020B0604020202020204" pitchFamily="34" charset="0"/>
              </a:rPr>
              <a:t>hiện</a:t>
            </a:r>
            <a:r>
              <a:rPr lang="en-US" altLang="en-US" dirty="0">
                <a:latin typeface="Arial" panose="020B0604020202020204" pitchFamily="34" charset="0"/>
              </a:rPr>
              <a:t> </a:t>
            </a:r>
            <a:r>
              <a:rPr lang="en-US" altLang="en-US" dirty="0" err="1">
                <a:latin typeface="Arial" panose="020B0604020202020204" pitchFamily="34" charset="0"/>
              </a:rPr>
              <a:t>ra</a:t>
            </a:r>
            <a:r>
              <a:rPr lang="en-US" altLang="en-US" dirty="0">
                <a:latin typeface="Arial" panose="020B0604020202020204" pitchFamily="34" charset="0"/>
              </a:rPr>
              <a:t>, </a:t>
            </a:r>
            <a:r>
              <a:rPr lang="en-US" altLang="en-US" dirty="0" err="1">
                <a:latin typeface="Arial" panose="020B0604020202020204" pitchFamily="34" charset="0"/>
              </a:rPr>
              <a:t>kỳ</a:t>
            </a:r>
            <a:r>
              <a:rPr lang="en-US" altLang="en-US" dirty="0">
                <a:latin typeface="Arial" panose="020B0604020202020204" pitchFamily="34" charset="0"/>
              </a:rPr>
              <a:t> </a:t>
            </a:r>
            <a:r>
              <a:rPr lang="en-US" altLang="en-US" dirty="0" err="1">
                <a:latin typeface="Arial" panose="020B0604020202020204" pitchFamily="34" charset="0"/>
              </a:rPr>
              <a:t>vọng</a:t>
            </a:r>
            <a:r>
              <a:rPr lang="en-US" altLang="en-US" dirty="0">
                <a:latin typeface="Arial" panose="020B0604020202020204" pitchFamily="34" charset="0"/>
              </a:rPr>
              <a:t> </a:t>
            </a:r>
            <a:r>
              <a:rPr lang="en-US" altLang="en-US" dirty="0" err="1">
                <a:latin typeface="Arial" panose="020B0604020202020204" pitchFamily="34" charset="0"/>
              </a:rPr>
              <a:t>nuy</a:t>
            </a:r>
            <a:r>
              <a:rPr lang="en-US" altLang="en-US" dirty="0">
                <a:latin typeface="Arial" panose="020B0604020202020204" pitchFamily="34" charset="0"/>
              </a:rPr>
              <a:t>, </a:t>
            </a:r>
            <a:r>
              <a:rPr lang="en-US" altLang="en-US" dirty="0" err="1">
                <a:latin typeface="Arial" panose="020B0604020202020204" pitchFamily="34" charset="0"/>
              </a:rPr>
              <a:t>tô</a:t>
            </a:r>
            <a:r>
              <a:rPr lang="en-US" altLang="en-US" dirty="0">
                <a:latin typeface="Arial" panose="020B0604020202020204" pitchFamily="34" charset="0"/>
              </a:rPr>
              <a:t> </a:t>
            </a:r>
            <a:r>
              <a:rPr lang="en-US" altLang="en-US" dirty="0" err="1">
                <a:latin typeface="Arial" panose="020B0604020202020204" pitchFamily="34" charset="0"/>
              </a:rPr>
              <a:t>phần</a:t>
            </a:r>
            <a:r>
              <a:rPr lang="en-US" altLang="en-US" dirty="0">
                <a:latin typeface="Arial" panose="020B0604020202020204" pitchFamily="34" charset="0"/>
              </a:rPr>
              <a:t> </a:t>
            </a:r>
            <a:r>
              <a:rPr lang="en-US" altLang="en-US" dirty="0" err="1">
                <a:latin typeface="Arial" panose="020B0604020202020204" pitchFamily="34" charset="0"/>
              </a:rPr>
              <a:t>diện</a:t>
            </a:r>
            <a:r>
              <a:rPr lang="en-US" altLang="en-US" dirty="0">
                <a:latin typeface="Arial" panose="020B0604020202020204" pitchFamily="34" charset="0"/>
              </a:rPr>
              <a:t> </a:t>
            </a:r>
            <a:r>
              <a:rPr lang="en-US" altLang="en-US" dirty="0" err="1">
                <a:latin typeface="Arial" panose="020B0604020202020204" pitchFamily="34" charset="0"/>
              </a:rPr>
              <a:t>tích</a:t>
            </a:r>
            <a:r>
              <a:rPr lang="en-US" altLang="en-US" dirty="0">
                <a:latin typeface="Arial" panose="020B0604020202020204" pitchFamily="34" charset="0"/>
              </a:rPr>
              <a:t> 1-alpha, </a:t>
            </a:r>
            <a:r>
              <a:rPr lang="en-US" altLang="en-US" dirty="0" err="1">
                <a:latin typeface="Arial" panose="020B0604020202020204" pitchFamily="34" charset="0"/>
              </a:rPr>
              <a:t>tô</a:t>
            </a:r>
            <a:r>
              <a:rPr lang="en-US" altLang="en-US" dirty="0">
                <a:latin typeface="Arial" panose="020B0604020202020204" pitchFamily="34" charset="0"/>
              </a:rPr>
              <a:t> </a:t>
            </a:r>
            <a:r>
              <a:rPr lang="en-US" altLang="en-US" dirty="0" err="1">
                <a:latin typeface="Arial" panose="020B0604020202020204" pitchFamily="34" charset="0"/>
              </a:rPr>
              <a:t>phần</a:t>
            </a:r>
            <a:r>
              <a:rPr lang="en-US" altLang="en-US" dirty="0">
                <a:latin typeface="Arial" panose="020B0604020202020204" pitchFamily="34" charset="0"/>
              </a:rPr>
              <a:t> </a:t>
            </a:r>
            <a:r>
              <a:rPr lang="en-US" altLang="en-US" dirty="0" err="1">
                <a:latin typeface="Arial" panose="020B0604020202020204" pitchFamily="34" charset="0"/>
              </a:rPr>
              <a:t>diện</a:t>
            </a:r>
            <a:r>
              <a:rPr lang="en-US" altLang="en-US" dirty="0">
                <a:latin typeface="Arial" panose="020B0604020202020204" pitchFamily="34" charset="0"/>
              </a:rPr>
              <a:t> </a:t>
            </a:r>
            <a:r>
              <a:rPr lang="en-US" altLang="en-US" dirty="0" err="1">
                <a:latin typeface="Arial" panose="020B0604020202020204" pitchFamily="34" charset="0"/>
              </a:rPr>
              <a:t>tích</a:t>
            </a:r>
            <a:r>
              <a:rPr lang="en-US" altLang="en-US" dirty="0">
                <a:latin typeface="Arial" panose="020B0604020202020204" pitchFamily="34" charset="0"/>
              </a:rPr>
              <a:t> alpha/2</a:t>
            </a:r>
          </a:p>
        </p:txBody>
      </p:sp>
      <p:sp>
        <p:nvSpPr>
          <p:cNvPr id="29699"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554452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latin typeface="Arial" panose="020B0604020202020204" pitchFamily="34" charset="0"/>
              </a:rPr>
              <a:t>Soạn</a:t>
            </a:r>
            <a:r>
              <a:rPr lang="en-US" altLang="en-US" dirty="0">
                <a:latin typeface="Arial" panose="020B0604020202020204" pitchFamily="34" charset="0"/>
              </a:rPr>
              <a:t> </a:t>
            </a:r>
            <a:r>
              <a:rPr lang="en-US" altLang="en-US" dirty="0" err="1">
                <a:latin typeface="Arial" panose="020B0604020202020204" pitchFamily="34" charset="0"/>
              </a:rPr>
              <a:t>lại</a:t>
            </a:r>
            <a:r>
              <a:rPr lang="en-US" altLang="en-US" dirty="0">
                <a:latin typeface="Arial" panose="020B0604020202020204" pitchFamily="34" charset="0"/>
              </a:rPr>
              <a:t> </a:t>
            </a:r>
            <a:r>
              <a:rPr lang="en-US" altLang="en-US" dirty="0" err="1">
                <a:latin typeface="Arial" panose="020B0604020202020204" pitchFamily="34" charset="0"/>
              </a:rPr>
              <a:t>phần</a:t>
            </a:r>
            <a:r>
              <a:rPr lang="en-US" altLang="en-US" dirty="0">
                <a:latin typeface="Arial" panose="020B0604020202020204" pitchFamily="34" charset="0"/>
              </a:rPr>
              <a:t> </a:t>
            </a:r>
            <a:r>
              <a:rPr lang="en-US" altLang="en-US" dirty="0" err="1">
                <a:latin typeface="Arial" panose="020B0604020202020204" pitchFamily="34" charset="0"/>
              </a:rPr>
              <a:t>chứng</a:t>
            </a:r>
            <a:r>
              <a:rPr lang="en-US" altLang="en-US" dirty="0">
                <a:latin typeface="Arial" panose="020B0604020202020204" pitchFamily="34" charset="0"/>
              </a:rPr>
              <a:t> </a:t>
            </a:r>
            <a:r>
              <a:rPr lang="en-US" altLang="en-US" dirty="0" err="1">
                <a:latin typeface="Arial" panose="020B0604020202020204" pitchFamily="34" charset="0"/>
              </a:rPr>
              <a:t>minh</a:t>
            </a:r>
            <a:r>
              <a:rPr lang="en-US" altLang="en-US" dirty="0">
                <a:latin typeface="Arial" panose="020B0604020202020204" pitchFamily="34" charset="0"/>
              </a:rPr>
              <a:t> </a:t>
            </a:r>
            <a:r>
              <a:rPr lang="en-US" altLang="en-US" dirty="0" err="1">
                <a:latin typeface="Arial" panose="020B0604020202020204" pitchFamily="34" charset="0"/>
              </a:rPr>
              <a:t>cho</a:t>
            </a:r>
            <a:r>
              <a:rPr lang="en-US" altLang="en-US" dirty="0">
                <a:latin typeface="Arial" panose="020B0604020202020204" pitchFamily="34" charset="0"/>
              </a:rPr>
              <a:t> </a:t>
            </a:r>
            <a:r>
              <a:rPr lang="en-US" altLang="en-US" dirty="0" err="1">
                <a:latin typeface="Arial" panose="020B0604020202020204" pitchFamily="34" charset="0"/>
              </a:rPr>
              <a:t>công</a:t>
            </a:r>
            <a:r>
              <a:rPr lang="en-US" altLang="en-US" dirty="0">
                <a:latin typeface="Arial" panose="020B0604020202020204" pitchFamily="34" charset="0"/>
              </a:rPr>
              <a:t> </a:t>
            </a:r>
            <a:r>
              <a:rPr lang="en-US" altLang="en-US" dirty="0" err="1">
                <a:latin typeface="Arial" panose="020B0604020202020204" pitchFamily="34" charset="0"/>
              </a:rPr>
              <a:t>thức</a:t>
            </a:r>
            <a:r>
              <a:rPr lang="en-US" altLang="en-US" dirty="0">
                <a:latin typeface="Arial" panose="020B0604020202020204" pitchFamily="34" charset="0"/>
              </a:rPr>
              <a:t> </a:t>
            </a:r>
            <a:r>
              <a:rPr lang="en-US" altLang="en-US" dirty="0" err="1">
                <a:latin typeface="Arial" panose="020B0604020202020204" pitchFamily="34" charset="0"/>
              </a:rPr>
              <a:t>tìm</a:t>
            </a:r>
            <a:r>
              <a:rPr lang="en-US" altLang="en-US" dirty="0">
                <a:latin typeface="Arial" panose="020B0604020202020204" pitchFamily="34" charset="0"/>
              </a:rPr>
              <a:t> </a:t>
            </a:r>
            <a:r>
              <a:rPr lang="en-US" altLang="en-US" dirty="0" err="1">
                <a:latin typeface="Arial" panose="020B0604020202020204" pitchFamily="34" charset="0"/>
              </a:rPr>
              <a:t>biên</a:t>
            </a:r>
            <a:r>
              <a:rPr lang="en-US" altLang="en-US" dirty="0">
                <a:latin typeface="Arial" panose="020B0604020202020204" pitchFamily="34" charset="0"/>
              </a:rPr>
              <a:t> </a:t>
            </a:r>
            <a:r>
              <a:rPr lang="en-US" altLang="en-US" dirty="0" err="1">
                <a:latin typeface="Arial" panose="020B0604020202020204" pitchFamily="34" charset="0"/>
              </a:rPr>
              <a:t>độ</a:t>
            </a:r>
            <a:r>
              <a:rPr lang="en-US" altLang="en-US" dirty="0">
                <a:latin typeface="Arial" panose="020B0604020202020204" pitchFamily="34" charset="0"/>
              </a:rPr>
              <a:t> </a:t>
            </a:r>
            <a:r>
              <a:rPr lang="en-US" altLang="en-US" dirty="0" err="1">
                <a:latin typeface="Arial" panose="020B0604020202020204" pitchFamily="34" charset="0"/>
              </a:rPr>
              <a:t>lỗi</a:t>
            </a:r>
            <a:r>
              <a:rPr lang="en-US" altLang="en-US" dirty="0">
                <a:latin typeface="Arial" panose="020B0604020202020204" pitchFamily="34" charset="0"/>
              </a:rPr>
              <a:t> E: </a:t>
            </a:r>
            <a:r>
              <a:rPr lang="en-US" altLang="en-US" dirty="0" err="1">
                <a:latin typeface="Arial" panose="020B0604020202020204" pitchFamily="34" charset="0"/>
              </a:rPr>
              <a:t>từng</a:t>
            </a:r>
            <a:r>
              <a:rPr lang="en-US" altLang="en-US" dirty="0">
                <a:latin typeface="Arial" panose="020B0604020202020204" pitchFamily="34" charset="0"/>
              </a:rPr>
              <a:t> </a:t>
            </a:r>
            <a:r>
              <a:rPr lang="en-US" altLang="en-US" dirty="0" err="1">
                <a:latin typeface="Arial" panose="020B0604020202020204" pitchFamily="34" charset="0"/>
              </a:rPr>
              <a:t>bước</a:t>
            </a:r>
            <a:r>
              <a:rPr lang="en-US" altLang="en-US" dirty="0">
                <a:latin typeface="Arial" panose="020B0604020202020204" pitchFamily="34" charset="0"/>
              </a:rPr>
              <a:t> = </a:t>
            </a:r>
            <a:r>
              <a:rPr lang="en-US" altLang="en-US" dirty="0" err="1">
                <a:latin typeface="Arial" panose="020B0604020202020204" pitchFamily="34" charset="0"/>
              </a:rPr>
              <a:t>hiện</a:t>
            </a:r>
            <a:r>
              <a:rPr lang="en-US" altLang="en-US" dirty="0">
                <a:latin typeface="Arial" panose="020B0604020202020204" pitchFamily="34" charset="0"/>
              </a:rPr>
              <a:t> </a:t>
            </a:r>
            <a:r>
              <a:rPr lang="en-US" altLang="en-US" dirty="0" err="1">
                <a:latin typeface="Arial" panose="020B0604020202020204" pitchFamily="34" charset="0"/>
              </a:rPr>
              <a:t>ra</a:t>
            </a:r>
            <a:r>
              <a:rPr lang="en-US" altLang="en-US" dirty="0">
                <a:latin typeface="Arial" panose="020B0604020202020204" pitchFamily="34" charset="0"/>
              </a:rPr>
              <a:t> </a:t>
            </a:r>
            <a:r>
              <a:rPr lang="en-US" altLang="en-US" dirty="0" err="1">
                <a:latin typeface="Arial" panose="020B0604020202020204" pitchFamily="34" charset="0"/>
              </a:rPr>
              <a:t>cách</a:t>
            </a:r>
            <a:r>
              <a:rPr lang="en-US" altLang="en-US" dirty="0">
                <a:latin typeface="Arial" panose="020B0604020202020204" pitchFamily="34" charset="0"/>
              </a:rPr>
              <a:t> </a:t>
            </a:r>
            <a:r>
              <a:rPr lang="en-US" altLang="en-US" dirty="0" err="1">
                <a:latin typeface="Arial" panose="020B0604020202020204" pitchFamily="34" charset="0"/>
              </a:rPr>
              <a:t>khoảng</a:t>
            </a:r>
            <a:r>
              <a:rPr lang="en-US" altLang="en-US" dirty="0">
                <a:latin typeface="Arial" panose="020B0604020202020204" pitchFamily="34" charset="0"/>
              </a:rPr>
              <a:t> 30 </a:t>
            </a:r>
            <a:r>
              <a:rPr lang="en-US" altLang="en-US" dirty="0" err="1">
                <a:latin typeface="Arial" panose="020B0604020202020204" pitchFamily="34" charset="0"/>
              </a:rPr>
              <a:t>giây</a:t>
            </a:r>
            <a:r>
              <a:rPr lang="en-US" altLang="en-US" dirty="0">
                <a:latin typeface="Arial" panose="020B0604020202020204" pitchFamily="34" charset="0"/>
              </a:rPr>
              <a:t>; </a:t>
            </a:r>
            <a:r>
              <a:rPr lang="en-US" altLang="en-US" dirty="0" err="1">
                <a:latin typeface="Arial" panose="020B0604020202020204" pitchFamily="34" charset="0"/>
              </a:rPr>
              <a:t>sau</a:t>
            </a:r>
            <a:r>
              <a:rPr lang="en-US" altLang="en-US" dirty="0">
                <a:latin typeface="Arial" panose="020B0604020202020204" pitchFamily="34" charset="0"/>
              </a:rPr>
              <a:t> slide </a:t>
            </a:r>
            <a:r>
              <a:rPr lang="en-US" altLang="en-US" dirty="0" err="1">
                <a:latin typeface="Arial" panose="020B0604020202020204" pitchFamily="34" charset="0"/>
              </a:rPr>
              <a:t>này</a:t>
            </a:r>
            <a:r>
              <a:rPr lang="en-US" altLang="en-US" dirty="0">
                <a:latin typeface="Arial" panose="020B0604020202020204" pitchFamily="34" charset="0"/>
              </a:rPr>
              <a:t> </a:t>
            </a:r>
            <a:r>
              <a:rPr lang="en-US" altLang="en-US" dirty="0" err="1">
                <a:latin typeface="Arial" panose="020B0604020202020204" pitchFamily="34" charset="0"/>
              </a:rPr>
              <a:t>tiếp</a:t>
            </a:r>
            <a:r>
              <a:rPr lang="en-US" altLang="en-US" dirty="0">
                <a:latin typeface="Arial" panose="020B0604020202020204" pitchFamily="34" charset="0"/>
              </a:rPr>
              <a:t> </a:t>
            </a:r>
            <a:r>
              <a:rPr lang="en-US" altLang="en-US" dirty="0" err="1">
                <a:latin typeface="Arial" panose="020B0604020202020204" pitchFamily="34" charset="0"/>
              </a:rPr>
              <a:t>theo</a:t>
            </a:r>
            <a:r>
              <a:rPr lang="en-US" altLang="en-US" dirty="0">
                <a:latin typeface="Arial" panose="020B0604020202020204" pitchFamily="34" charset="0"/>
              </a:rPr>
              <a:t> slide </a:t>
            </a:r>
            <a:r>
              <a:rPr lang="en-US" altLang="en-US" dirty="0" err="1">
                <a:latin typeface="Arial" panose="020B0604020202020204" pitchFamily="34" charset="0"/>
              </a:rPr>
              <a:t>số</a:t>
            </a:r>
            <a:r>
              <a:rPr lang="en-US" altLang="en-US" dirty="0">
                <a:latin typeface="Arial" panose="020B0604020202020204" pitchFamily="34" charset="0"/>
              </a:rPr>
              <a:t> 21, 22 </a:t>
            </a:r>
            <a:r>
              <a:rPr lang="en-US" altLang="en-US" dirty="0" err="1">
                <a:latin typeface="Arial" panose="020B0604020202020204" pitchFamily="34" charset="0"/>
              </a:rPr>
              <a:t>để</a:t>
            </a:r>
            <a:r>
              <a:rPr lang="en-US" altLang="en-US" dirty="0">
                <a:latin typeface="Arial" panose="020B0604020202020204" pitchFamily="34" charset="0"/>
              </a:rPr>
              <a:t> </a:t>
            </a:r>
            <a:r>
              <a:rPr lang="en-US" altLang="en-US" dirty="0" err="1">
                <a:latin typeface="Arial" panose="020B0604020202020204" pitchFamily="34" charset="0"/>
              </a:rPr>
              <a:t>tiếp</a:t>
            </a:r>
            <a:r>
              <a:rPr lang="en-US" altLang="en-US" dirty="0">
                <a:latin typeface="Arial" panose="020B0604020202020204" pitchFamily="34" charset="0"/>
              </a:rPr>
              <a:t> </a:t>
            </a:r>
            <a:r>
              <a:rPr lang="en-US" altLang="en-US" dirty="0" err="1">
                <a:latin typeface="Arial" panose="020B0604020202020204" pitchFamily="34" charset="0"/>
              </a:rPr>
              <a:t>luôn</a:t>
            </a:r>
            <a:r>
              <a:rPr lang="en-US" altLang="en-US" dirty="0">
                <a:latin typeface="Arial" panose="020B0604020202020204" pitchFamily="34" charset="0"/>
              </a:rPr>
              <a:t> </a:t>
            </a:r>
            <a:r>
              <a:rPr lang="en-US" altLang="en-US" dirty="0" err="1">
                <a:latin typeface="Arial" panose="020B0604020202020204" pitchFamily="34" charset="0"/>
              </a:rPr>
              <a:t>phần</a:t>
            </a:r>
            <a:r>
              <a:rPr lang="en-US" altLang="en-US" dirty="0">
                <a:latin typeface="Arial" panose="020B0604020202020204" pitchFamily="34" charset="0"/>
              </a:rPr>
              <a:t> </a:t>
            </a:r>
            <a:r>
              <a:rPr lang="en-US" altLang="en-US" dirty="0" err="1">
                <a:latin typeface="Arial" panose="020B0604020202020204" pitchFamily="34" charset="0"/>
              </a:rPr>
              <a:t>công</a:t>
            </a:r>
            <a:r>
              <a:rPr lang="en-US" altLang="en-US" dirty="0">
                <a:latin typeface="Arial" panose="020B0604020202020204" pitchFamily="34" charset="0"/>
              </a:rPr>
              <a:t> </a:t>
            </a:r>
            <a:r>
              <a:rPr lang="en-US" altLang="en-US" dirty="0" err="1">
                <a:latin typeface="Arial" panose="020B0604020202020204" pitchFamily="34" charset="0"/>
              </a:rPr>
              <a:t>thức</a:t>
            </a:r>
            <a:r>
              <a:rPr lang="en-US" altLang="en-US" dirty="0">
                <a:latin typeface="Arial" panose="020B0604020202020204" pitchFamily="34" charset="0"/>
              </a:rPr>
              <a:t> E= (critical value </a:t>
            </a:r>
            <a:r>
              <a:rPr lang="en-US" altLang="en-US" dirty="0" err="1">
                <a:latin typeface="Arial" panose="020B0604020202020204" pitchFamily="34" charset="0"/>
              </a:rPr>
              <a:t>của</a:t>
            </a:r>
            <a:r>
              <a:rPr lang="en-US" altLang="en-US" dirty="0">
                <a:latin typeface="Arial" panose="020B0604020202020204" pitchFamily="34" charset="0"/>
              </a:rPr>
              <a:t> alpha/2) * (</a:t>
            </a:r>
            <a:r>
              <a:rPr lang="en-US" altLang="en-US" dirty="0" err="1">
                <a:latin typeface="Arial" panose="020B0604020202020204" pitchFamily="34" charset="0"/>
              </a:rPr>
              <a:t>độ</a:t>
            </a:r>
            <a:r>
              <a:rPr lang="en-US" altLang="en-US" dirty="0">
                <a:latin typeface="Arial" panose="020B0604020202020204" pitchFamily="34" charset="0"/>
              </a:rPr>
              <a:t> </a:t>
            </a:r>
            <a:r>
              <a:rPr lang="en-US" altLang="en-US" dirty="0" err="1">
                <a:latin typeface="Arial" panose="020B0604020202020204" pitchFamily="34" charset="0"/>
              </a:rPr>
              <a:t>lệch</a:t>
            </a:r>
            <a:r>
              <a:rPr lang="en-US" altLang="en-US" dirty="0">
                <a:latin typeface="Arial" panose="020B0604020202020204" pitchFamily="34" charset="0"/>
              </a:rPr>
              <a:t> </a:t>
            </a:r>
            <a:r>
              <a:rPr lang="en-US" altLang="en-US" dirty="0" err="1">
                <a:latin typeface="Arial" panose="020B0604020202020204" pitchFamily="34" charset="0"/>
              </a:rPr>
              <a:t>chuẩn</a:t>
            </a:r>
            <a:r>
              <a:rPr lang="en-US" altLang="en-US" dirty="0">
                <a:latin typeface="Arial" panose="020B0604020202020204" pitchFamily="34" charset="0"/>
              </a:rPr>
              <a:t> x </a:t>
            </a:r>
            <a:r>
              <a:rPr lang="en-US" altLang="en-US" dirty="0" err="1">
                <a:latin typeface="Arial" panose="020B0604020202020204" pitchFamily="34" charset="0"/>
              </a:rPr>
              <a:t>ngang</a:t>
            </a:r>
            <a:r>
              <a:rPr lang="en-US" altLang="en-US" dirty="0">
                <a:latin typeface="Arial" panose="020B0604020202020204" pitchFamily="34" charset="0"/>
              </a:rPr>
              <a:t>)</a:t>
            </a:r>
          </a:p>
        </p:txBody>
      </p:sp>
      <p:sp>
        <p:nvSpPr>
          <p:cNvPr id="29699"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1597774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50938" y="692150"/>
            <a:ext cx="4556125" cy="3416300"/>
          </a:xfrm>
          <a:ln/>
        </p:spPr>
      </p:sp>
      <p:sp>
        <p:nvSpPr>
          <p:cNvPr id="133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2921984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xfrm>
            <a:off x="1150938" y="692150"/>
            <a:ext cx="4556125" cy="3416300"/>
          </a:xfrm>
          <a:ln/>
        </p:spPr>
      </p:sp>
      <p:sp>
        <p:nvSpPr>
          <p:cNvPr id="1536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9462339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50938" y="692150"/>
            <a:ext cx="4556125" cy="3416300"/>
          </a:xfrm>
          <a:ln/>
        </p:spPr>
      </p:sp>
      <p:sp>
        <p:nvSpPr>
          <p:cNvPr id="174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380879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50938" y="692150"/>
            <a:ext cx="4556125" cy="3416300"/>
          </a:xfrm>
          <a:ln/>
        </p:spPr>
      </p:sp>
      <p:sp>
        <p:nvSpPr>
          <p:cNvPr id="133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rPr>
              <a:t>Sau </a:t>
            </a:r>
            <a:r>
              <a:rPr lang="en-US" altLang="en-US" dirty="0" err="1">
                <a:latin typeface="Arial" panose="020B0604020202020204" pitchFamily="34" charset="0"/>
              </a:rPr>
              <a:t>khi</a:t>
            </a:r>
            <a:r>
              <a:rPr lang="en-US" altLang="en-US" dirty="0">
                <a:latin typeface="Arial" panose="020B0604020202020204" pitchFamily="34" charset="0"/>
              </a:rPr>
              <a:t> </a:t>
            </a:r>
            <a:r>
              <a:rPr lang="en-US" altLang="en-US" dirty="0" err="1">
                <a:latin typeface="Arial" panose="020B0604020202020204" pitchFamily="34" charset="0"/>
              </a:rPr>
              <a:t>xong</a:t>
            </a:r>
            <a:r>
              <a:rPr lang="en-US" altLang="en-US" dirty="0">
                <a:latin typeface="Arial" panose="020B0604020202020204" pitchFamily="34" charset="0"/>
              </a:rPr>
              <a:t> slide </a:t>
            </a:r>
            <a:r>
              <a:rPr lang="en-US" altLang="en-US" dirty="0" err="1">
                <a:latin typeface="Arial" panose="020B0604020202020204" pitchFamily="34" charset="0"/>
              </a:rPr>
              <a:t>số</a:t>
            </a:r>
            <a:r>
              <a:rPr lang="en-US" altLang="en-US" dirty="0">
                <a:latin typeface="Arial" panose="020B0604020202020204" pitchFamily="34" charset="0"/>
              </a:rPr>
              <a:t> 22,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công</a:t>
            </a:r>
            <a:r>
              <a:rPr lang="en-US" altLang="en-US" dirty="0">
                <a:latin typeface="Arial" panose="020B0604020202020204" pitchFamily="34" charset="0"/>
              </a:rPr>
              <a:t> </a:t>
            </a:r>
            <a:r>
              <a:rPr lang="en-US" altLang="en-US" dirty="0" err="1">
                <a:latin typeface="Arial" panose="020B0604020202020204" pitchFamily="34" charset="0"/>
              </a:rPr>
              <a:t>thức</a:t>
            </a:r>
            <a:r>
              <a:rPr lang="en-US" altLang="en-US" dirty="0">
                <a:latin typeface="Arial" panose="020B0604020202020204" pitchFamily="34" charset="0"/>
              </a:rPr>
              <a:t> E </a:t>
            </a:r>
            <a:r>
              <a:rPr lang="en-US" altLang="en-US" dirty="0" err="1">
                <a:latin typeface="Arial" panose="020B0604020202020204" pitchFamily="34" charset="0"/>
              </a:rPr>
              <a:t>thì</a:t>
            </a:r>
            <a:r>
              <a:rPr lang="en-US" altLang="en-US" dirty="0">
                <a:latin typeface="Arial" panose="020B0604020202020204" pitchFamily="34" charset="0"/>
              </a:rPr>
              <a:t> </a:t>
            </a:r>
            <a:r>
              <a:rPr lang="en-US" altLang="en-US" dirty="0" err="1">
                <a:latin typeface="Arial" panose="020B0604020202020204" pitchFamily="34" charset="0"/>
              </a:rPr>
              <a:t>cho</a:t>
            </a:r>
            <a:r>
              <a:rPr lang="en-US" altLang="en-US" dirty="0">
                <a:latin typeface="Arial" panose="020B0604020202020204" pitchFamily="34" charset="0"/>
              </a:rPr>
              <a:t> </a:t>
            </a:r>
            <a:r>
              <a:rPr lang="en-US" altLang="en-US" dirty="0" err="1">
                <a:latin typeface="Arial" panose="020B0604020202020204" pitchFamily="34" charset="0"/>
              </a:rPr>
              <a:t>ví</a:t>
            </a:r>
            <a:r>
              <a:rPr lang="en-US" altLang="en-US" dirty="0">
                <a:latin typeface="Arial" panose="020B0604020202020204" pitchFamily="34" charset="0"/>
              </a:rPr>
              <a:t> </a:t>
            </a:r>
            <a:r>
              <a:rPr lang="en-US" altLang="en-US" dirty="0" err="1">
                <a:latin typeface="Arial" panose="020B0604020202020204" pitchFamily="34" charset="0"/>
              </a:rPr>
              <a:t>dụ</a:t>
            </a:r>
            <a:r>
              <a:rPr lang="en-US" altLang="en-US" dirty="0">
                <a:latin typeface="Arial" panose="020B0604020202020204" pitchFamily="34" charset="0"/>
              </a:rPr>
              <a:t> </a:t>
            </a:r>
            <a:r>
              <a:rPr lang="en-US" altLang="en-US" dirty="0" err="1">
                <a:latin typeface="Arial" panose="020B0604020202020204" pitchFamily="34" charset="0"/>
              </a:rPr>
              <a:t>các</a:t>
            </a:r>
            <a:r>
              <a:rPr lang="en-US" altLang="en-US" dirty="0">
                <a:latin typeface="Arial" panose="020B0604020202020204" pitchFamily="34" charset="0"/>
              </a:rPr>
              <a:t> bao </a:t>
            </a:r>
            <a:r>
              <a:rPr lang="en-US" altLang="en-US" dirty="0" err="1">
                <a:latin typeface="Arial" panose="020B0604020202020204" pitchFamily="34" charset="0"/>
              </a:rPr>
              <a:t>gạo</a:t>
            </a:r>
            <a:r>
              <a:rPr lang="en-US" altLang="en-US" dirty="0">
                <a:latin typeface="Arial" panose="020B0604020202020204" pitchFamily="34" charset="0"/>
              </a:rPr>
              <a:t> ở </a:t>
            </a:r>
            <a:r>
              <a:rPr lang="en-US" altLang="en-US" dirty="0" err="1">
                <a:latin typeface="Arial" panose="020B0604020202020204" pitchFamily="34" charset="0"/>
              </a:rPr>
              <a:t>slde</a:t>
            </a:r>
            <a:r>
              <a:rPr lang="en-US" altLang="en-US" dirty="0">
                <a:latin typeface="Arial" panose="020B0604020202020204" pitchFamily="34" charset="0"/>
              </a:rPr>
              <a:t> 19, </a:t>
            </a:r>
            <a:r>
              <a:rPr lang="en-US" altLang="en-US" dirty="0" err="1">
                <a:latin typeface="Arial" panose="020B0604020202020204" pitchFamily="34" charset="0"/>
              </a:rPr>
              <a:t>thêm</a:t>
            </a:r>
            <a:r>
              <a:rPr lang="en-US" altLang="en-US" dirty="0">
                <a:latin typeface="Arial" panose="020B0604020202020204" pitchFamily="34" charset="0"/>
              </a:rPr>
              <a:t> slide </a:t>
            </a:r>
            <a:r>
              <a:rPr lang="en-US" altLang="en-US" dirty="0" err="1">
                <a:latin typeface="Arial" panose="020B0604020202020204" pitchFamily="34" charset="0"/>
              </a:rPr>
              <a:t>đưa</a:t>
            </a:r>
            <a:r>
              <a:rPr lang="en-US" altLang="en-US" dirty="0">
                <a:latin typeface="Arial" panose="020B0604020202020204" pitchFamily="34" charset="0"/>
              </a:rPr>
              <a:t> </a:t>
            </a:r>
            <a:r>
              <a:rPr lang="en-US" altLang="en-US" dirty="0" err="1">
                <a:latin typeface="Arial" panose="020B0604020202020204" pitchFamily="34" charset="0"/>
              </a:rPr>
              <a:t>công</a:t>
            </a:r>
            <a:r>
              <a:rPr lang="en-US" altLang="en-US" dirty="0">
                <a:latin typeface="Arial" panose="020B0604020202020204" pitchFamily="34" charset="0"/>
              </a:rPr>
              <a:t> </a:t>
            </a:r>
            <a:r>
              <a:rPr lang="en-US" altLang="en-US" dirty="0" err="1">
                <a:latin typeface="Arial" panose="020B0604020202020204" pitchFamily="34" charset="0"/>
              </a:rPr>
              <a:t>thức</a:t>
            </a:r>
            <a:r>
              <a:rPr lang="en-US" altLang="en-US" dirty="0">
                <a:latin typeface="Arial" panose="020B0604020202020204" pitchFamily="34" charset="0"/>
              </a:rPr>
              <a:t> </a:t>
            </a:r>
            <a:r>
              <a:rPr lang="en-US" altLang="en-US" dirty="0" err="1">
                <a:latin typeface="Arial" panose="020B0604020202020204" pitchFamily="34" charset="0"/>
              </a:rPr>
              <a:t>và</a:t>
            </a:r>
            <a:r>
              <a:rPr lang="en-US" altLang="en-US" dirty="0">
                <a:latin typeface="Arial" panose="020B0604020202020204" pitchFamily="34" charset="0"/>
              </a:rPr>
              <a:t> </a:t>
            </a:r>
            <a:r>
              <a:rPr lang="en-US" altLang="en-US" dirty="0" err="1">
                <a:latin typeface="Arial" panose="020B0604020202020204" pitchFamily="34" charset="0"/>
              </a:rPr>
              <a:t>điền</a:t>
            </a:r>
            <a:r>
              <a:rPr lang="en-US" altLang="en-US" dirty="0">
                <a:latin typeface="Arial" panose="020B0604020202020204" pitchFamily="34" charset="0"/>
              </a:rPr>
              <a:t> </a:t>
            </a:r>
            <a:r>
              <a:rPr lang="en-US" altLang="en-US" dirty="0" err="1">
                <a:latin typeface="Arial" panose="020B0604020202020204" pitchFamily="34" charset="0"/>
              </a:rPr>
              <a:t>số</a:t>
            </a:r>
            <a:r>
              <a:rPr lang="en-US" altLang="en-US" dirty="0">
                <a:latin typeface="Arial" panose="020B0604020202020204" pitchFamily="34" charset="0"/>
              </a:rPr>
              <a:t> </a:t>
            </a:r>
            <a:r>
              <a:rPr lang="en-US" altLang="en-US" dirty="0" err="1">
                <a:latin typeface="Arial" panose="020B0604020202020204" pitchFamily="34" charset="0"/>
              </a:rPr>
              <a:t>để</a:t>
            </a:r>
            <a:r>
              <a:rPr lang="en-US" altLang="en-US" dirty="0">
                <a:latin typeface="Arial" panose="020B0604020202020204" pitchFamily="34" charset="0"/>
              </a:rPr>
              <a:t> </a:t>
            </a:r>
            <a:r>
              <a:rPr lang="en-US" altLang="en-US" dirty="0" err="1">
                <a:latin typeface="Arial" panose="020B0604020202020204" pitchFamily="34" charset="0"/>
              </a:rPr>
              <a:t>giải</a:t>
            </a:r>
            <a:r>
              <a:rPr lang="en-US" altLang="en-US" dirty="0">
                <a:latin typeface="Arial" panose="020B0604020202020204" pitchFamily="34" charset="0"/>
              </a:rPr>
              <a:t> </a:t>
            </a:r>
            <a:r>
              <a:rPr lang="en-US" altLang="en-US" dirty="0" err="1">
                <a:latin typeface="Arial" panose="020B0604020202020204" pitchFamily="34" charset="0"/>
              </a:rPr>
              <a:t>ví</a:t>
            </a:r>
            <a:r>
              <a:rPr lang="en-US" altLang="en-US" dirty="0">
                <a:latin typeface="Arial" panose="020B0604020202020204" pitchFamily="34" charset="0"/>
              </a:rPr>
              <a:t> </a:t>
            </a:r>
            <a:r>
              <a:rPr lang="en-US" altLang="en-US">
                <a:latin typeface="Arial" panose="020B0604020202020204" pitchFamily="34" charset="0"/>
              </a:rPr>
              <a:t>dụ</a:t>
            </a:r>
          </a:p>
        </p:txBody>
      </p:sp>
    </p:spTree>
    <p:extLst>
      <p:ext uri="{BB962C8B-B14F-4D97-AF65-F5344CB8AC3E}">
        <p14:creationId xmlns:p14="http://schemas.microsoft.com/office/powerpoint/2010/main" val="3366984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50938" y="692150"/>
            <a:ext cx="4556125" cy="3416300"/>
          </a:xfrm>
          <a:ln/>
        </p:spPr>
      </p:sp>
      <p:sp>
        <p:nvSpPr>
          <p:cNvPr id="133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518154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50938" y="692150"/>
            <a:ext cx="4556125" cy="3416300"/>
          </a:xfrm>
          <a:ln/>
        </p:spPr>
      </p:sp>
      <p:sp>
        <p:nvSpPr>
          <p:cNvPr id="133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latin typeface="Arial" panose="020B0604020202020204" pitchFamily="34" charset="0"/>
              </a:rPr>
              <a:t>Tiếp</a:t>
            </a:r>
            <a:r>
              <a:rPr lang="en-US" altLang="en-US" dirty="0">
                <a:latin typeface="Arial" panose="020B0604020202020204" pitchFamily="34" charset="0"/>
              </a:rPr>
              <a:t> </a:t>
            </a:r>
            <a:r>
              <a:rPr lang="en-US" altLang="en-US" dirty="0" err="1">
                <a:latin typeface="Arial" panose="020B0604020202020204" pitchFamily="34" charset="0"/>
              </a:rPr>
              <a:t>theo</a:t>
            </a:r>
            <a:r>
              <a:rPr lang="en-US" altLang="en-US" dirty="0">
                <a:latin typeface="Arial" panose="020B0604020202020204" pitchFamily="34" charset="0"/>
              </a:rPr>
              <a:t> slide </a:t>
            </a:r>
            <a:r>
              <a:rPr lang="en-US" altLang="en-US" dirty="0" err="1">
                <a:latin typeface="Arial" panose="020B0604020202020204" pitchFamily="34" charset="0"/>
              </a:rPr>
              <a:t>số</a:t>
            </a:r>
            <a:r>
              <a:rPr lang="en-US" altLang="en-US" dirty="0">
                <a:latin typeface="Arial" panose="020B0604020202020204" pitchFamily="34" charset="0"/>
              </a:rPr>
              <a:t> 15 </a:t>
            </a:r>
            <a:r>
              <a:rPr lang="en-US" altLang="en-US" dirty="0" err="1">
                <a:latin typeface="Arial" panose="020B0604020202020204" pitchFamily="34" charset="0"/>
              </a:rPr>
              <a:t>đê</a:t>
            </a:r>
            <a:r>
              <a:rPr lang="en-US" altLang="en-US" dirty="0">
                <a:latin typeface="Arial" panose="020B0604020202020204" pitchFamily="34" charset="0"/>
              </a:rPr>
              <a:t> </a:t>
            </a:r>
            <a:r>
              <a:rPr lang="en-US" altLang="en-US" dirty="0" err="1">
                <a:latin typeface="Arial" panose="020B0604020202020204" pitchFamily="34" charset="0"/>
              </a:rPr>
              <a:t>được</a:t>
            </a:r>
            <a:r>
              <a:rPr lang="en-US" altLang="en-US" dirty="0">
                <a:latin typeface="Arial" panose="020B0604020202020204" pitchFamily="34" charset="0"/>
              </a:rPr>
              <a:t> </a:t>
            </a:r>
            <a:r>
              <a:rPr lang="en-US" altLang="en-US" dirty="0" err="1">
                <a:latin typeface="Arial" panose="020B0604020202020204" pitchFamily="34" charset="0"/>
              </a:rPr>
              <a:t>công</a:t>
            </a:r>
            <a:r>
              <a:rPr lang="en-US" altLang="en-US" dirty="0">
                <a:latin typeface="Arial" panose="020B0604020202020204" pitchFamily="34" charset="0"/>
              </a:rPr>
              <a:t> </a:t>
            </a:r>
            <a:r>
              <a:rPr lang="en-US" altLang="en-US" dirty="0" err="1">
                <a:latin typeface="Arial" panose="020B0604020202020204" pitchFamily="34" charset="0"/>
              </a:rPr>
              <a:t>thức</a:t>
            </a:r>
            <a:r>
              <a:rPr lang="en-US" altLang="en-US" dirty="0">
                <a:latin typeface="Arial" panose="020B0604020202020204" pitchFamily="34" charset="0"/>
              </a:rPr>
              <a:t> E . </a:t>
            </a:r>
            <a:r>
              <a:rPr lang="en-US" altLang="en-US" dirty="0" err="1">
                <a:latin typeface="Arial" panose="020B0604020202020204" pitchFamily="34" charset="0"/>
              </a:rPr>
              <a:t>Đầu</a:t>
            </a:r>
            <a:r>
              <a:rPr lang="en-US" altLang="en-US" dirty="0">
                <a:latin typeface="Arial" panose="020B0604020202020204" pitchFamily="34" charset="0"/>
              </a:rPr>
              <a:t> </a:t>
            </a:r>
            <a:r>
              <a:rPr lang="en-US" altLang="en-US" dirty="0" err="1">
                <a:latin typeface="Arial" panose="020B0604020202020204" pitchFamily="34" charset="0"/>
              </a:rPr>
              <a:t>tiên</a:t>
            </a:r>
            <a:r>
              <a:rPr lang="en-US" altLang="en-US" dirty="0">
                <a:latin typeface="Arial" panose="020B0604020202020204" pitchFamily="34" charset="0"/>
              </a:rPr>
              <a:t> </a:t>
            </a:r>
            <a:r>
              <a:rPr lang="en-US" altLang="en-US" dirty="0" err="1">
                <a:latin typeface="Arial" panose="020B0604020202020204" pitchFamily="34" charset="0"/>
              </a:rPr>
              <a:t>hiện</a:t>
            </a:r>
            <a:r>
              <a:rPr lang="en-US" altLang="en-US" dirty="0">
                <a:latin typeface="Arial" panose="020B0604020202020204" pitchFamily="34" charset="0"/>
              </a:rPr>
              <a:t> </a:t>
            </a:r>
            <a:r>
              <a:rPr lang="en-US" altLang="en-US" dirty="0" err="1">
                <a:latin typeface="Arial" panose="020B0604020202020204" pitchFamily="34" charset="0"/>
              </a:rPr>
              <a:t>hình</a:t>
            </a:r>
            <a:r>
              <a:rPr lang="en-US" altLang="en-US" dirty="0">
                <a:latin typeface="Arial" panose="020B0604020202020204" pitchFamily="34" charset="0"/>
              </a:rPr>
              <a:t> </a:t>
            </a:r>
            <a:r>
              <a:rPr lang="en-US" altLang="en-US" dirty="0" err="1">
                <a:latin typeface="Arial" panose="020B0604020202020204" pitchFamily="34" charset="0"/>
              </a:rPr>
              <a:t>của</a:t>
            </a:r>
            <a:r>
              <a:rPr lang="en-US" altLang="en-US" dirty="0">
                <a:latin typeface="Arial" panose="020B0604020202020204" pitchFamily="34" charset="0"/>
              </a:rPr>
              <a:t> </a:t>
            </a:r>
            <a:r>
              <a:rPr lang="en-US" altLang="en-US" dirty="0" err="1">
                <a:latin typeface="Arial" panose="020B0604020202020204" pitchFamily="34" charset="0"/>
              </a:rPr>
              <a:t>phân</a:t>
            </a:r>
            <a:r>
              <a:rPr lang="en-US" altLang="en-US" dirty="0">
                <a:latin typeface="Arial" panose="020B0604020202020204" pitchFamily="34" charset="0"/>
              </a:rPr>
              <a:t> </a:t>
            </a:r>
            <a:r>
              <a:rPr lang="en-US" altLang="en-US" dirty="0" err="1">
                <a:latin typeface="Arial" panose="020B0604020202020204" pitchFamily="34" charset="0"/>
              </a:rPr>
              <a:t>phối</a:t>
            </a:r>
            <a:r>
              <a:rPr lang="en-US" altLang="en-US" dirty="0">
                <a:latin typeface="Arial" panose="020B0604020202020204" pitchFamily="34" charset="0"/>
              </a:rPr>
              <a:t> </a:t>
            </a:r>
            <a:r>
              <a:rPr lang="en-US" altLang="en-US" dirty="0" err="1">
                <a:latin typeface="Arial" panose="020B0604020202020204" pitchFamily="34" charset="0"/>
              </a:rPr>
              <a:t>chuẩn</a:t>
            </a:r>
            <a:r>
              <a:rPr lang="en-US" altLang="en-US" dirty="0">
                <a:latin typeface="Arial" panose="020B0604020202020204" pitchFamily="34" charset="0"/>
              </a:rPr>
              <a:t> </a:t>
            </a:r>
            <a:r>
              <a:rPr lang="en-US" altLang="en-US" dirty="0" err="1">
                <a:latin typeface="Arial" panose="020B0604020202020204" pitchFamily="34" charset="0"/>
              </a:rPr>
              <a:t>với</a:t>
            </a:r>
            <a:r>
              <a:rPr lang="en-US" altLang="en-US" dirty="0">
                <a:latin typeface="Arial" panose="020B0604020202020204" pitchFamily="34" charset="0"/>
              </a:rPr>
              <a:t> </a:t>
            </a:r>
            <a:r>
              <a:rPr lang="en-US" altLang="en-US" dirty="0" err="1">
                <a:latin typeface="Arial" panose="020B0604020202020204" pitchFamily="34" charset="0"/>
              </a:rPr>
              <a:t>độ</a:t>
            </a:r>
            <a:r>
              <a:rPr lang="en-US" altLang="en-US" dirty="0">
                <a:latin typeface="Arial" panose="020B0604020202020204" pitchFamily="34" charset="0"/>
              </a:rPr>
              <a:t> tin </a:t>
            </a:r>
            <a:r>
              <a:rPr lang="en-US" altLang="en-US" dirty="0" err="1">
                <a:latin typeface="Arial" panose="020B0604020202020204" pitchFamily="34" charset="0"/>
              </a:rPr>
              <a:t>cậy</a:t>
            </a:r>
            <a:r>
              <a:rPr lang="en-US" altLang="en-US" dirty="0">
                <a:latin typeface="Arial" panose="020B0604020202020204" pitchFamily="34" charset="0"/>
              </a:rPr>
              <a:t> 1-alpha = 0.95 </a:t>
            </a:r>
            <a:r>
              <a:rPr lang="en-US" altLang="en-US" dirty="0" err="1">
                <a:latin typeface="Arial" panose="020B0604020202020204" pitchFamily="34" charset="0"/>
              </a:rPr>
              <a:t>và</a:t>
            </a:r>
            <a:r>
              <a:rPr lang="en-US" altLang="en-US" dirty="0">
                <a:latin typeface="Arial" panose="020B0604020202020204" pitchFamily="34" charset="0"/>
              </a:rPr>
              <a:t> alpha/2 = 0.025, </a:t>
            </a:r>
            <a:r>
              <a:rPr lang="en-US" altLang="en-US" dirty="0" err="1">
                <a:latin typeface="Arial" panose="020B0604020202020204" pitchFamily="34" charset="0"/>
              </a:rPr>
              <a:t>giá</a:t>
            </a:r>
            <a:r>
              <a:rPr lang="en-US" altLang="en-US" dirty="0">
                <a:latin typeface="Arial" panose="020B0604020202020204" pitchFamily="34" charset="0"/>
              </a:rPr>
              <a:t> </a:t>
            </a:r>
            <a:r>
              <a:rPr lang="en-US" altLang="en-US" dirty="0" err="1">
                <a:latin typeface="Arial" panose="020B0604020202020204" pitchFamily="34" charset="0"/>
              </a:rPr>
              <a:t>trị</a:t>
            </a:r>
            <a:r>
              <a:rPr lang="en-US" altLang="en-US" dirty="0">
                <a:latin typeface="Arial" panose="020B0604020202020204" pitchFamily="34" charset="0"/>
              </a:rPr>
              <a:t> b </a:t>
            </a:r>
            <a:r>
              <a:rPr lang="en-US" altLang="en-US" dirty="0" err="1">
                <a:latin typeface="Arial" panose="020B0604020202020204" pitchFamily="34" charset="0"/>
              </a:rPr>
              <a:t>sẽ</a:t>
            </a:r>
            <a:r>
              <a:rPr lang="en-US" altLang="en-US" dirty="0">
                <a:latin typeface="Arial" panose="020B0604020202020204" pitchFamily="34" charset="0"/>
              </a:rPr>
              <a:t> </a:t>
            </a:r>
            <a:r>
              <a:rPr lang="en-US" altLang="en-US" dirty="0" err="1">
                <a:latin typeface="Arial" panose="020B0604020202020204" pitchFamily="34" charset="0"/>
              </a:rPr>
              <a:t>hiện</a:t>
            </a:r>
            <a:r>
              <a:rPr lang="en-US" altLang="en-US" dirty="0">
                <a:latin typeface="Arial" panose="020B0604020202020204" pitchFamily="34" charset="0"/>
              </a:rPr>
              <a:t> </a:t>
            </a:r>
            <a:r>
              <a:rPr lang="en-US" altLang="en-US" dirty="0" err="1">
                <a:latin typeface="Arial" panose="020B0604020202020204" pitchFamily="34" charset="0"/>
              </a:rPr>
              <a:t>ra</a:t>
            </a:r>
            <a:r>
              <a:rPr lang="en-US" altLang="en-US" dirty="0">
                <a:latin typeface="Arial" panose="020B0604020202020204" pitchFamily="34" charset="0"/>
              </a:rPr>
              <a:t> </a:t>
            </a:r>
            <a:r>
              <a:rPr lang="en-US" altLang="en-US" dirty="0" err="1">
                <a:latin typeface="Arial" panose="020B0604020202020204" pitchFamily="34" charset="0"/>
              </a:rPr>
              <a:t>sau</a:t>
            </a:r>
            <a:r>
              <a:rPr lang="en-US" altLang="en-US" dirty="0">
                <a:latin typeface="Arial" panose="020B0604020202020204" pitchFamily="34" charset="0"/>
              </a:rPr>
              <a:t> </a:t>
            </a:r>
            <a:r>
              <a:rPr lang="en-US" altLang="en-US" dirty="0" err="1">
                <a:latin typeface="Arial" panose="020B0604020202020204" pitchFamily="34" charset="0"/>
              </a:rPr>
              <a:t>khi</a:t>
            </a:r>
            <a:r>
              <a:rPr lang="en-US" altLang="en-US" dirty="0">
                <a:latin typeface="Arial" panose="020B0604020202020204" pitchFamily="34" charset="0"/>
              </a:rPr>
              <a:t> </a:t>
            </a:r>
            <a:r>
              <a:rPr lang="en-US" altLang="en-US" dirty="0" err="1">
                <a:latin typeface="Arial" panose="020B0604020202020204" pitchFamily="34" charset="0"/>
              </a:rPr>
              <a:t>nói</a:t>
            </a:r>
            <a:r>
              <a:rPr lang="en-US" altLang="en-US" dirty="0">
                <a:latin typeface="Arial" panose="020B0604020202020204" pitchFamily="34" charset="0"/>
              </a:rPr>
              <a:t> </a:t>
            </a:r>
            <a:r>
              <a:rPr lang="en-US" altLang="en-US" dirty="0" err="1">
                <a:latin typeface="Arial" panose="020B0604020202020204" pitchFamily="34" charset="0"/>
              </a:rPr>
              <a:t>phần</a:t>
            </a:r>
            <a:r>
              <a:rPr lang="en-US" altLang="en-US" dirty="0">
                <a:latin typeface="Arial" panose="020B0604020202020204" pitchFamily="34" charset="0"/>
              </a:rPr>
              <a:t> </a:t>
            </a:r>
            <a:r>
              <a:rPr lang="en-US" altLang="en-US" dirty="0" err="1">
                <a:latin typeface="Arial" panose="020B0604020202020204" pitchFamily="34" charset="0"/>
              </a:rPr>
              <a:t>chứng</a:t>
            </a:r>
            <a:r>
              <a:rPr lang="en-US" altLang="en-US" dirty="0">
                <a:latin typeface="Arial" panose="020B0604020202020204" pitchFamily="34" charset="0"/>
              </a:rPr>
              <a:t> </a:t>
            </a:r>
            <a:r>
              <a:rPr lang="en-US" altLang="en-US" dirty="0" err="1">
                <a:latin typeface="Arial" panose="020B0604020202020204" pitchFamily="34" charset="0"/>
              </a:rPr>
              <a:t>minh</a:t>
            </a:r>
            <a:r>
              <a:rPr lang="en-US" altLang="en-US" dirty="0">
                <a:latin typeface="Arial" panose="020B0604020202020204" pitchFamily="34" charset="0"/>
              </a:rPr>
              <a:t> </a:t>
            </a:r>
            <a:r>
              <a:rPr lang="en-US" altLang="en-US" dirty="0" err="1">
                <a:latin typeface="Arial" panose="020B0604020202020204" pitchFamily="34" charset="0"/>
              </a:rPr>
              <a:t>tới</a:t>
            </a:r>
            <a:r>
              <a:rPr lang="en-US" altLang="en-US" dirty="0">
                <a:latin typeface="Arial" panose="020B0604020202020204" pitchFamily="34" charset="0"/>
              </a:rPr>
              <a:t> b</a:t>
            </a:r>
          </a:p>
        </p:txBody>
      </p:sp>
    </p:spTree>
    <p:extLst>
      <p:ext uri="{BB962C8B-B14F-4D97-AF65-F5344CB8AC3E}">
        <p14:creationId xmlns:p14="http://schemas.microsoft.com/office/powerpoint/2010/main" val="478500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50938" y="692150"/>
            <a:ext cx="4556125" cy="3416300"/>
          </a:xfrm>
          <a:ln/>
        </p:spPr>
      </p:sp>
      <p:sp>
        <p:nvSpPr>
          <p:cNvPr id="133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latin typeface="Arial" panose="020B0604020202020204" pitchFamily="34" charset="0"/>
              </a:rPr>
              <a:t>Tiếp</a:t>
            </a:r>
            <a:r>
              <a:rPr lang="en-US" altLang="en-US" dirty="0">
                <a:latin typeface="Arial" panose="020B0604020202020204" pitchFamily="34" charset="0"/>
              </a:rPr>
              <a:t> </a:t>
            </a:r>
            <a:r>
              <a:rPr lang="en-US" altLang="en-US" dirty="0" err="1">
                <a:latin typeface="Arial" panose="020B0604020202020204" pitchFamily="34" charset="0"/>
              </a:rPr>
              <a:t>theo</a:t>
            </a:r>
            <a:r>
              <a:rPr lang="en-US" altLang="en-US" dirty="0">
                <a:latin typeface="Arial" panose="020B0604020202020204" pitchFamily="34" charset="0"/>
              </a:rPr>
              <a:t> slide 22 </a:t>
            </a:r>
            <a:r>
              <a:rPr lang="en-US" altLang="en-US" dirty="0" err="1">
                <a:latin typeface="Arial" panose="020B0604020202020204" pitchFamily="34" charset="0"/>
              </a:rPr>
              <a:t>để</a:t>
            </a:r>
            <a:r>
              <a:rPr lang="en-US" altLang="en-US" dirty="0">
                <a:latin typeface="Arial" panose="020B0604020202020204" pitchFamily="34" charset="0"/>
              </a:rPr>
              <a:t>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công</a:t>
            </a:r>
            <a:r>
              <a:rPr lang="en-US" altLang="en-US" dirty="0">
                <a:latin typeface="Arial" panose="020B0604020202020204" pitchFamily="34" charset="0"/>
              </a:rPr>
              <a:t> </a:t>
            </a:r>
            <a:r>
              <a:rPr lang="en-US" altLang="en-US" dirty="0" err="1">
                <a:latin typeface="Arial" panose="020B0604020202020204" pitchFamily="34" charset="0"/>
              </a:rPr>
              <a:t>thức</a:t>
            </a:r>
            <a:r>
              <a:rPr lang="en-US" altLang="en-US" dirty="0">
                <a:latin typeface="Arial" panose="020B0604020202020204" pitchFamily="34" charset="0"/>
              </a:rPr>
              <a:t> </a:t>
            </a:r>
            <a:r>
              <a:rPr lang="en-US" altLang="en-US" dirty="0" err="1">
                <a:latin typeface="Arial" panose="020B0604020202020204" pitchFamily="34" charset="0"/>
              </a:rPr>
              <a:t>của</a:t>
            </a:r>
            <a:r>
              <a:rPr lang="en-US" altLang="en-US" dirty="0">
                <a:latin typeface="Arial" panose="020B0604020202020204" pitchFamily="34" charset="0"/>
              </a:rPr>
              <a:t> E</a:t>
            </a:r>
          </a:p>
        </p:txBody>
      </p:sp>
    </p:spTree>
    <p:extLst>
      <p:ext uri="{BB962C8B-B14F-4D97-AF65-F5344CB8AC3E}">
        <p14:creationId xmlns:p14="http://schemas.microsoft.com/office/powerpoint/2010/main" val="9059917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6563"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116318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8611"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5216258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Student t distribution is usually referred to as the t distribution.</a:t>
            </a:r>
          </a:p>
        </p:txBody>
      </p:sp>
      <p:sp>
        <p:nvSpPr>
          <p:cNvPr id="21507"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32090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Explain that other statistical procedures may have different formulas for degrees of freedom. </a:t>
            </a:r>
          </a:p>
        </p:txBody>
      </p:sp>
      <p:sp>
        <p:nvSpPr>
          <p:cNvPr id="23555"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29638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Smaller samples will have means that are likely to vary more.  The greater variation is accounted for by the t distribution. </a:t>
            </a:r>
          </a:p>
          <a:p>
            <a:r>
              <a:rPr lang="en-US" altLang="en-US">
                <a:latin typeface="Arial" panose="020B0604020202020204" pitchFamily="34" charset="0"/>
              </a:rPr>
              <a:t>Students usually like hearing about the history of how the Student t distribution got its name.</a:t>
            </a:r>
          </a:p>
          <a:p>
            <a:r>
              <a:rPr lang="en-US" altLang="en-US">
                <a:latin typeface="Arial" panose="020B0604020202020204" pitchFamily="34" charset="0"/>
              </a:rPr>
              <a:t>page 350 of text</a:t>
            </a:r>
          </a:p>
          <a:p>
            <a:r>
              <a:rPr lang="en-US" altLang="en-US">
                <a:latin typeface="Arial" panose="020B0604020202020204" pitchFamily="34" charset="0"/>
              </a:rPr>
              <a:t>See Note to Instructor in margin for other ideas. </a:t>
            </a:r>
          </a:p>
        </p:txBody>
      </p:sp>
      <p:sp>
        <p:nvSpPr>
          <p:cNvPr id="25603"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1992043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7651"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72997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1747"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9768893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3795"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4478677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5843"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1459341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7891"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8780553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Student t distributions have the same general shape and symmetry as the standard normal distribution, but reflect a greater variability that is expected with small samples.</a:t>
            </a:r>
          </a:p>
        </p:txBody>
      </p:sp>
      <p:sp>
        <p:nvSpPr>
          <p:cNvPr id="39939"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1528580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6563" name="Rectangle 3"/>
          <p:cNvSpPr>
            <a:spLocks noGrp="1" noRot="1" noChangeAspect="1" noChangeArrowheads="1" noTextEdit="1"/>
          </p:cNvSpPr>
          <p:nvPr>
            <p:ph type="sldImg"/>
          </p:nvPr>
        </p:nvSpPr>
        <p:spPr>
          <a:xfrm>
            <a:off x="1150938" y="692150"/>
            <a:ext cx="4556125" cy="3416300"/>
          </a:xfrm>
          <a:ln cap="flat"/>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8611" name="Rectangle 3"/>
          <p:cNvSpPr>
            <a:spLocks noGrp="1" noRot="1" noChangeAspect="1" noChangeArrowheads="1" noTextEdit="1"/>
          </p:cNvSpPr>
          <p:nvPr>
            <p:ph type="sldImg"/>
          </p:nvPr>
        </p:nvSpPr>
        <p:spPr>
          <a:xfrm>
            <a:off x="1150938" y="692150"/>
            <a:ext cx="4556125" cy="3416300"/>
          </a:xfrm>
          <a:ln cap="flat"/>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0659" name="Rectangle 3"/>
          <p:cNvSpPr>
            <a:spLocks noGrp="1" noRot="1" noChangeAspect="1" noChangeArrowheads="1" noTextEdit="1"/>
          </p:cNvSpPr>
          <p:nvPr>
            <p:ph type="sldImg"/>
          </p:nvPr>
        </p:nvSpPr>
        <p:spPr>
          <a:xfrm>
            <a:off x="1150938" y="692150"/>
            <a:ext cx="4556125" cy="3416300"/>
          </a:xfrm>
          <a:ln cap="flat"/>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2707" name="Rectangle 3"/>
          <p:cNvSpPr>
            <a:spLocks noGrp="1" noRot="1" noChangeAspect="1" noChangeArrowheads="1" noTextEdit="1"/>
          </p:cNvSpPr>
          <p:nvPr>
            <p:ph type="sldImg"/>
          </p:nvPr>
        </p:nvSpPr>
        <p:spPr>
          <a:xfrm>
            <a:off x="1150938" y="692150"/>
            <a:ext cx="4556125" cy="3416300"/>
          </a:xfrm>
          <a:ln cap="flat"/>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1150938" y="692150"/>
            <a:ext cx="4556125" cy="3416300"/>
          </a:xfrm>
          <a:ln/>
        </p:spPr>
      </p:sp>
      <p:sp>
        <p:nvSpPr>
          <p:cNvPr id="1198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7584425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1987"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448771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page 343 of Elementary Statistics, 10th Edition</a:t>
            </a:r>
          </a:p>
        </p:txBody>
      </p:sp>
      <p:sp>
        <p:nvSpPr>
          <p:cNvPr id="44035"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41781154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page 344 of Elementary Statistics, 10th Edition</a:t>
            </a:r>
          </a:p>
        </p:txBody>
      </p:sp>
      <p:sp>
        <p:nvSpPr>
          <p:cNvPr id="46083"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5948633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Example on page 344 of Elementary Statistics, 10th Edition</a:t>
            </a:r>
          </a:p>
        </p:txBody>
      </p:sp>
      <p:sp>
        <p:nvSpPr>
          <p:cNvPr id="48131"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108169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50938" y="692150"/>
            <a:ext cx="4556125" cy="3416300"/>
          </a:xfrm>
          <a:ln/>
        </p:spPr>
      </p:sp>
      <p:sp>
        <p:nvSpPr>
          <p:cNvPr id="788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0938" y="692150"/>
            <a:ext cx="4556125" cy="3416300"/>
          </a:xfrm>
          <a:ln/>
        </p:spPr>
      </p:sp>
      <p:sp>
        <p:nvSpPr>
          <p:cNvPr id="8089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50938" y="692150"/>
            <a:ext cx="4556125" cy="3416300"/>
          </a:xfrm>
          <a:ln/>
        </p:spPr>
      </p:sp>
      <p:sp>
        <p:nvSpPr>
          <p:cNvPr id="8704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50938" y="692150"/>
            <a:ext cx="4556125" cy="3416300"/>
          </a:xfrm>
          <a:ln/>
        </p:spPr>
      </p:sp>
      <p:sp>
        <p:nvSpPr>
          <p:cNvPr id="8704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543972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50938" y="692150"/>
            <a:ext cx="4556125" cy="3416300"/>
          </a:xfrm>
          <a:ln/>
        </p:spPr>
      </p:sp>
      <p:sp>
        <p:nvSpPr>
          <p:cNvPr id="8704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4057350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150938" y="692150"/>
            <a:ext cx="4556125" cy="3416300"/>
          </a:xfrm>
          <a:ln/>
        </p:spPr>
      </p:sp>
      <p:sp>
        <p:nvSpPr>
          <p:cNvPr id="9933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50938" y="692150"/>
            <a:ext cx="4556125" cy="3416300"/>
          </a:xfrm>
          <a:ln/>
        </p:spPr>
      </p:sp>
      <p:sp>
        <p:nvSpPr>
          <p:cNvPr id="10547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50938" y="692150"/>
            <a:ext cx="4556125" cy="3416300"/>
          </a:xfrm>
          <a:ln/>
        </p:spPr>
      </p:sp>
      <p:sp>
        <p:nvSpPr>
          <p:cNvPr id="1075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150938" y="692150"/>
            <a:ext cx="4556125" cy="3416300"/>
          </a:xfrm>
          <a:ln/>
        </p:spPr>
      </p:sp>
      <p:sp>
        <p:nvSpPr>
          <p:cNvPr id="1095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1150938" y="692150"/>
            <a:ext cx="4556125" cy="3416300"/>
          </a:xfrm>
          <a:ln/>
        </p:spPr>
      </p:sp>
      <p:sp>
        <p:nvSpPr>
          <p:cNvPr id="11161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1150938" y="692150"/>
            <a:ext cx="4556125" cy="3416300"/>
          </a:xfrm>
          <a:ln/>
        </p:spPr>
      </p:sp>
      <p:sp>
        <p:nvSpPr>
          <p:cNvPr id="1136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1150938" y="692150"/>
            <a:ext cx="4556125" cy="3416300"/>
          </a:xfrm>
          <a:ln/>
        </p:spPr>
      </p:sp>
      <p:sp>
        <p:nvSpPr>
          <p:cNvPr id="1198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xfrm>
            <a:off x="1150938" y="692150"/>
            <a:ext cx="4556125" cy="3416300"/>
          </a:xfrm>
          <a:ln/>
        </p:spPr>
      </p:sp>
      <p:sp>
        <p:nvSpPr>
          <p:cNvPr id="1218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1150938" y="692150"/>
            <a:ext cx="4556125" cy="3416300"/>
          </a:xfrm>
          <a:ln/>
        </p:spPr>
      </p:sp>
      <p:sp>
        <p:nvSpPr>
          <p:cNvPr id="12390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1150938" y="692150"/>
            <a:ext cx="4556125" cy="3416300"/>
          </a:xfrm>
          <a:ln/>
        </p:spPr>
      </p:sp>
      <p:sp>
        <p:nvSpPr>
          <p:cNvPr id="12595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1150938" y="692150"/>
            <a:ext cx="4556125" cy="3416300"/>
          </a:xfrm>
          <a:ln/>
        </p:spPr>
      </p:sp>
      <p:sp>
        <p:nvSpPr>
          <p:cNvPr id="12800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1150938" y="692150"/>
            <a:ext cx="4556125" cy="3416300"/>
          </a:xfrm>
          <a:ln/>
        </p:spPr>
      </p:sp>
      <p:sp>
        <p:nvSpPr>
          <p:cNvPr id="1300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1150938" y="692150"/>
            <a:ext cx="4556125" cy="3416300"/>
          </a:xfrm>
          <a:ln/>
        </p:spPr>
      </p:sp>
      <p:sp>
        <p:nvSpPr>
          <p:cNvPr id="13209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title block"/>
          <p:cNvSpPr/>
          <p:nvPr/>
        </p:nvSpPr>
        <p:spPr bwMode="invGray">
          <a:xfrm>
            <a:off x="856283" y="1600200"/>
            <a:ext cx="8287717" cy="3276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nvGrpSpPr>
          <p:cNvPr id="7" name="top graphic"/>
          <p:cNvGrpSpPr/>
          <p:nvPr/>
        </p:nvGrpSpPr>
        <p:grpSpPr>
          <a:xfrm>
            <a:off x="960" y="0"/>
            <a:ext cx="9144095" cy="429768"/>
            <a:chOff x="1279" y="0"/>
            <a:chExt cx="12188952" cy="429768"/>
          </a:xfrm>
        </p:grpSpPr>
        <p:sp>
          <p:nvSpPr>
            <p:cNvPr id="8" name="Rectangle 7"/>
            <p:cNvSpPr/>
            <p:nvPr/>
          </p:nvSpPr>
          <p:spPr>
            <a:xfrm>
              <a:off x="1279" y="0"/>
              <a:ext cx="12188952" cy="228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9" name="Rectangle 8"/>
            <p:cNvSpPr/>
            <p:nvPr/>
          </p:nvSpPr>
          <p:spPr>
            <a:xfrm>
              <a:off x="1279" y="228600"/>
              <a:ext cx="12188952" cy="2011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0" name="Rectangle 9"/>
            <p:cNvSpPr/>
            <p:nvPr/>
          </p:nvSpPr>
          <p:spPr>
            <a:xfrm>
              <a:off x="1279" y="306324"/>
              <a:ext cx="12188952"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grpSp>
        <p:nvGrpSpPr>
          <p:cNvPr id="23" name="bottom graphic"/>
          <p:cNvGrpSpPr/>
          <p:nvPr userDrawn="1"/>
        </p:nvGrpSpPr>
        <p:grpSpPr>
          <a:xfrm>
            <a:off x="-1055" y="6427000"/>
            <a:ext cx="9145055" cy="430982"/>
            <a:chOff x="0" y="6080760"/>
            <a:chExt cx="12190231" cy="777239"/>
          </a:xfrm>
        </p:grpSpPr>
        <p:sp>
          <p:nvSpPr>
            <p:cNvPr id="13" name="Rectangle 12"/>
            <p:cNvSpPr/>
            <p:nvPr userDrawn="1"/>
          </p:nvSpPr>
          <p:spPr>
            <a:xfrm>
              <a:off x="0" y="6217919"/>
              <a:ext cx="12188825" cy="640080"/>
            </a:xfrm>
            <a:prstGeom prst="rect">
              <a:avLst/>
            </a:prstGeom>
            <a:solidFill>
              <a:srgbClr val="052A4B"/>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sz="1350"/>
            </a:p>
          </p:txBody>
        </p:sp>
        <p:sp>
          <p:nvSpPr>
            <p:cNvPr id="14" name="Rectangle 13"/>
            <p:cNvSpPr/>
            <p:nvPr/>
          </p:nvSpPr>
          <p:spPr>
            <a:xfrm>
              <a:off x="1279" y="60807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5" name="Rectangle 14"/>
            <p:cNvSpPr/>
            <p:nvPr/>
          </p:nvSpPr>
          <p:spPr>
            <a:xfrm>
              <a:off x="1279" y="6172200"/>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sp>
        <p:nvSpPr>
          <p:cNvPr id="2" name="Title 1"/>
          <p:cNvSpPr>
            <a:spLocks noGrp="1"/>
          </p:cNvSpPr>
          <p:nvPr>
            <p:ph type="ctrTitle"/>
          </p:nvPr>
        </p:nvSpPr>
        <p:spPr bwMode="invGray">
          <a:xfrm>
            <a:off x="2590800" y="1905000"/>
            <a:ext cx="6248400" cy="2667000"/>
          </a:xfrm>
        </p:spPr>
        <p:txBody>
          <a:bodyPr anchor="ctr" anchorCtr="0">
            <a:normAutofit/>
          </a:bodyPr>
          <a:lstStyle>
            <a:lvl1pPr>
              <a:lnSpc>
                <a:spcPct val="80000"/>
              </a:lnSpc>
              <a:defRPr sz="4951">
                <a:solidFill>
                  <a:schemeClr val="bg1"/>
                </a:solidFill>
                <a:effectLst>
                  <a:outerShdw blurRad="88900" algn="ctr" rotWithShape="0">
                    <a:prstClr val="black">
                      <a:alpha val="35000"/>
                    </a:prstClr>
                  </a:outerShdw>
                </a:effectLst>
              </a:defRPr>
            </a:lvl1pPr>
          </a:lstStyle>
          <a:p>
            <a:r>
              <a:rPr lang="en-US" dirty="0"/>
              <a:t>Click to edit Master title style</a:t>
            </a:r>
            <a:endParaRPr dirty="0"/>
          </a:p>
        </p:txBody>
      </p:sp>
      <p:sp>
        <p:nvSpPr>
          <p:cNvPr id="3" name="Subtitle 2"/>
          <p:cNvSpPr>
            <a:spLocks noGrp="1"/>
          </p:cNvSpPr>
          <p:nvPr>
            <p:ph type="subTitle" idx="1"/>
          </p:nvPr>
        </p:nvSpPr>
        <p:spPr>
          <a:xfrm>
            <a:off x="1142107" y="5029200"/>
            <a:ext cx="6173806" cy="838200"/>
          </a:xfrm>
        </p:spPr>
        <p:txBody>
          <a:bodyPr/>
          <a:lstStyle>
            <a:lvl1pPr marL="0" indent="0" algn="l">
              <a:lnSpc>
                <a:spcPct val="90000"/>
              </a:lnSpc>
              <a:spcBef>
                <a:spcPts val="0"/>
              </a:spcBef>
              <a:buNone/>
              <a:defRPr>
                <a:solidFill>
                  <a:schemeClr val="tx1"/>
                </a:solidFill>
              </a:defRPr>
            </a:lvl1pPr>
            <a:lvl2pPr marL="342991" indent="0" algn="ctr">
              <a:buNone/>
              <a:defRPr>
                <a:solidFill>
                  <a:schemeClr val="tx1">
                    <a:tint val="75000"/>
                  </a:schemeClr>
                </a:solidFill>
              </a:defRPr>
            </a:lvl2pPr>
            <a:lvl3pPr marL="685983" indent="0" algn="ctr">
              <a:buNone/>
              <a:defRPr>
                <a:solidFill>
                  <a:schemeClr val="tx1">
                    <a:tint val="75000"/>
                  </a:schemeClr>
                </a:solidFill>
              </a:defRPr>
            </a:lvl3pPr>
            <a:lvl4pPr marL="1028974" indent="0" algn="ctr">
              <a:buNone/>
              <a:defRPr>
                <a:solidFill>
                  <a:schemeClr val="tx1">
                    <a:tint val="75000"/>
                  </a:schemeClr>
                </a:solidFill>
              </a:defRPr>
            </a:lvl4pPr>
            <a:lvl5pPr marL="1371966" indent="0" algn="ctr">
              <a:buNone/>
              <a:defRPr>
                <a:solidFill>
                  <a:schemeClr val="tx1">
                    <a:tint val="75000"/>
                  </a:schemeClr>
                </a:solidFill>
              </a:defRPr>
            </a:lvl5pPr>
            <a:lvl6pPr marL="1714957" indent="0" algn="ctr">
              <a:buNone/>
              <a:defRPr>
                <a:solidFill>
                  <a:schemeClr val="tx1">
                    <a:tint val="75000"/>
                  </a:schemeClr>
                </a:solidFill>
              </a:defRPr>
            </a:lvl6pPr>
            <a:lvl7pPr marL="2057949" indent="0" algn="ctr">
              <a:buNone/>
              <a:defRPr>
                <a:solidFill>
                  <a:schemeClr val="tx1">
                    <a:tint val="75000"/>
                  </a:schemeClr>
                </a:solidFill>
              </a:defRPr>
            </a:lvl7pPr>
            <a:lvl8pPr marL="2400940" indent="0" algn="ctr">
              <a:buNone/>
              <a:defRPr>
                <a:solidFill>
                  <a:schemeClr val="tx1">
                    <a:tint val="75000"/>
                  </a:schemeClr>
                </a:solidFill>
              </a:defRPr>
            </a:lvl8pPr>
            <a:lvl9pPr marL="2743932" indent="0" algn="ctr">
              <a:buNone/>
              <a:defRPr>
                <a:solidFill>
                  <a:schemeClr val="tx1">
                    <a:tint val="75000"/>
                  </a:schemeClr>
                </a:solidFill>
              </a:defRPr>
            </a:lvl9pPr>
          </a:lstStyle>
          <a:p>
            <a:r>
              <a:rPr lang="en-US" dirty="0"/>
              <a:t>Click to edit Master subtitle style</a:t>
            </a:r>
            <a:endParaRPr dirty="0"/>
          </a:p>
        </p:txBody>
      </p:sp>
      <p:sp>
        <p:nvSpPr>
          <p:cNvPr id="17" name="Title 1">
            <a:extLst>
              <a:ext uri="{FF2B5EF4-FFF2-40B4-BE49-F238E27FC236}">
                <a16:creationId xmlns:a16="http://schemas.microsoft.com/office/drawing/2014/main" id="{55353F5F-1174-4E41-84A9-6B2FF1533ED4}"/>
              </a:ext>
            </a:extLst>
          </p:cNvPr>
          <p:cNvSpPr txBox="1">
            <a:spLocks/>
          </p:cNvSpPr>
          <p:nvPr userDrawn="1"/>
        </p:nvSpPr>
        <p:spPr bwMode="invGray">
          <a:xfrm>
            <a:off x="1143000" y="2286000"/>
            <a:ext cx="1259505" cy="439052"/>
          </a:xfrm>
          <a:prstGeom prst="rect">
            <a:avLst/>
          </a:prstGeom>
        </p:spPr>
        <p:txBody>
          <a:bodyPr vert="horz" lIns="91440" tIns="45720" rIns="91440" bIns="45720" rtlCol="0" anchor="t" anchorCtr="0">
            <a:normAutofit fontScale="85000" lnSpcReduction="10000"/>
          </a:bodyPr>
          <a:lstStyle>
            <a:lvl1pPr algn="l" defTabSz="685983" rtl="0" eaLnBrk="1" latinLnBrk="0" hangingPunct="1">
              <a:lnSpc>
                <a:spcPct val="80000"/>
              </a:lnSpc>
              <a:spcBef>
                <a:spcPct val="0"/>
              </a:spcBef>
              <a:buNone/>
              <a:defRPr sz="4951" kern="1200">
                <a:solidFill>
                  <a:schemeClr val="bg1"/>
                </a:solidFill>
                <a:effectLst>
                  <a:outerShdw blurRad="88900" algn="ctr" rotWithShape="0">
                    <a:prstClr val="black">
                      <a:alpha val="35000"/>
                    </a:prstClr>
                  </a:outerShdw>
                </a:effectLst>
                <a:latin typeface="+mj-lt"/>
                <a:ea typeface="+mj-ea"/>
                <a:cs typeface="+mj-cs"/>
              </a:defRPr>
            </a:lvl1pPr>
          </a:lstStyle>
          <a:p>
            <a:r>
              <a:rPr lang="en-US" sz="2400" i="1">
                <a:latin typeface="Georgia" panose="02040502050405020303" pitchFamily="18" charset="0"/>
                <a:cs typeface="Arabic Typesetting" panose="03020402040406030203" pitchFamily="66" charset="-78"/>
              </a:rPr>
              <a:t>Ch</a:t>
            </a:r>
            <a:r>
              <a:rPr lang="vi-VN" sz="2400" i="1">
                <a:cs typeface="Arabic Typesetting" panose="03020402040406030203" pitchFamily="66" charset="-78"/>
              </a:rPr>
              <a:t>ư</a:t>
            </a:r>
            <a:r>
              <a:rPr lang="en-US" sz="2400" i="1" err="1">
                <a:latin typeface="Georgia" panose="02040502050405020303" pitchFamily="18" charset="0"/>
                <a:cs typeface="Arabic Typesetting" panose="03020402040406030203" pitchFamily="66" charset="-78"/>
              </a:rPr>
              <a:t>ơng</a:t>
            </a:r>
            <a:endParaRPr lang="en-US" sz="2400" i="1">
              <a:latin typeface="Georgia" panose="02040502050405020303" pitchFamily="18" charset="0"/>
              <a:cs typeface="Arabic Typesetting" panose="03020402040406030203" pitchFamily="66" charset="-78"/>
            </a:endParaRPr>
          </a:p>
        </p:txBody>
      </p:sp>
    </p:spTree>
    <p:extLst>
      <p:ext uri="{BB962C8B-B14F-4D97-AF65-F5344CB8AC3E}">
        <p14:creationId xmlns:p14="http://schemas.microsoft.com/office/powerpoint/2010/main" val="1283090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43320"/>
            <a:ext cx="8274774" cy="933080"/>
          </a:xfrm>
        </p:spPr>
        <p:txBody>
          <a:bodyPr>
            <a:normAutofit/>
          </a:bodyPr>
          <a:lstStyle>
            <a:lvl1pPr algn="ctr">
              <a:defRPr sz="3200"/>
            </a:lvl1pPr>
          </a:lstStyle>
          <a:p>
            <a:r>
              <a:rPr lang="en-US" dirty="0"/>
              <a:t>Click to edit Master title style</a:t>
            </a:r>
            <a:endParaRPr dirty="0"/>
          </a:p>
        </p:txBody>
      </p:sp>
      <p:sp>
        <p:nvSpPr>
          <p:cNvPr id="3" name="Content Placeholder 2"/>
          <p:cNvSpPr>
            <a:spLocks noGrp="1"/>
          </p:cNvSpPr>
          <p:nvPr>
            <p:ph idx="1"/>
          </p:nvPr>
        </p:nvSpPr>
        <p:spPr>
          <a:xfrm>
            <a:off x="457200" y="1682498"/>
            <a:ext cx="8274774" cy="465881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Slide Number Placeholder 5"/>
          <p:cNvSpPr>
            <a:spLocks noGrp="1"/>
          </p:cNvSpPr>
          <p:nvPr>
            <p:ph type="sldNum" sz="quarter" idx="12"/>
          </p:nvPr>
        </p:nvSpPr>
        <p:spPr/>
        <p:txBody>
          <a:bodyPr/>
          <a:lstStyle>
            <a:lvl1pPr>
              <a:defRPr/>
            </a:lvl1pPr>
          </a:lstStyle>
          <a:p>
            <a:fld id="{5D28FFE6-A2F1-4243-9DB1-DFB06715F2C6}" type="slidenum">
              <a:rPr lang="en-US" smtClean="0"/>
              <a:pPr/>
              <a:t>‹#›</a:t>
            </a:fld>
            <a:endParaRPr lang="en-US"/>
          </a:p>
        </p:txBody>
      </p:sp>
      <p:sp>
        <p:nvSpPr>
          <p:cNvPr id="7" name="Footer Placeholder 5">
            <a:extLst>
              <a:ext uri="{FF2B5EF4-FFF2-40B4-BE49-F238E27FC236}">
                <a16:creationId xmlns:a16="http://schemas.microsoft.com/office/drawing/2014/main" id="{850FA44F-F595-4732-8079-733B4BD46621}"/>
              </a:ext>
            </a:extLst>
          </p:cNvPr>
          <p:cNvSpPr>
            <a:spLocks noGrp="1"/>
          </p:cNvSpPr>
          <p:nvPr>
            <p:ph type="ftr" sz="quarter" idx="11"/>
          </p:nvPr>
        </p:nvSpPr>
        <p:spPr>
          <a:xfrm>
            <a:off x="2430781" y="6508569"/>
            <a:ext cx="4191000" cy="228600"/>
          </a:xfrm>
          <a:prstGeom prst="rect">
            <a:avLst/>
          </a:prstGeom>
        </p:spPr>
        <p:txBody>
          <a:bodyPr/>
          <a:lstStyle>
            <a:lvl1pPr>
              <a:defRPr sz="1200">
                <a:solidFill>
                  <a:schemeClr val="bg1"/>
                </a:solidFill>
              </a:defRPr>
            </a:lvl1pPr>
          </a:lstStyle>
          <a:p>
            <a:r>
              <a:rPr lang="en-US"/>
              <a:t>Tổng hợp &amp; Trực quan hóa dữ liệu</a:t>
            </a:r>
          </a:p>
        </p:txBody>
      </p:sp>
    </p:spTree>
    <p:extLst>
      <p:ext uri="{BB962C8B-B14F-4D97-AF65-F5344CB8AC3E}">
        <p14:creationId xmlns:p14="http://schemas.microsoft.com/office/powerpoint/2010/main" val="1692763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Content Placeholder 2"/>
          <p:cNvSpPr>
            <a:spLocks noGrp="1"/>
          </p:cNvSpPr>
          <p:nvPr>
            <p:ph sz="half" idx="1"/>
          </p:nvPr>
        </p:nvSpPr>
        <p:spPr>
          <a:xfrm>
            <a:off x="1142107" y="1904999"/>
            <a:ext cx="3327540" cy="4088921"/>
          </a:xfrm>
        </p:spPr>
        <p:txBody>
          <a:bodyPr>
            <a:normAutofit/>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674354" y="1904999"/>
            <a:ext cx="3327540" cy="4088921"/>
          </a:xfrm>
        </p:spPr>
        <p:txBody>
          <a:bodyPr>
            <a:normAutofit/>
          </a:bodyPr>
          <a:lstStyle>
            <a:lvl1pPr>
              <a:defRPr sz="1800"/>
            </a:lvl1pPr>
            <a:lvl2pPr>
              <a:defRPr sz="1500"/>
            </a:lvl2pPr>
            <a:lvl3pPr>
              <a:defRPr sz="1350"/>
            </a:lvl3pPr>
            <a:lvl4pPr>
              <a:defRPr sz="1200"/>
            </a:lvl4pPr>
            <a:lvl5pPr>
              <a:defRPr sz="1200"/>
            </a:lvl5pPr>
            <a:lvl6pPr>
              <a:defRPr sz="1200"/>
            </a:lvl6pPr>
            <a:lvl7pPr>
              <a:defRPr sz="1200"/>
            </a:lvl7pPr>
            <a:lvl8pPr>
              <a:defRPr sz="1200" baseline="0"/>
            </a:lvl8pPr>
            <a:lvl9pPr>
              <a:defRPr sz="12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a:p>
        </p:txBody>
      </p:sp>
      <p:sp>
        <p:nvSpPr>
          <p:cNvPr id="8" name="Footer Placeholder 5">
            <a:extLst>
              <a:ext uri="{FF2B5EF4-FFF2-40B4-BE49-F238E27FC236}">
                <a16:creationId xmlns:a16="http://schemas.microsoft.com/office/drawing/2014/main" id="{CE9CE070-CE8F-434E-9998-3B620C053B44}"/>
              </a:ext>
            </a:extLst>
          </p:cNvPr>
          <p:cNvSpPr>
            <a:spLocks noGrp="1"/>
          </p:cNvSpPr>
          <p:nvPr>
            <p:ph type="ftr" sz="quarter" idx="11"/>
          </p:nvPr>
        </p:nvSpPr>
        <p:spPr>
          <a:xfrm>
            <a:off x="2430781" y="6508569"/>
            <a:ext cx="4191000" cy="228600"/>
          </a:xfrm>
          <a:prstGeom prst="rect">
            <a:avLst/>
          </a:prstGeom>
        </p:spPr>
        <p:txBody>
          <a:bodyPr/>
          <a:lstStyle>
            <a:lvl1pPr>
              <a:defRPr sz="1200">
                <a:solidFill>
                  <a:schemeClr val="bg1"/>
                </a:solidFill>
              </a:defRPr>
            </a:lvl1pPr>
          </a:lstStyle>
          <a:p>
            <a:r>
              <a:rPr lang="en-US"/>
              <a:t>Tổng hợp &amp; Trực quan hóa dữ liệu</a:t>
            </a:r>
          </a:p>
        </p:txBody>
      </p:sp>
    </p:spTree>
    <p:extLst>
      <p:ext uri="{BB962C8B-B14F-4D97-AF65-F5344CB8AC3E}">
        <p14:creationId xmlns:p14="http://schemas.microsoft.com/office/powerpoint/2010/main" val="141982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dirty="0"/>
          </a:p>
        </p:txBody>
      </p:sp>
      <p:sp>
        <p:nvSpPr>
          <p:cNvPr id="3" name="Text Placeholder 2"/>
          <p:cNvSpPr>
            <a:spLocks noGrp="1"/>
          </p:cNvSpPr>
          <p:nvPr>
            <p:ph type="body" idx="1"/>
          </p:nvPr>
        </p:nvSpPr>
        <p:spPr>
          <a:xfrm>
            <a:off x="1142107" y="1828801"/>
            <a:ext cx="3315563" cy="685801"/>
          </a:xfrm>
        </p:spPr>
        <p:txBody>
          <a:bodyPr anchor="ctr">
            <a:normAutofit/>
          </a:bodyPr>
          <a:lstStyle>
            <a:lvl1pPr marL="0" indent="0">
              <a:spcBef>
                <a:spcPts val="0"/>
              </a:spcBef>
              <a:buNone/>
              <a:defRPr sz="1500" b="1"/>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dirty="0"/>
              <a:t>Edit Master text styles</a:t>
            </a:r>
          </a:p>
        </p:txBody>
      </p:sp>
      <p:sp>
        <p:nvSpPr>
          <p:cNvPr id="4" name="Content Placeholder 3"/>
          <p:cNvSpPr>
            <a:spLocks noGrp="1"/>
          </p:cNvSpPr>
          <p:nvPr>
            <p:ph sz="half" idx="2"/>
          </p:nvPr>
        </p:nvSpPr>
        <p:spPr>
          <a:xfrm>
            <a:off x="1142107" y="2590801"/>
            <a:ext cx="3315563" cy="3429000"/>
          </a:xfrm>
        </p:spPr>
        <p:txBody>
          <a:bodyP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4686331" y="1828801"/>
            <a:ext cx="3315563" cy="685801"/>
          </a:xfrm>
        </p:spPr>
        <p:txBody>
          <a:bodyPr anchor="ctr">
            <a:normAutofit/>
          </a:bodyPr>
          <a:lstStyle>
            <a:lvl1pPr marL="0" indent="0">
              <a:spcBef>
                <a:spcPts val="0"/>
              </a:spcBef>
              <a:buNone/>
              <a:defRPr sz="1500" b="1"/>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a:t>Edit Master text styles</a:t>
            </a:r>
          </a:p>
        </p:txBody>
      </p:sp>
      <p:sp>
        <p:nvSpPr>
          <p:cNvPr id="6" name="Content Placeholder 5"/>
          <p:cNvSpPr>
            <a:spLocks noGrp="1"/>
          </p:cNvSpPr>
          <p:nvPr>
            <p:ph sz="quarter" idx="4"/>
          </p:nvPr>
        </p:nvSpPr>
        <p:spPr>
          <a:xfrm>
            <a:off x="4686331" y="2590801"/>
            <a:ext cx="3315563" cy="3429000"/>
          </a:xfrm>
        </p:spPr>
        <p:txBody>
          <a:bodyP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Slide Number Placeholder 8"/>
          <p:cNvSpPr>
            <a:spLocks noGrp="1"/>
          </p:cNvSpPr>
          <p:nvPr>
            <p:ph type="sldNum" sz="quarter" idx="12"/>
          </p:nvPr>
        </p:nvSpPr>
        <p:spPr/>
        <p:txBody>
          <a:bodyPr/>
          <a:lstStyle/>
          <a:p>
            <a:fld id="{DF28FB93-0A08-4E7D-8E63-9EFA29F1E093}" type="slidenum">
              <a:rPr lang="en-US" smtClean="0"/>
              <a:pPr/>
              <a:t>‹#›</a:t>
            </a:fld>
            <a:endParaRPr lang="en-US"/>
          </a:p>
        </p:txBody>
      </p:sp>
      <p:sp>
        <p:nvSpPr>
          <p:cNvPr id="11" name="Footer Placeholder 5">
            <a:extLst>
              <a:ext uri="{FF2B5EF4-FFF2-40B4-BE49-F238E27FC236}">
                <a16:creationId xmlns:a16="http://schemas.microsoft.com/office/drawing/2014/main" id="{D389AAF3-73EF-4589-924D-56ADC8CF70E5}"/>
              </a:ext>
            </a:extLst>
          </p:cNvPr>
          <p:cNvSpPr>
            <a:spLocks noGrp="1"/>
          </p:cNvSpPr>
          <p:nvPr>
            <p:ph type="ftr" sz="quarter" idx="11"/>
          </p:nvPr>
        </p:nvSpPr>
        <p:spPr>
          <a:xfrm>
            <a:off x="2430781" y="6508569"/>
            <a:ext cx="4191000" cy="228600"/>
          </a:xfrm>
          <a:prstGeom prst="rect">
            <a:avLst/>
          </a:prstGeom>
        </p:spPr>
        <p:txBody>
          <a:bodyPr/>
          <a:lstStyle>
            <a:lvl1pPr>
              <a:defRPr sz="1200">
                <a:solidFill>
                  <a:schemeClr val="bg1"/>
                </a:solidFill>
              </a:defRPr>
            </a:lvl1pPr>
          </a:lstStyle>
          <a:p>
            <a:r>
              <a:rPr lang="en-US"/>
              <a:t>Tổng hợp &amp; Trực quan hóa dữ liệu</a:t>
            </a:r>
          </a:p>
        </p:txBody>
      </p:sp>
    </p:spTree>
    <p:extLst>
      <p:ext uri="{BB962C8B-B14F-4D97-AF65-F5344CB8AC3E}">
        <p14:creationId xmlns:p14="http://schemas.microsoft.com/office/powerpoint/2010/main" val="275814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5" name="Slide Number Placeholder 4"/>
          <p:cNvSpPr>
            <a:spLocks noGrp="1"/>
          </p:cNvSpPr>
          <p:nvPr>
            <p:ph type="sldNum" sz="quarter" idx="12"/>
          </p:nvPr>
        </p:nvSpPr>
        <p:spPr/>
        <p:txBody>
          <a:bodyPr/>
          <a:lstStyle/>
          <a:p>
            <a:fld id="{DF28FB93-0A08-4E7D-8E63-9EFA29F1E093}" type="slidenum">
              <a:rPr lang="en-US" smtClean="0"/>
              <a:pPr/>
              <a:t>‹#›</a:t>
            </a:fld>
            <a:endParaRPr lang="en-US"/>
          </a:p>
        </p:txBody>
      </p:sp>
      <p:sp>
        <p:nvSpPr>
          <p:cNvPr id="7" name="Footer Placeholder 5">
            <a:extLst>
              <a:ext uri="{FF2B5EF4-FFF2-40B4-BE49-F238E27FC236}">
                <a16:creationId xmlns:a16="http://schemas.microsoft.com/office/drawing/2014/main" id="{1390A3F0-6539-4EB2-84D7-6539A5F87CAA}"/>
              </a:ext>
            </a:extLst>
          </p:cNvPr>
          <p:cNvSpPr>
            <a:spLocks noGrp="1"/>
          </p:cNvSpPr>
          <p:nvPr>
            <p:ph type="ftr" sz="quarter" idx="11"/>
          </p:nvPr>
        </p:nvSpPr>
        <p:spPr>
          <a:xfrm>
            <a:off x="2430781" y="6508569"/>
            <a:ext cx="4191000" cy="228600"/>
          </a:xfrm>
          <a:prstGeom prst="rect">
            <a:avLst/>
          </a:prstGeom>
        </p:spPr>
        <p:txBody>
          <a:bodyPr/>
          <a:lstStyle>
            <a:lvl1pPr>
              <a:defRPr sz="1200">
                <a:solidFill>
                  <a:schemeClr val="bg1"/>
                </a:solidFill>
              </a:defRPr>
            </a:lvl1pPr>
          </a:lstStyle>
          <a:p>
            <a:r>
              <a:rPr lang="en-US"/>
              <a:t>Tổng hợp &amp; Trực quan hóa dữ liệu</a:t>
            </a:r>
          </a:p>
        </p:txBody>
      </p:sp>
    </p:spTree>
    <p:extLst>
      <p:ext uri="{BB962C8B-B14F-4D97-AF65-F5344CB8AC3E}">
        <p14:creationId xmlns:p14="http://schemas.microsoft.com/office/powerpoint/2010/main" val="3718256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ame"/>
          <p:cNvSpPr/>
          <p:nvPr/>
        </p:nvSpPr>
        <p:spPr>
          <a:xfrm>
            <a:off x="913445" y="1019175"/>
            <a:ext cx="4596057" cy="4572000"/>
          </a:xfrm>
          <a:prstGeom prst="rect">
            <a:avLst/>
          </a:prstGeom>
          <a:noFill/>
          <a:ln w="101600">
            <a:solidFill>
              <a:schemeClr val="accent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2" name="Title 1"/>
          <p:cNvSpPr>
            <a:spLocks noGrp="1"/>
          </p:cNvSpPr>
          <p:nvPr>
            <p:ph type="title"/>
          </p:nvPr>
        </p:nvSpPr>
        <p:spPr>
          <a:xfrm>
            <a:off x="5943959" y="1371600"/>
            <a:ext cx="2343760" cy="2057400"/>
          </a:xfrm>
        </p:spPr>
        <p:txBody>
          <a:bodyPr anchor="b">
            <a:normAutofit/>
          </a:bodyPr>
          <a:lstStyle>
            <a:lvl1pPr algn="l">
              <a:defRPr sz="2401" b="1"/>
            </a:lvl1pPr>
          </a:lstStyle>
          <a:p>
            <a:r>
              <a:rPr lang="en-US"/>
              <a:t>Click to edit Master title style</a:t>
            </a:r>
            <a:endParaRPr/>
          </a:p>
        </p:txBody>
      </p:sp>
      <p:sp>
        <p:nvSpPr>
          <p:cNvPr id="3" name="Content Placeholder 2"/>
          <p:cNvSpPr>
            <a:spLocks noGrp="1"/>
          </p:cNvSpPr>
          <p:nvPr>
            <p:ph idx="1"/>
          </p:nvPr>
        </p:nvSpPr>
        <p:spPr>
          <a:xfrm>
            <a:off x="1119239" y="1293495"/>
            <a:ext cx="4184470" cy="4023360"/>
          </a:xfrm>
        </p:spPr>
        <p:txBody>
          <a:bodyP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5943959" y="3536830"/>
            <a:ext cx="2343760" cy="1797169"/>
          </a:xfrm>
        </p:spPr>
        <p:txBody>
          <a:bodyPr>
            <a:normAutofit/>
          </a:bodyPr>
          <a:lstStyle>
            <a:lvl1pPr marL="0" indent="0">
              <a:spcBef>
                <a:spcPts val="600"/>
              </a:spcBef>
              <a:buNone/>
              <a:defRPr sz="1200"/>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Edit Master text styles</a:t>
            </a:r>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a:p>
        </p:txBody>
      </p:sp>
      <p:sp>
        <p:nvSpPr>
          <p:cNvPr id="10" name="Footer Placeholder 5">
            <a:extLst>
              <a:ext uri="{FF2B5EF4-FFF2-40B4-BE49-F238E27FC236}">
                <a16:creationId xmlns:a16="http://schemas.microsoft.com/office/drawing/2014/main" id="{CC4C5DB9-35BB-474C-B048-3EF469856B90}"/>
              </a:ext>
            </a:extLst>
          </p:cNvPr>
          <p:cNvSpPr>
            <a:spLocks noGrp="1"/>
          </p:cNvSpPr>
          <p:nvPr>
            <p:ph type="ftr" sz="quarter" idx="11"/>
          </p:nvPr>
        </p:nvSpPr>
        <p:spPr>
          <a:xfrm>
            <a:off x="2430781" y="6508569"/>
            <a:ext cx="4191000" cy="228600"/>
          </a:xfrm>
          <a:prstGeom prst="rect">
            <a:avLst/>
          </a:prstGeom>
        </p:spPr>
        <p:txBody>
          <a:bodyPr/>
          <a:lstStyle>
            <a:lvl1pPr>
              <a:defRPr sz="1200">
                <a:solidFill>
                  <a:schemeClr val="bg1"/>
                </a:solidFill>
              </a:defRPr>
            </a:lvl1pPr>
          </a:lstStyle>
          <a:p>
            <a:r>
              <a:rPr lang="en-US"/>
              <a:t>Tổng hợp &amp; Trực quan hóa dữ liệu</a:t>
            </a:r>
          </a:p>
        </p:txBody>
      </p:sp>
    </p:spTree>
    <p:extLst>
      <p:ext uri="{BB962C8B-B14F-4D97-AF65-F5344CB8AC3E}">
        <p14:creationId xmlns:p14="http://schemas.microsoft.com/office/powerpoint/2010/main" val="576717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frame"/>
          <p:cNvSpPr/>
          <p:nvPr/>
        </p:nvSpPr>
        <p:spPr>
          <a:xfrm>
            <a:off x="913445" y="1019175"/>
            <a:ext cx="4596057" cy="4572000"/>
          </a:xfrm>
          <a:prstGeom prst="rect">
            <a:avLst/>
          </a:prstGeom>
          <a:noFill/>
          <a:ln w="101600">
            <a:solidFill>
              <a:schemeClr val="accent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2" name="Title 1"/>
          <p:cNvSpPr>
            <a:spLocks noGrp="1"/>
          </p:cNvSpPr>
          <p:nvPr>
            <p:ph type="title"/>
          </p:nvPr>
        </p:nvSpPr>
        <p:spPr>
          <a:xfrm>
            <a:off x="5943959" y="1371600"/>
            <a:ext cx="2343760" cy="2057400"/>
          </a:xfrm>
        </p:spPr>
        <p:txBody>
          <a:bodyPr anchor="b">
            <a:normAutofit/>
          </a:bodyPr>
          <a:lstStyle>
            <a:lvl1pPr algn="l">
              <a:defRPr sz="2401"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050641" y="1202055"/>
            <a:ext cx="4321665" cy="4206240"/>
          </a:xfrm>
          <a:solidFill>
            <a:schemeClr val="bg1">
              <a:lumMod val="95000"/>
            </a:schemeClr>
          </a:solidFill>
        </p:spPr>
        <p:txBody>
          <a:bodyPr tIns="914400">
            <a:normAutofit/>
          </a:bodyPr>
          <a:lstStyle>
            <a:lvl1pPr marL="0" indent="0" algn="ctr">
              <a:spcBef>
                <a:spcPts val="0"/>
              </a:spcBef>
              <a:buNone/>
              <a:defRPr sz="1800"/>
            </a:lvl1pPr>
            <a:lvl2pPr marL="342991" indent="0">
              <a:buNone/>
              <a:defRPr sz="2101"/>
            </a:lvl2pPr>
            <a:lvl3pPr marL="685983" indent="0">
              <a:buNone/>
              <a:defRPr sz="1800"/>
            </a:lvl3pPr>
            <a:lvl4pPr marL="1028974" indent="0">
              <a:buNone/>
              <a:defRPr sz="1500"/>
            </a:lvl4pPr>
            <a:lvl5pPr marL="1371966" indent="0">
              <a:buNone/>
              <a:defRPr sz="1500"/>
            </a:lvl5pPr>
            <a:lvl6pPr marL="1714957" indent="0">
              <a:buNone/>
              <a:defRPr sz="1500"/>
            </a:lvl6pPr>
            <a:lvl7pPr marL="2057949" indent="0">
              <a:buNone/>
              <a:defRPr sz="1500"/>
            </a:lvl7pPr>
            <a:lvl8pPr marL="2400940" indent="0">
              <a:buNone/>
              <a:defRPr sz="1500"/>
            </a:lvl8pPr>
            <a:lvl9pPr marL="2743932" indent="0">
              <a:buNone/>
              <a:defRPr sz="1500"/>
            </a:lvl9pPr>
          </a:lstStyle>
          <a:p>
            <a:r>
              <a:rPr lang="en-US"/>
              <a:t>Click icon to add picture</a:t>
            </a:r>
            <a:endParaRPr/>
          </a:p>
        </p:txBody>
      </p:sp>
      <p:sp>
        <p:nvSpPr>
          <p:cNvPr id="4" name="Text Placeholder 3"/>
          <p:cNvSpPr>
            <a:spLocks noGrp="1"/>
          </p:cNvSpPr>
          <p:nvPr>
            <p:ph type="body" sz="half" idx="2"/>
          </p:nvPr>
        </p:nvSpPr>
        <p:spPr>
          <a:xfrm>
            <a:off x="5943959" y="3536830"/>
            <a:ext cx="2343760" cy="1797171"/>
          </a:xfrm>
        </p:spPr>
        <p:txBody>
          <a:bodyPr>
            <a:normAutofit/>
          </a:bodyPr>
          <a:lstStyle>
            <a:lvl1pPr marL="0" indent="0">
              <a:spcBef>
                <a:spcPts val="600"/>
              </a:spcBef>
              <a:buNone/>
              <a:defRPr sz="1200"/>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Edit Master text styles</a:t>
            </a:r>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a:p>
        </p:txBody>
      </p:sp>
      <p:sp>
        <p:nvSpPr>
          <p:cNvPr id="10" name="Footer Placeholder 5">
            <a:extLst>
              <a:ext uri="{FF2B5EF4-FFF2-40B4-BE49-F238E27FC236}">
                <a16:creationId xmlns:a16="http://schemas.microsoft.com/office/drawing/2014/main" id="{56899097-932D-4BC4-B576-0B6598C0CCF3}"/>
              </a:ext>
            </a:extLst>
          </p:cNvPr>
          <p:cNvSpPr>
            <a:spLocks noGrp="1"/>
          </p:cNvSpPr>
          <p:nvPr>
            <p:ph type="ftr" sz="quarter" idx="11"/>
          </p:nvPr>
        </p:nvSpPr>
        <p:spPr>
          <a:xfrm>
            <a:off x="2430781" y="6508569"/>
            <a:ext cx="4191000" cy="228600"/>
          </a:xfrm>
          <a:prstGeom prst="rect">
            <a:avLst/>
          </a:prstGeom>
        </p:spPr>
        <p:txBody>
          <a:bodyPr/>
          <a:lstStyle>
            <a:lvl1pPr>
              <a:defRPr sz="1200">
                <a:solidFill>
                  <a:schemeClr val="bg1"/>
                </a:solidFill>
              </a:defRPr>
            </a:lvl1pPr>
          </a:lstStyle>
          <a:p>
            <a:r>
              <a:rPr lang="en-US"/>
              <a:t>Tổng hợp &amp; Trực quan hóa dữ liệu</a:t>
            </a:r>
          </a:p>
        </p:txBody>
      </p:sp>
    </p:spTree>
    <p:extLst>
      <p:ext uri="{BB962C8B-B14F-4D97-AF65-F5344CB8AC3E}">
        <p14:creationId xmlns:p14="http://schemas.microsoft.com/office/powerpoint/2010/main" val="231564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a:p>
        </p:txBody>
      </p:sp>
      <p:sp>
        <p:nvSpPr>
          <p:cNvPr id="8" name="Footer Placeholder 5">
            <a:extLst>
              <a:ext uri="{FF2B5EF4-FFF2-40B4-BE49-F238E27FC236}">
                <a16:creationId xmlns:a16="http://schemas.microsoft.com/office/drawing/2014/main" id="{4EBA5797-CE60-4B19-B7A3-F6DEC8F03360}"/>
              </a:ext>
            </a:extLst>
          </p:cNvPr>
          <p:cNvSpPr>
            <a:spLocks noGrp="1"/>
          </p:cNvSpPr>
          <p:nvPr>
            <p:ph type="ftr" sz="quarter" idx="11"/>
          </p:nvPr>
        </p:nvSpPr>
        <p:spPr>
          <a:xfrm>
            <a:off x="2430781" y="6508569"/>
            <a:ext cx="4191000" cy="228600"/>
          </a:xfrm>
          <a:prstGeom prst="rect">
            <a:avLst/>
          </a:prstGeom>
        </p:spPr>
        <p:txBody>
          <a:bodyPr/>
          <a:lstStyle>
            <a:lvl1pPr>
              <a:defRPr sz="1200">
                <a:solidFill>
                  <a:schemeClr val="bg1"/>
                </a:solidFill>
              </a:defRPr>
            </a:lvl1pPr>
          </a:lstStyle>
          <a:p>
            <a:r>
              <a:rPr lang="en-US"/>
              <a:t>Tổng hợp &amp; Trực quan hóa dữ liệu</a:t>
            </a:r>
          </a:p>
        </p:txBody>
      </p:sp>
    </p:spTree>
    <p:extLst>
      <p:ext uri="{BB962C8B-B14F-4D97-AF65-F5344CB8AC3E}">
        <p14:creationId xmlns:p14="http://schemas.microsoft.com/office/powerpoint/2010/main" val="701367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22736" y="609600"/>
            <a:ext cx="857474" cy="5410200"/>
          </a:xfrm>
        </p:spPr>
        <p:txBody>
          <a:bodyPr vert="eaVert"/>
          <a:lstStyle/>
          <a:p>
            <a:r>
              <a:rPr lang="en-US" dirty="0"/>
              <a:t>Click to edit Master title style</a:t>
            </a:r>
            <a:endParaRPr dirty="0"/>
          </a:p>
        </p:txBody>
      </p:sp>
      <p:sp>
        <p:nvSpPr>
          <p:cNvPr id="3" name="Vertical Text Placeholder 2"/>
          <p:cNvSpPr>
            <a:spLocks noGrp="1"/>
          </p:cNvSpPr>
          <p:nvPr>
            <p:ph type="body" orient="vert" idx="1"/>
          </p:nvPr>
        </p:nvSpPr>
        <p:spPr>
          <a:xfrm>
            <a:off x="1142107" y="609600"/>
            <a:ext cx="5773652" cy="5410200"/>
          </a:xfrm>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a:p>
        </p:txBody>
      </p:sp>
      <p:sp>
        <p:nvSpPr>
          <p:cNvPr id="8" name="Footer Placeholder 5">
            <a:extLst>
              <a:ext uri="{FF2B5EF4-FFF2-40B4-BE49-F238E27FC236}">
                <a16:creationId xmlns:a16="http://schemas.microsoft.com/office/drawing/2014/main" id="{D523DA7C-8A5D-4F5F-9D8A-55530C0383FC}"/>
              </a:ext>
            </a:extLst>
          </p:cNvPr>
          <p:cNvSpPr>
            <a:spLocks noGrp="1"/>
          </p:cNvSpPr>
          <p:nvPr>
            <p:ph type="ftr" sz="quarter" idx="11"/>
          </p:nvPr>
        </p:nvSpPr>
        <p:spPr>
          <a:xfrm>
            <a:off x="2430781" y="6508569"/>
            <a:ext cx="4191000" cy="228600"/>
          </a:xfrm>
          <a:prstGeom prst="rect">
            <a:avLst/>
          </a:prstGeom>
        </p:spPr>
        <p:txBody>
          <a:bodyPr/>
          <a:lstStyle>
            <a:lvl1pPr>
              <a:defRPr sz="1200">
                <a:solidFill>
                  <a:schemeClr val="bg1"/>
                </a:solidFill>
              </a:defRPr>
            </a:lvl1pPr>
          </a:lstStyle>
          <a:p>
            <a:r>
              <a:rPr lang="en-US"/>
              <a:t>Tổng hợp &amp; Trực quan hóa dữ liệu</a:t>
            </a:r>
          </a:p>
        </p:txBody>
      </p:sp>
    </p:spTree>
    <p:extLst>
      <p:ext uri="{BB962C8B-B14F-4D97-AF65-F5344CB8AC3E}">
        <p14:creationId xmlns:p14="http://schemas.microsoft.com/office/powerpoint/2010/main" val="916319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8452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9ACFE58-2BD9-4796-8438-416CE7B7D7F8}"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10665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9ACFE58-2BD9-4796-8438-416CE7B7D7F8}"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662276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9ACFE58-2BD9-4796-8438-416CE7B7D7F8}"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23188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9ACFE58-2BD9-4796-8438-416CE7B7D7F8}"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56741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9ACFE58-2BD9-4796-8438-416CE7B7D7F8}"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80279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9ACFE58-2BD9-4796-8438-416CE7B7D7F8}"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1530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9ACFE58-2BD9-4796-8438-416CE7B7D7F8}"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40229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9ACFE58-2BD9-4796-8438-416CE7B7D7F8}"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38375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9ACFE58-2BD9-4796-8438-416CE7B7D7F8}"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913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8165221-77F9-44FF-A123-215A65749E49}"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801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8165221-77F9-44FF-A123-215A65749E49}"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93453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8165221-77F9-44FF-A123-215A65749E49}"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20903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8165221-77F9-44FF-A123-215A65749E49}"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53513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8165221-77F9-44FF-A123-215A65749E49}"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5976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8165221-77F9-44FF-A123-215A65749E49}"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3384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8165221-77F9-44FF-A123-215A65749E49}" type="slidenum">
              <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alt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68400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47713" y="66675"/>
            <a:ext cx="78486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805207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59ACFE58-2BD9-4796-8438-416CE7B7D7F8}" type="slidenum">
              <a:rPr lang="en-GB" altLang="en-US"/>
              <a:pPr/>
              <a:t>‹#›</a:t>
            </a:fld>
            <a:endParaRPr lang="en-GB" altLang="en-US"/>
          </a:p>
        </p:txBody>
      </p:sp>
    </p:spTree>
    <p:extLst>
      <p:ext uri="{BB962C8B-B14F-4D97-AF65-F5344CB8AC3E}">
        <p14:creationId xmlns:p14="http://schemas.microsoft.com/office/powerpoint/2010/main" val="4244711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59ACFE58-2BD9-4796-8438-416CE7B7D7F8}" type="slidenum">
              <a:rPr lang="en-GB" altLang="en-US"/>
              <a:pPr/>
              <a:t>‹#›</a:t>
            </a:fld>
            <a:endParaRPr lang="en-GB" altLang="en-US"/>
          </a:p>
        </p:txBody>
      </p:sp>
    </p:spTree>
    <p:extLst>
      <p:ext uri="{BB962C8B-B14F-4D97-AF65-F5344CB8AC3E}">
        <p14:creationId xmlns:p14="http://schemas.microsoft.com/office/powerpoint/2010/main" val="216978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59ACFE58-2BD9-4796-8438-416CE7B7D7F8}" type="slidenum">
              <a:rPr lang="en-GB" altLang="en-US"/>
              <a:pPr/>
              <a:t>‹#›</a:t>
            </a:fld>
            <a:endParaRPr lang="en-GB" altLang="en-US"/>
          </a:p>
        </p:txBody>
      </p:sp>
    </p:spTree>
    <p:extLst>
      <p:ext uri="{BB962C8B-B14F-4D97-AF65-F5344CB8AC3E}">
        <p14:creationId xmlns:p14="http://schemas.microsoft.com/office/powerpoint/2010/main" val="40464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59ACFE58-2BD9-4796-8438-416CE7B7D7F8}" type="slidenum">
              <a:rPr lang="en-GB" altLang="en-US"/>
              <a:pPr/>
              <a:t>‹#›</a:t>
            </a:fld>
            <a:endParaRPr lang="en-GB" altLang="en-US"/>
          </a:p>
        </p:txBody>
      </p:sp>
    </p:spTree>
    <p:extLst>
      <p:ext uri="{BB962C8B-B14F-4D97-AF65-F5344CB8AC3E}">
        <p14:creationId xmlns:p14="http://schemas.microsoft.com/office/powerpoint/2010/main" val="83513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59ACFE58-2BD9-4796-8438-416CE7B7D7F8}" type="slidenum">
              <a:rPr lang="en-GB" altLang="en-US"/>
              <a:pPr/>
              <a:t>‹#›</a:t>
            </a:fld>
            <a:endParaRPr lang="en-GB" altLang="en-US"/>
          </a:p>
        </p:txBody>
      </p:sp>
    </p:spTree>
    <p:extLst>
      <p:ext uri="{BB962C8B-B14F-4D97-AF65-F5344CB8AC3E}">
        <p14:creationId xmlns:p14="http://schemas.microsoft.com/office/powerpoint/2010/main" val="656074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48165221-77F9-44FF-A123-215A65749E49}" type="slidenum">
              <a:rPr lang="en-GB" altLang="en-US"/>
              <a:pPr/>
              <a:t>‹#›</a:t>
            </a:fld>
            <a:endParaRPr lang="en-GB" altLang="en-US"/>
          </a:p>
        </p:txBody>
      </p:sp>
    </p:spTree>
    <p:extLst>
      <p:ext uri="{BB962C8B-B14F-4D97-AF65-F5344CB8AC3E}">
        <p14:creationId xmlns:p14="http://schemas.microsoft.com/office/powerpoint/2010/main" val="723858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48165221-77F9-44FF-A123-215A65749E49}" type="slidenum">
              <a:rPr lang="en-GB" altLang="en-US"/>
              <a:pPr/>
              <a:t>‹#›</a:t>
            </a:fld>
            <a:endParaRPr lang="en-GB" altLang="en-US"/>
          </a:p>
        </p:txBody>
      </p:sp>
    </p:spTree>
    <p:extLst>
      <p:ext uri="{BB962C8B-B14F-4D97-AF65-F5344CB8AC3E}">
        <p14:creationId xmlns:p14="http://schemas.microsoft.com/office/powerpoint/2010/main" val="45180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48165221-77F9-44FF-A123-215A65749E49}" type="slidenum">
              <a:rPr lang="en-GB" altLang="en-US"/>
              <a:pPr/>
              <a:t>‹#›</a:t>
            </a:fld>
            <a:endParaRPr lang="en-GB" altLang="en-US"/>
          </a:p>
        </p:txBody>
      </p:sp>
    </p:spTree>
    <p:extLst>
      <p:ext uri="{BB962C8B-B14F-4D97-AF65-F5344CB8AC3E}">
        <p14:creationId xmlns:p14="http://schemas.microsoft.com/office/powerpoint/2010/main" val="28269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48165221-77F9-44FF-A123-215A65749E49}" type="slidenum">
              <a:rPr lang="en-GB" altLang="en-US"/>
              <a:pPr/>
              <a:t>‹#›</a:t>
            </a:fld>
            <a:endParaRPr lang="en-GB" altLang="en-US"/>
          </a:p>
        </p:txBody>
      </p:sp>
    </p:spTree>
    <p:extLst>
      <p:ext uri="{BB962C8B-B14F-4D97-AF65-F5344CB8AC3E}">
        <p14:creationId xmlns:p14="http://schemas.microsoft.com/office/powerpoint/2010/main" val="2325297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48165221-77F9-44FF-A123-215A65749E49}" type="slidenum">
              <a:rPr lang="en-GB" altLang="en-US"/>
              <a:pPr/>
              <a:t>‹#›</a:t>
            </a:fld>
            <a:endParaRPr lang="en-GB" altLang="en-US"/>
          </a:p>
        </p:txBody>
      </p:sp>
    </p:spTree>
    <p:extLst>
      <p:ext uri="{BB962C8B-B14F-4D97-AF65-F5344CB8AC3E}">
        <p14:creationId xmlns:p14="http://schemas.microsoft.com/office/powerpoint/2010/main" val="266181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48165221-77F9-44FF-A123-215A65749E49}" type="slidenum">
              <a:rPr lang="en-GB" altLang="en-US"/>
              <a:pPr/>
              <a:t>‹#›</a:t>
            </a:fld>
            <a:endParaRPr lang="en-GB" altLang="en-US"/>
          </a:p>
        </p:txBody>
      </p:sp>
    </p:spTree>
    <p:extLst>
      <p:ext uri="{BB962C8B-B14F-4D97-AF65-F5344CB8AC3E}">
        <p14:creationId xmlns:p14="http://schemas.microsoft.com/office/powerpoint/2010/main" val="788835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8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fld id="{48165221-77F9-44FF-A123-215A65749E49}" type="slidenum">
              <a:rPr lang="en-GB" altLang="en-US"/>
              <a:pPr/>
              <a:t>‹#›</a:t>
            </a:fld>
            <a:endParaRPr lang="en-GB" altLang="en-US"/>
          </a:p>
        </p:txBody>
      </p:sp>
    </p:spTree>
    <p:extLst>
      <p:ext uri="{BB962C8B-B14F-4D97-AF65-F5344CB8AC3E}">
        <p14:creationId xmlns:p14="http://schemas.microsoft.com/office/powerpoint/2010/main" val="2437052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52400" y="1371600"/>
            <a:ext cx="1676400" cy="5181600"/>
          </a:xfrm>
          <a:noFill/>
        </p:spPr>
        <p:txBody>
          <a:bodyPr>
            <a:normAutofit/>
          </a:bodyPr>
          <a:lstStyle>
            <a:lvl1pPr>
              <a:buFont typeface="Wingdings" pitchFamily="2" charset="2"/>
              <a:buChar char="ü"/>
              <a:defRPr sz="1300">
                <a:solidFill>
                  <a:schemeClr val="bg2"/>
                </a:solidFill>
              </a:defRPr>
            </a:lvl1pPr>
            <a:lvl2pPr>
              <a:buFont typeface="Wingdings" pitchFamily="2" charset="2"/>
              <a:buChar char="ü"/>
              <a:defRPr sz="1300">
                <a:solidFill>
                  <a:schemeClr val="bg2"/>
                </a:solidFill>
              </a:defRPr>
            </a:lvl2pPr>
            <a:lvl3pPr>
              <a:buFont typeface="Wingdings" pitchFamily="2" charset="2"/>
              <a:buChar char="ü"/>
              <a:defRPr sz="1300">
                <a:solidFill>
                  <a:schemeClr val="bg2"/>
                </a:solidFill>
              </a:defRPr>
            </a:lvl3pPr>
            <a:lvl4pPr>
              <a:buFont typeface="Wingdings" pitchFamily="2" charset="2"/>
              <a:buChar char="ü"/>
              <a:defRPr sz="1300">
                <a:solidFill>
                  <a:schemeClr val="bg2"/>
                </a:solidFill>
              </a:defRPr>
            </a:lvl4pPr>
            <a:lvl5pPr>
              <a:buFont typeface="Wingdings" pitchFamily="2" charset="2"/>
              <a:buChar char="ü"/>
              <a:defRPr sz="13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828800" y="304800"/>
            <a:ext cx="7315200" cy="1066800"/>
          </a:xfrm>
        </p:spPr>
        <p:txBody>
          <a:bodyPr/>
          <a:lstStyle/>
          <a:p>
            <a:r>
              <a:rPr lang="en-US"/>
              <a:t>Click to edit Master title style</a:t>
            </a:r>
          </a:p>
        </p:txBody>
      </p:sp>
      <p:sp>
        <p:nvSpPr>
          <p:cNvPr id="3" name="Content Placeholder 2"/>
          <p:cNvSpPr>
            <a:spLocks noGrp="1"/>
          </p:cNvSpPr>
          <p:nvPr>
            <p:ph idx="1"/>
          </p:nvPr>
        </p:nvSpPr>
        <p:spPr>
          <a:xfrm>
            <a:off x="1828800" y="1371600"/>
            <a:ext cx="7315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p:cNvSpPr>
            <a:spLocks noGrp="1"/>
          </p:cNvSpPr>
          <p:nvPr userDrawn="1">
            <p:ph type="ftr" sz="quarter" idx="14"/>
          </p:nvPr>
        </p:nvSpPr>
        <p:spPr/>
        <p:txBody>
          <a:bodyPr/>
          <a:lstStyle>
            <a:lvl1pPr>
              <a:defRPr/>
            </a:lvl1pPr>
          </a:lstStyle>
          <a:p>
            <a:pPr>
              <a:defRPr/>
            </a:pPr>
            <a:r>
              <a:rPr lang="en-GB"/>
              <a:t>HCMUS 2010 - Thống kê máy tính</a:t>
            </a:r>
          </a:p>
        </p:txBody>
      </p:sp>
      <p:sp>
        <p:nvSpPr>
          <p:cNvPr id="6" name="Slide Number Placeholder 22"/>
          <p:cNvSpPr>
            <a:spLocks noGrp="1"/>
          </p:cNvSpPr>
          <p:nvPr userDrawn="1">
            <p:ph type="sldNum" sz="quarter" idx="15"/>
          </p:nvPr>
        </p:nvSpPr>
        <p:spPr/>
        <p:txBody>
          <a:bodyPr/>
          <a:lstStyle>
            <a:lvl1pPr>
              <a:defRPr/>
            </a:lvl1pPr>
          </a:lstStyle>
          <a:p>
            <a:pPr>
              <a:defRPr/>
            </a:pPr>
            <a:fld id="{6A9F218A-9A86-42FF-B8B5-B8DDD61931D4}" type="slidenum">
              <a:rPr lang="en-GB"/>
              <a:pPr>
                <a:defRPr/>
              </a:pPr>
              <a:t>‹#›</a:t>
            </a:fld>
            <a:endParaRPr lang="en-GB"/>
          </a:p>
        </p:txBody>
      </p:sp>
    </p:spTree>
    <p:extLst>
      <p:ext uri="{BB962C8B-B14F-4D97-AF65-F5344CB8AC3E}">
        <p14:creationId xmlns:p14="http://schemas.microsoft.com/office/powerpoint/2010/main" val="1501160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27E689-3065-40EF-822D-B10E40B13E5D}"/>
              </a:ext>
            </a:extLst>
          </p:cNvPr>
          <p:cNvGrpSpPr/>
          <p:nvPr userDrawn="1"/>
        </p:nvGrpSpPr>
        <p:grpSpPr>
          <a:xfrm>
            <a:off x="0" y="6439716"/>
            <a:ext cx="9144095" cy="430984"/>
            <a:chOff x="-95" y="6427014"/>
            <a:chExt cx="9144095" cy="430984"/>
          </a:xfrm>
        </p:grpSpPr>
        <p:sp>
          <p:nvSpPr>
            <p:cNvPr id="8" name="Rectangle 7"/>
            <p:cNvSpPr/>
            <p:nvPr userDrawn="1"/>
          </p:nvSpPr>
          <p:spPr>
            <a:xfrm>
              <a:off x="-95" y="6427014"/>
              <a:ext cx="9144095" cy="430984"/>
            </a:xfrm>
            <a:prstGeom prst="rect">
              <a:avLst/>
            </a:prstGeom>
            <a:solidFill>
              <a:srgbClr val="052A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9" name="Rectangle 8"/>
            <p:cNvSpPr/>
            <p:nvPr/>
          </p:nvSpPr>
          <p:spPr>
            <a:xfrm rot="2175211">
              <a:off x="6873094" y="6606959"/>
              <a:ext cx="761955" cy="430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sp>
        <p:nvSpPr>
          <p:cNvPr id="2" name="Title Placeholder 1"/>
          <p:cNvSpPr>
            <a:spLocks noGrp="1"/>
          </p:cNvSpPr>
          <p:nvPr>
            <p:ph type="title"/>
          </p:nvPr>
        </p:nvSpPr>
        <p:spPr>
          <a:xfrm>
            <a:off x="381000" y="725511"/>
            <a:ext cx="8350974" cy="933080"/>
          </a:xfrm>
          <a:prstGeom prst="rect">
            <a:avLst/>
          </a:prstGeom>
        </p:spPr>
        <p:txBody>
          <a:bodyPr vert="horz" lIns="91440" tIns="45720" rIns="91440" bIns="45720" rtlCol="0" anchor="t" anchorCtr="0">
            <a:normAutofit/>
          </a:bodyPr>
          <a:lstStyle/>
          <a:p>
            <a:r>
              <a:rPr lang="en-US" dirty="0"/>
              <a:t>Click to edit Master title style</a:t>
            </a:r>
            <a:endParaRPr dirty="0"/>
          </a:p>
        </p:txBody>
      </p:sp>
      <p:sp>
        <p:nvSpPr>
          <p:cNvPr id="3" name="Text Placeholder 2"/>
          <p:cNvSpPr>
            <a:spLocks noGrp="1"/>
          </p:cNvSpPr>
          <p:nvPr>
            <p:ph type="body" idx="1"/>
          </p:nvPr>
        </p:nvSpPr>
        <p:spPr>
          <a:xfrm>
            <a:off x="381000" y="1682498"/>
            <a:ext cx="8350974" cy="465881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Slide Number Placeholder 5"/>
          <p:cNvSpPr>
            <a:spLocks noGrp="1"/>
          </p:cNvSpPr>
          <p:nvPr>
            <p:ph type="sldNum" sz="quarter" idx="4"/>
          </p:nvPr>
        </p:nvSpPr>
        <p:spPr bwMode="auto">
          <a:xfrm>
            <a:off x="8212978" y="6553200"/>
            <a:ext cx="702422" cy="228600"/>
          </a:xfrm>
          <a:prstGeom prst="rect">
            <a:avLst/>
          </a:prstGeom>
        </p:spPr>
        <p:txBody>
          <a:bodyPr vert="horz" lIns="91440" tIns="45720" rIns="91440" bIns="45720" rtlCol="0" anchor="ctr"/>
          <a:lstStyle>
            <a:lvl1pPr algn="r">
              <a:defRPr sz="1200" b="1">
                <a:solidFill>
                  <a:schemeClr val="bg1"/>
                </a:solidFill>
              </a:defRPr>
            </a:lvl1pPr>
          </a:lstStyle>
          <a:p>
            <a:fld id="{DF28FB93-0A08-4E7D-8E63-9EFA29F1E093}" type="slidenum">
              <a:rPr lang="en-US" smtClean="0"/>
              <a:pPr/>
              <a:t>‹#›</a:t>
            </a:fld>
            <a:endParaRPr lang="en-US"/>
          </a:p>
        </p:txBody>
      </p:sp>
      <p:sp>
        <p:nvSpPr>
          <p:cNvPr id="15" name="Footer Placeholder 4">
            <a:extLst>
              <a:ext uri="{FF2B5EF4-FFF2-40B4-BE49-F238E27FC236}">
                <a16:creationId xmlns:a16="http://schemas.microsoft.com/office/drawing/2014/main" id="{FA0FCEF1-B3E1-4178-BE9F-E7C40B949EC2}"/>
              </a:ext>
            </a:extLst>
          </p:cNvPr>
          <p:cNvSpPr txBox="1">
            <a:spLocks/>
          </p:cNvSpPr>
          <p:nvPr/>
        </p:nvSpPr>
        <p:spPr bwMode="auto">
          <a:xfrm>
            <a:off x="152400" y="6553200"/>
            <a:ext cx="2362200" cy="185124"/>
          </a:xfrm>
          <a:prstGeom prst="rect">
            <a:avLst/>
          </a:prstGeom>
        </p:spPr>
        <p:txBody>
          <a:bodyPr vert="horz" lIns="91440" tIns="45720" rIns="91440" bIns="45720" rtlCol="0" anchor="ctr"/>
          <a:lstStyle>
            <a:defPPr>
              <a:defRPr lang="en-US"/>
            </a:defPPr>
            <a:lvl1pPr marL="0" algn="l" defTabSz="914400" rtl="0" eaLnBrk="1" latinLnBrk="0" hangingPunct="1">
              <a:defRPr sz="825" b="1" kern="1200" cap="all" baseline="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err="1">
                <a:solidFill>
                  <a:schemeClr val="bg1"/>
                </a:solidFill>
              </a:rPr>
              <a:t>Thống</a:t>
            </a:r>
            <a:r>
              <a:rPr lang="en-US" sz="900">
                <a:solidFill>
                  <a:schemeClr val="bg1"/>
                </a:solidFill>
              </a:rPr>
              <a:t> </a:t>
            </a:r>
            <a:r>
              <a:rPr lang="en-US" sz="900" err="1">
                <a:solidFill>
                  <a:schemeClr val="bg1"/>
                </a:solidFill>
              </a:rPr>
              <a:t>kê</a:t>
            </a:r>
            <a:r>
              <a:rPr lang="en-US" sz="900">
                <a:solidFill>
                  <a:schemeClr val="bg1"/>
                </a:solidFill>
              </a:rPr>
              <a:t> </a:t>
            </a:r>
            <a:r>
              <a:rPr lang="en-US" sz="900" err="1">
                <a:solidFill>
                  <a:schemeClr val="bg1"/>
                </a:solidFill>
              </a:rPr>
              <a:t>máy</a:t>
            </a:r>
            <a:r>
              <a:rPr lang="en-US" sz="900">
                <a:solidFill>
                  <a:schemeClr val="bg1"/>
                </a:solidFill>
              </a:rPr>
              <a:t> </a:t>
            </a:r>
            <a:r>
              <a:rPr lang="en-US" sz="900" err="1">
                <a:solidFill>
                  <a:schemeClr val="bg1"/>
                </a:solidFill>
              </a:rPr>
              <a:t>tính</a:t>
            </a:r>
            <a:r>
              <a:rPr lang="en-US" sz="900">
                <a:solidFill>
                  <a:schemeClr val="bg1"/>
                </a:solidFill>
              </a:rPr>
              <a:t> &amp; </a:t>
            </a:r>
            <a:r>
              <a:rPr lang="en-US" sz="900" err="1">
                <a:solidFill>
                  <a:schemeClr val="bg1"/>
                </a:solidFill>
              </a:rPr>
              <a:t>ứng</a:t>
            </a:r>
            <a:r>
              <a:rPr lang="en-US" sz="900">
                <a:solidFill>
                  <a:schemeClr val="bg1"/>
                </a:solidFill>
              </a:rPr>
              <a:t> </a:t>
            </a:r>
            <a:r>
              <a:rPr lang="en-US" sz="900" err="1">
                <a:solidFill>
                  <a:schemeClr val="bg1"/>
                </a:solidFill>
              </a:rPr>
              <a:t>dụng</a:t>
            </a:r>
            <a:r>
              <a:rPr lang="en-US" sz="900">
                <a:solidFill>
                  <a:schemeClr val="bg1"/>
                </a:solidFill>
              </a:rPr>
              <a:t>   </a:t>
            </a:r>
            <a:r>
              <a:rPr lang="en-US" sz="900" b="0">
                <a:solidFill>
                  <a:schemeClr val="bg1"/>
                </a:solidFill>
              </a:rPr>
              <a:t>-</a:t>
            </a:r>
            <a:r>
              <a:rPr lang="en-US" sz="900">
                <a:solidFill>
                  <a:schemeClr val="bg1"/>
                </a:solidFill>
              </a:rPr>
              <a:t> </a:t>
            </a:r>
          </a:p>
        </p:txBody>
      </p:sp>
      <p:grpSp>
        <p:nvGrpSpPr>
          <p:cNvPr id="14" name="top graphic">
            <a:extLst>
              <a:ext uri="{FF2B5EF4-FFF2-40B4-BE49-F238E27FC236}">
                <a16:creationId xmlns:a16="http://schemas.microsoft.com/office/drawing/2014/main" id="{E020C274-4D59-49F7-903C-547458DCA2DF}"/>
              </a:ext>
            </a:extLst>
          </p:cNvPr>
          <p:cNvGrpSpPr/>
          <p:nvPr userDrawn="1"/>
        </p:nvGrpSpPr>
        <p:grpSpPr>
          <a:xfrm>
            <a:off x="960" y="0"/>
            <a:ext cx="9144095" cy="429768"/>
            <a:chOff x="1279" y="0"/>
            <a:chExt cx="12188952" cy="429768"/>
          </a:xfrm>
        </p:grpSpPr>
        <p:sp>
          <p:nvSpPr>
            <p:cNvPr id="16" name="Rectangle 15">
              <a:extLst>
                <a:ext uri="{FF2B5EF4-FFF2-40B4-BE49-F238E27FC236}">
                  <a16:creationId xmlns:a16="http://schemas.microsoft.com/office/drawing/2014/main" id="{B231B5D9-5A75-4E0C-BF89-DE7172127B84}"/>
                </a:ext>
              </a:extLst>
            </p:cNvPr>
            <p:cNvSpPr/>
            <p:nvPr/>
          </p:nvSpPr>
          <p:spPr>
            <a:xfrm>
              <a:off x="1279" y="0"/>
              <a:ext cx="12188952" cy="228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7" name="Rectangle 16">
              <a:extLst>
                <a:ext uri="{FF2B5EF4-FFF2-40B4-BE49-F238E27FC236}">
                  <a16:creationId xmlns:a16="http://schemas.microsoft.com/office/drawing/2014/main" id="{A74F05EF-65F3-47E3-80C5-C5B574476B34}"/>
                </a:ext>
              </a:extLst>
            </p:cNvPr>
            <p:cNvSpPr/>
            <p:nvPr/>
          </p:nvSpPr>
          <p:spPr>
            <a:xfrm>
              <a:off x="1279" y="228600"/>
              <a:ext cx="12188952" cy="2011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8" name="Rectangle 17">
              <a:extLst>
                <a:ext uri="{FF2B5EF4-FFF2-40B4-BE49-F238E27FC236}">
                  <a16:creationId xmlns:a16="http://schemas.microsoft.com/office/drawing/2014/main" id="{DD04F5AD-0F7C-4098-9D2E-BCC7FCB5AE1A}"/>
                </a:ext>
              </a:extLst>
            </p:cNvPr>
            <p:cNvSpPr/>
            <p:nvPr/>
          </p:nvSpPr>
          <p:spPr>
            <a:xfrm>
              <a:off x="1279" y="306324"/>
              <a:ext cx="12188952"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spTree>
    <p:extLst>
      <p:ext uri="{BB962C8B-B14F-4D97-AF65-F5344CB8AC3E}">
        <p14:creationId xmlns:p14="http://schemas.microsoft.com/office/powerpoint/2010/main" val="1143684509"/>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 id="2147483672" r:id="rId20"/>
    <p:sldLayoutId id="2147483673" r:id="rId21"/>
    <p:sldLayoutId id="2147483674" r:id="rId22"/>
    <p:sldLayoutId id="2147483675" r:id="rId23"/>
    <p:sldLayoutId id="2147483676" r:id="rId24"/>
    <p:sldLayoutId id="2147483677" r:id="rId25"/>
    <p:sldLayoutId id="2147483678" r:id="rId26"/>
    <p:sldLayoutId id="2147483679" r:id="rId27"/>
    <p:sldLayoutId id="2147483680" r:id="rId28"/>
    <p:sldLayoutId id="2147483681" r:id="rId29"/>
    <p:sldLayoutId id="2147483682" r:id="rId30"/>
    <p:sldLayoutId id="2147483683" r:id="rId31"/>
    <p:sldLayoutId id="2147483684" r:id="rId32"/>
    <p:sldLayoutId id="2147483685" r:id="rId33"/>
    <p:sldLayoutId id="2147483686" r:id="rId34"/>
    <p:sldLayoutId id="2147483687" r:id="rId35"/>
    <p:sldLayoutId id="2147483688" r:id="rId36"/>
    <p:sldLayoutId id="2147483689" r:id="rId37"/>
    <p:sldLayoutId id="2147483690" r:id="rId38"/>
    <p:sldLayoutId id="2147483691" r:id="rId39"/>
    <p:sldLayoutId id="2147483651"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ctr" defTabSz="685983" rtl="0" eaLnBrk="1" latinLnBrk="0" hangingPunct="1">
        <a:lnSpc>
          <a:spcPct val="90000"/>
        </a:lnSpc>
        <a:spcBef>
          <a:spcPct val="0"/>
        </a:spcBef>
        <a:buNone/>
        <a:defRPr sz="3200" kern="1200">
          <a:solidFill>
            <a:schemeClr val="accent1">
              <a:lumMod val="50000"/>
            </a:schemeClr>
          </a:solidFill>
          <a:latin typeface="+mj-lt"/>
          <a:ea typeface="+mj-ea"/>
          <a:cs typeface="+mj-cs"/>
        </a:defRPr>
      </a:lvl1pPr>
    </p:titleStyle>
    <p:bodyStyle>
      <a:lvl1pPr marL="287338" indent="-287338" algn="l" defTabSz="685983" rtl="0" eaLnBrk="1" latinLnBrk="0" hangingPunct="1">
        <a:lnSpc>
          <a:spcPct val="90000"/>
        </a:lnSpc>
        <a:spcBef>
          <a:spcPts val="1350"/>
        </a:spcBef>
        <a:buClr>
          <a:schemeClr val="tx1"/>
        </a:buClr>
        <a:buSzPct val="80000"/>
        <a:buFont typeface="Wingdings" panose="05000000000000000000" pitchFamily="2" charset="2"/>
        <a:buChar char="Ø"/>
        <a:defRPr sz="2800" kern="1200">
          <a:solidFill>
            <a:schemeClr val="tx1"/>
          </a:solidFill>
          <a:latin typeface="+mn-lt"/>
          <a:ea typeface="+mn-ea"/>
          <a:cs typeface="+mn-cs"/>
        </a:defRPr>
      </a:lvl1pPr>
      <a:lvl2pPr marL="520700" indent="-223838" algn="l" defTabSz="685983" rtl="0" eaLnBrk="1" latinLnBrk="0" hangingPunct="1">
        <a:lnSpc>
          <a:spcPct val="90000"/>
        </a:lnSpc>
        <a:spcBef>
          <a:spcPts val="750"/>
        </a:spcBef>
        <a:buClr>
          <a:schemeClr val="tx1"/>
        </a:buClr>
        <a:buSzPct val="100000"/>
        <a:buFont typeface="Arial" pitchFamily="34" charset="0"/>
        <a:buChar char="–"/>
        <a:defRPr sz="2200" kern="1200">
          <a:solidFill>
            <a:schemeClr val="tx1"/>
          </a:solidFill>
          <a:latin typeface="+mn-lt"/>
          <a:ea typeface="+mn-ea"/>
          <a:cs typeface="+mn-cs"/>
        </a:defRPr>
      </a:lvl2pPr>
      <a:lvl3pPr marL="800100" indent="-171450" algn="l" defTabSz="685983" rtl="0" eaLnBrk="1" latinLnBrk="0" hangingPunct="1">
        <a:lnSpc>
          <a:spcPct val="90000"/>
        </a:lnSpc>
        <a:spcBef>
          <a:spcPts val="600"/>
        </a:spcBef>
        <a:buClr>
          <a:schemeClr val="tx1"/>
        </a:buClr>
        <a:buSzPct val="80000"/>
        <a:buFont typeface="Wingdings" panose="05000000000000000000" pitchFamily="2" charset="2"/>
        <a:buChar char="§"/>
        <a:defRPr sz="2000" kern="1200">
          <a:solidFill>
            <a:schemeClr val="tx1"/>
          </a:solidFill>
          <a:latin typeface="+mn-lt"/>
          <a:ea typeface="+mn-ea"/>
          <a:cs typeface="+mn-cs"/>
        </a:defRPr>
      </a:lvl3pPr>
      <a:lvl4pPr marL="1092200" indent="-234950" algn="l" defTabSz="685983" rtl="0" eaLnBrk="1" latinLnBrk="0" hangingPunct="1">
        <a:lnSpc>
          <a:spcPct val="90000"/>
        </a:lnSpc>
        <a:spcBef>
          <a:spcPts val="600"/>
        </a:spcBef>
        <a:buClr>
          <a:schemeClr val="tx1"/>
        </a:buClr>
        <a:buSzPct val="100000"/>
        <a:buFont typeface="Courier New" panose="02070309020205020404" pitchFamily="49" charset="0"/>
        <a:buChar char="o"/>
        <a:defRPr sz="1600" kern="1200">
          <a:solidFill>
            <a:schemeClr val="tx1"/>
          </a:solidFill>
          <a:latin typeface="+mn-lt"/>
          <a:ea typeface="+mn-ea"/>
          <a:cs typeface="+mn-cs"/>
        </a:defRPr>
      </a:lvl4pPr>
      <a:lvl5pPr marL="1257300" indent="-171450" algn="l" defTabSz="685983" rtl="0" eaLnBrk="1" latinLnBrk="0" hangingPunct="1">
        <a:lnSpc>
          <a:spcPct val="90000"/>
        </a:lnSpc>
        <a:spcBef>
          <a:spcPts val="600"/>
        </a:spcBef>
        <a:buClr>
          <a:schemeClr val="tx1"/>
        </a:buClr>
        <a:buSzPct val="80000"/>
        <a:buFont typeface="Wingdings" pitchFamily="2" charset="2"/>
        <a:buChar char="§"/>
        <a:defRPr sz="1400" kern="1200">
          <a:solidFill>
            <a:schemeClr val="tx1"/>
          </a:solidFill>
          <a:latin typeface="+mn-lt"/>
          <a:ea typeface="+mn-ea"/>
          <a:cs typeface="+mn-cs"/>
        </a:defRPr>
      </a:lvl5pPr>
      <a:lvl6pPr marL="1166171" indent="-171496" algn="l" defTabSz="685983" rtl="0" eaLnBrk="1" latinLnBrk="0" hangingPunct="1">
        <a:lnSpc>
          <a:spcPct val="90000"/>
        </a:lnSpc>
        <a:spcBef>
          <a:spcPts val="600"/>
        </a:spcBef>
        <a:buClr>
          <a:schemeClr val="tx1"/>
        </a:buClr>
        <a:buSzPct val="100000"/>
        <a:buFont typeface="Arial" pitchFamily="34" charset="0"/>
        <a:buChar char="–"/>
        <a:defRPr sz="1200" kern="1200">
          <a:solidFill>
            <a:schemeClr val="tx1"/>
          </a:solidFill>
          <a:latin typeface="+mn-lt"/>
          <a:ea typeface="+mn-ea"/>
          <a:cs typeface="+mn-cs"/>
        </a:defRPr>
      </a:lvl6pPr>
      <a:lvl7pPr marL="1337667" indent="-171496" algn="l" defTabSz="685983" rtl="0" eaLnBrk="1" latinLnBrk="0" hangingPunct="1">
        <a:lnSpc>
          <a:spcPct val="90000"/>
        </a:lnSpc>
        <a:spcBef>
          <a:spcPts val="600"/>
        </a:spcBef>
        <a:buClr>
          <a:schemeClr val="tx1"/>
        </a:buClr>
        <a:buSzPct val="80000"/>
        <a:buFont typeface="Wingdings" pitchFamily="2" charset="2"/>
        <a:buChar char="§"/>
        <a:defRPr sz="1200" kern="1200">
          <a:solidFill>
            <a:schemeClr val="tx1"/>
          </a:solidFill>
          <a:latin typeface="+mn-lt"/>
          <a:ea typeface="+mn-ea"/>
          <a:cs typeface="+mn-cs"/>
        </a:defRPr>
      </a:lvl7pPr>
      <a:lvl8pPr marL="1509162" indent="-171496" algn="l" defTabSz="685983" rtl="0" eaLnBrk="1" latinLnBrk="0" hangingPunct="1">
        <a:lnSpc>
          <a:spcPct val="90000"/>
        </a:lnSpc>
        <a:spcBef>
          <a:spcPts val="600"/>
        </a:spcBef>
        <a:buClr>
          <a:schemeClr val="tx1"/>
        </a:buClr>
        <a:buSzPct val="100000"/>
        <a:buFont typeface="Arial" pitchFamily="34" charset="0"/>
        <a:buChar char="–"/>
        <a:defRPr sz="1200" kern="1200">
          <a:solidFill>
            <a:schemeClr val="tx1"/>
          </a:solidFill>
          <a:latin typeface="+mn-lt"/>
          <a:ea typeface="+mn-ea"/>
          <a:cs typeface="+mn-cs"/>
        </a:defRPr>
      </a:lvl8pPr>
      <a:lvl9pPr marL="1680658" indent="-171496" algn="l" defTabSz="685983" rtl="0" eaLnBrk="1" latinLnBrk="0" hangingPunct="1">
        <a:lnSpc>
          <a:spcPct val="90000"/>
        </a:lnSpc>
        <a:spcBef>
          <a:spcPts val="600"/>
        </a:spcBef>
        <a:buClr>
          <a:schemeClr val="tx1"/>
        </a:buClr>
        <a:buSzPct val="80000"/>
        <a:buFont typeface="Wingdings" pitchFamily="2" charset="2"/>
        <a:buChar char="§"/>
        <a:defRPr sz="1200" kern="1200">
          <a:solidFill>
            <a:schemeClr val="tx1"/>
          </a:solidFill>
          <a:latin typeface="+mn-lt"/>
          <a:ea typeface="+mn-ea"/>
          <a:cs typeface="+mn-cs"/>
        </a:defRPr>
      </a:lvl9pPr>
    </p:bodyStyle>
    <p:otherStyle>
      <a:defPPr>
        <a:defRPr/>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4.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12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14.wmf"/><Relationship Id="rId4" Type="http://schemas.openxmlformats.org/officeDocument/2006/relationships/image" Target="../media/image13.wmf"/></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7" Type="http://schemas.openxmlformats.org/officeDocument/2006/relationships/image" Target="../media/image17.wmf"/><Relationship Id="rId2" Type="http://schemas.openxmlformats.org/officeDocument/2006/relationships/notesSlide" Target="../notesSlides/notesSlide20.xml"/><Relationship Id="rId1" Type="http://schemas.openxmlformats.org/officeDocument/2006/relationships/slideLayout" Target="../slideLayouts/slideLayout10.xml"/><Relationship Id="rId6" Type="http://schemas.openxmlformats.org/officeDocument/2006/relationships/oleObject" Target="../embeddings/oleObject5.bin"/><Relationship Id="rId5" Type="http://schemas.openxmlformats.org/officeDocument/2006/relationships/image" Target="../media/image16.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21.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image" Target="../media/image22.wmf"/></Relationships>
</file>

<file path=ppt/slides/_rels/slide28.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7.xml"/><Relationship Id="rId1" Type="http://schemas.openxmlformats.org/officeDocument/2006/relationships/slideLayout" Target="../slideLayouts/slideLayout10.xml"/><Relationship Id="rId5" Type="http://schemas.openxmlformats.org/officeDocument/2006/relationships/image" Target="../media/image24.wmf"/><Relationship Id="rId4" Type="http://schemas.openxmlformats.org/officeDocument/2006/relationships/image" Target="../media/image23.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22.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9.xml"/><Relationship Id="rId1" Type="http://schemas.openxmlformats.org/officeDocument/2006/relationships/slideLayout" Target="../slideLayouts/slideLayout10.xml"/><Relationship Id="rId5" Type="http://schemas.openxmlformats.org/officeDocument/2006/relationships/image" Target="../media/image20.wmf"/><Relationship Id="rId4" Type="http://schemas.openxmlformats.org/officeDocument/2006/relationships/image" Target="../media/image25.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0.xml"/><Relationship Id="rId1" Type="http://schemas.openxmlformats.org/officeDocument/2006/relationships/slideLayout" Target="../slideLayouts/slideLayout10.xml"/><Relationship Id="rId6" Type="http://schemas.openxmlformats.org/officeDocument/2006/relationships/image" Target="../media/image27.wmf"/><Relationship Id="rId5" Type="http://schemas.openxmlformats.org/officeDocument/2006/relationships/oleObject" Target="../embeddings/oleObject10.bin"/><Relationship Id="rId4" Type="http://schemas.openxmlformats.org/officeDocument/2006/relationships/image" Target="../media/image26.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33.xml"/><Relationship Id="rId1" Type="http://schemas.openxmlformats.org/officeDocument/2006/relationships/slideLayout" Target="../slideLayouts/slideLayout10.xml"/><Relationship Id="rId4" Type="http://schemas.openxmlformats.org/officeDocument/2006/relationships/image" Target="../media/image5.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5.xml"/><Relationship Id="rId1" Type="http://schemas.openxmlformats.org/officeDocument/2006/relationships/slideLayout" Target="../slideLayouts/slideLayout10.xml"/><Relationship Id="rId6" Type="http://schemas.openxmlformats.org/officeDocument/2006/relationships/image" Target="../media/image30.wmf"/><Relationship Id="rId5" Type="http://schemas.openxmlformats.org/officeDocument/2006/relationships/oleObject" Target="../embeddings/oleObject13.bin"/><Relationship Id="rId4" Type="http://schemas.openxmlformats.org/officeDocument/2006/relationships/image" Target="../media/image29.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14.bin"/><Relationship Id="rId7" Type="http://schemas.openxmlformats.org/officeDocument/2006/relationships/image" Target="../media/image33.wmf"/><Relationship Id="rId2" Type="http://schemas.openxmlformats.org/officeDocument/2006/relationships/notesSlide" Target="../notesSlides/notesSlide38.xml"/><Relationship Id="rId1" Type="http://schemas.openxmlformats.org/officeDocument/2006/relationships/slideLayout" Target="../slideLayouts/slideLayout10.xml"/><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5.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37.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45.xml"/><Relationship Id="rId1" Type="http://schemas.openxmlformats.org/officeDocument/2006/relationships/slideLayout" Target="../slideLayouts/slideLayout10.xml"/><Relationship Id="rId4" Type="http://schemas.openxmlformats.org/officeDocument/2006/relationships/image" Target="../media/image38.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1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49.xml"/><Relationship Id="rId1" Type="http://schemas.openxmlformats.org/officeDocument/2006/relationships/slideLayout" Target="../slideLayouts/slideLayout10.xml"/><Relationship Id="rId4" Type="http://schemas.openxmlformats.org/officeDocument/2006/relationships/image" Target="../media/image39.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50.xml"/><Relationship Id="rId1" Type="http://schemas.openxmlformats.org/officeDocument/2006/relationships/slideLayout" Target="../slideLayouts/slideLayout10.xml"/><Relationship Id="rId4" Type="http://schemas.openxmlformats.org/officeDocument/2006/relationships/image" Target="../media/image40.wmf"/></Relationships>
</file>

<file path=ppt/slides/_rels/slide52.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notesSlide" Target="../notesSlides/notesSlide51.xml"/><Relationship Id="rId1" Type="http://schemas.openxmlformats.org/officeDocument/2006/relationships/slideLayout" Target="../slideLayouts/slideLayout10.xml"/><Relationship Id="rId6" Type="http://schemas.openxmlformats.org/officeDocument/2006/relationships/image" Target="../media/image42.wmf"/><Relationship Id="rId5" Type="http://schemas.openxmlformats.org/officeDocument/2006/relationships/oleObject" Target="../embeddings/oleObject20.bin"/><Relationship Id="rId4" Type="http://schemas.openxmlformats.org/officeDocument/2006/relationships/image" Target="../media/image41.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55.xml"/><Relationship Id="rId1" Type="http://schemas.openxmlformats.org/officeDocument/2006/relationships/slideLayout" Target="../slideLayouts/slideLayout10.xml"/><Relationship Id="rId4" Type="http://schemas.openxmlformats.org/officeDocument/2006/relationships/image" Target="../media/image45.wmf"/></Relationships>
</file>

<file path=ppt/slides/_rels/slide57.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56.xml"/><Relationship Id="rId1" Type="http://schemas.openxmlformats.org/officeDocument/2006/relationships/slideLayout" Target="../slideLayouts/slideLayout10.xml"/><Relationship Id="rId5" Type="http://schemas.openxmlformats.org/officeDocument/2006/relationships/image" Target="../media/image47.wmf"/><Relationship Id="rId4" Type="http://schemas.openxmlformats.org/officeDocument/2006/relationships/image" Target="../media/image44.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59.xml"/><Relationship Id="rId1" Type="http://schemas.openxmlformats.org/officeDocument/2006/relationships/slideLayout" Target="../slideLayouts/slideLayout10.xml"/><Relationship Id="rId6" Type="http://schemas.openxmlformats.org/officeDocument/2006/relationships/image" Target="../media/image49.wmf"/><Relationship Id="rId5" Type="http://schemas.openxmlformats.org/officeDocument/2006/relationships/oleObject" Target="../embeddings/oleObject23.bin"/><Relationship Id="rId4" Type="http://schemas.openxmlformats.org/officeDocument/2006/relationships/image" Target="../media/image48.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60.xml"/><Relationship Id="rId1" Type="http://schemas.openxmlformats.org/officeDocument/2006/relationships/slideLayout" Target="../slideLayouts/slideLayout10.xml"/><Relationship Id="rId6" Type="http://schemas.openxmlformats.org/officeDocument/2006/relationships/image" Target="../media/image51.wmf"/><Relationship Id="rId5" Type="http://schemas.openxmlformats.org/officeDocument/2006/relationships/oleObject" Target="../embeddings/oleObject25.bin"/><Relationship Id="rId4" Type="http://schemas.openxmlformats.org/officeDocument/2006/relationships/image" Target="../media/image5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120650" y="457200"/>
            <a:ext cx="8901113" cy="1143000"/>
          </a:xfrm>
          <a:ln>
            <a:miter lim="800000"/>
            <a:headEnd/>
            <a:tailEnd/>
          </a:ln>
        </p:spPr>
        <p:txBody>
          <a:bodyPr vert="horz" wrap="square" lIns="90488" tIns="44450" rIns="90488" bIns="44450" numCol="1" anchor="t" anchorCtr="0" compatLnSpc="1">
            <a:prstTxWarp prst="textNoShape">
              <a:avLst/>
            </a:prstTxWarp>
          </a:bodyPr>
          <a:lstStyle/>
          <a:p>
            <a:pPr>
              <a:defRPr/>
            </a:pPr>
            <a:r>
              <a:rPr lang="en-US" b="1" dirty="0" err="1">
                <a:solidFill>
                  <a:schemeClr val="accent6">
                    <a:lumMod val="75000"/>
                  </a:schemeClr>
                </a:solidFill>
              </a:rPr>
              <a:t>Chương</a:t>
            </a:r>
            <a:r>
              <a:rPr lang="en-US" b="1" dirty="0">
                <a:solidFill>
                  <a:schemeClr val="accent6">
                    <a:lumMod val="75000"/>
                  </a:schemeClr>
                </a:solidFill>
              </a:rPr>
              <a:t> 7</a:t>
            </a:r>
            <a:br>
              <a:rPr lang="en-US" b="1" dirty="0">
                <a:solidFill>
                  <a:schemeClr val="accent6">
                    <a:lumMod val="75000"/>
                  </a:schemeClr>
                </a:solidFill>
              </a:rPr>
            </a:br>
            <a:r>
              <a:rPr lang="en-US" b="1" dirty="0" err="1">
                <a:solidFill>
                  <a:schemeClr val="accent6">
                    <a:lumMod val="75000"/>
                  </a:schemeClr>
                </a:solidFill>
              </a:rPr>
              <a:t>Ước</a:t>
            </a:r>
            <a:r>
              <a:rPr lang="en-US" b="1" dirty="0">
                <a:solidFill>
                  <a:schemeClr val="accent6">
                    <a:lumMod val="75000"/>
                  </a:schemeClr>
                </a:solidFill>
              </a:rPr>
              <a:t> </a:t>
            </a:r>
            <a:r>
              <a:rPr lang="en-US" b="1" dirty="0" err="1">
                <a:solidFill>
                  <a:schemeClr val="accent6">
                    <a:lumMod val="75000"/>
                  </a:schemeClr>
                </a:solidFill>
              </a:rPr>
              <a:t>lượng</a:t>
            </a:r>
            <a:r>
              <a:rPr lang="en-US" b="1" dirty="0">
                <a:solidFill>
                  <a:schemeClr val="accent6">
                    <a:lumMod val="75000"/>
                  </a:schemeClr>
                </a:solidFill>
              </a:rPr>
              <a:t> </a:t>
            </a:r>
            <a:r>
              <a:rPr lang="en-US" b="1" dirty="0" err="1">
                <a:solidFill>
                  <a:schemeClr val="accent6">
                    <a:lumMod val="75000"/>
                  </a:schemeClr>
                </a:solidFill>
              </a:rPr>
              <a:t>và</a:t>
            </a:r>
            <a:r>
              <a:rPr lang="en-US" b="1" dirty="0">
                <a:solidFill>
                  <a:schemeClr val="accent6">
                    <a:lumMod val="75000"/>
                  </a:schemeClr>
                </a:solidFill>
              </a:rPr>
              <a:t> </a:t>
            </a:r>
            <a:r>
              <a:rPr lang="en-US" b="1" dirty="0" err="1">
                <a:solidFill>
                  <a:schemeClr val="accent6">
                    <a:lumMod val="75000"/>
                  </a:schemeClr>
                </a:solidFill>
              </a:rPr>
              <a:t>kích</a:t>
            </a:r>
            <a:r>
              <a:rPr lang="en-US" b="1" dirty="0">
                <a:solidFill>
                  <a:schemeClr val="accent6">
                    <a:lumMod val="75000"/>
                  </a:schemeClr>
                </a:solidFill>
              </a:rPr>
              <a:t> </a:t>
            </a:r>
            <a:r>
              <a:rPr lang="en-US" b="1" dirty="0" err="1">
                <a:solidFill>
                  <a:schemeClr val="accent6">
                    <a:lumMod val="75000"/>
                  </a:schemeClr>
                </a:solidFill>
              </a:rPr>
              <a:t>thước</a:t>
            </a:r>
            <a:r>
              <a:rPr lang="en-US" b="1" dirty="0">
                <a:solidFill>
                  <a:schemeClr val="accent6">
                    <a:lumMod val="75000"/>
                  </a:schemeClr>
                </a:solidFill>
              </a:rPr>
              <a:t> </a:t>
            </a:r>
            <a:r>
              <a:rPr lang="en-US" b="1" dirty="0" err="1">
                <a:solidFill>
                  <a:schemeClr val="accent6">
                    <a:lumMod val="75000"/>
                  </a:schemeClr>
                </a:solidFill>
              </a:rPr>
              <a:t>mẫu</a:t>
            </a:r>
            <a:endParaRPr lang="en-US" b="1" dirty="0">
              <a:solidFill>
                <a:schemeClr val="accent6">
                  <a:lumMod val="75000"/>
                </a:schemeClr>
              </a:solidFill>
            </a:endParaRPr>
          </a:p>
        </p:txBody>
      </p:sp>
      <p:sp>
        <p:nvSpPr>
          <p:cNvPr id="4099" name="Text Box 6"/>
          <p:cNvSpPr txBox="1">
            <a:spLocks noChangeArrowheads="1"/>
          </p:cNvSpPr>
          <p:nvPr/>
        </p:nvSpPr>
        <p:spPr bwMode="auto">
          <a:xfrm>
            <a:off x="609600" y="2249488"/>
            <a:ext cx="8305800" cy="157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50000"/>
              </a:spcBef>
              <a:defRPr/>
            </a:pPr>
            <a:r>
              <a:rPr lang="en-US" altLang="en-US" sz="2600" dirty="0">
                <a:solidFill>
                  <a:schemeClr val="accent6">
                    <a:lumMod val="75000"/>
                  </a:schemeClr>
                </a:solidFill>
                <a:latin typeface="+mn-lt"/>
                <a:ea typeface="+mj-ea"/>
                <a:cs typeface="+mj-cs"/>
              </a:rPr>
              <a:t>7-1  </a:t>
            </a:r>
            <a:r>
              <a:rPr lang="en-US" altLang="en-US" sz="2600" dirty="0" err="1">
                <a:solidFill>
                  <a:schemeClr val="accent6">
                    <a:lumMod val="75000"/>
                  </a:schemeClr>
                </a:solidFill>
                <a:latin typeface="+mn-lt"/>
                <a:ea typeface="+mj-ea"/>
                <a:cs typeface="+mj-cs"/>
              </a:rPr>
              <a:t>Giới</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thiệu</a:t>
            </a:r>
            <a:endParaRPr lang="en-US" altLang="en-US" sz="2600" dirty="0">
              <a:solidFill>
                <a:schemeClr val="accent6">
                  <a:lumMod val="75000"/>
                </a:schemeClr>
              </a:solidFill>
              <a:latin typeface="+mn-lt"/>
              <a:ea typeface="+mj-ea"/>
              <a:cs typeface="+mj-cs"/>
            </a:endParaRPr>
          </a:p>
          <a:p>
            <a:pPr>
              <a:lnSpc>
                <a:spcPct val="90000"/>
              </a:lnSpc>
              <a:spcBef>
                <a:spcPct val="50000"/>
              </a:spcBef>
              <a:defRPr/>
            </a:pPr>
            <a:r>
              <a:rPr lang="en-US" altLang="en-US" sz="2600" b="0" dirty="0"/>
              <a:t>7-2  </a:t>
            </a:r>
            <a:r>
              <a:rPr lang="en-US" altLang="en-US" sz="2600" b="0" dirty="0" err="1"/>
              <a:t>Ước</a:t>
            </a:r>
            <a:r>
              <a:rPr lang="en-US" altLang="en-US" sz="2600" b="0" dirty="0"/>
              <a:t> </a:t>
            </a:r>
            <a:r>
              <a:rPr lang="en-US" altLang="en-US" sz="2600" b="0" dirty="0" err="1"/>
              <a:t>lượng</a:t>
            </a:r>
            <a:r>
              <a:rPr lang="en-US" altLang="en-US" sz="2600" b="0" dirty="0"/>
              <a:t> </a:t>
            </a:r>
            <a:r>
              <a:rPr lang="en-US" altLang="en-US" sz="2600" b="0" dirty="0" err="1"/>
              <a:t>trung</a:t>
            </a:r>
            <a:r>
              <a:rPr lang="en-US" altLang="en-US" sz="2600" b="0" dirty="0"/>
              <a:t> </a:t>
            </a:r>
            <a:r>
              <a:rPr lang="en-US" altLang="en-US" sz="2600" b="0" dirty="0" err="1"/>
              <a:t>bình</a:t>
            </a:r>
            <a:r>
              <a:rPr lang="en-US" altLang="en-US" sz="2600" b="0" dirty="0"/>
              <a:t> </a:t>
            </a:r>
            <a:r>
              <a:rPr lang="en-US" altLang="en-US" sz="2600" b="0" dirty="0" err="1"/>
              <a:t>quần</a:t>
            </a:r>
            <a:r>
              <a:rPr lang="en-US" altLang="en-US" sz="2600" b="0" dirty="0"/>
              <a:t> </a:t>
            </a:r>
            <a:r>
              <a:rPr lang="en-US" altLang="en-US" sz="2600" b="0" dirty="0" err="1"/>
              <a:t>thể</a:t>
            </a:r>
            <a:endParaRPr lang="en-US" altLang="en-US" sz="2600" b="0" dirty="0">
              <a:cs typeface="Arial" panose="020B0604020202020204" pitchFamily="34" charset="0"/>
            </a:endParaRPr>
          </a:p>
          <a:p>
            <a:pPr>
              <a:lnSpc>
                <a:spcPct val="90000"/>
              </a:lnSpc>
              <a:spcBef>
                <a:spcPct val="50000"/>
              </a:spcBef>
              <a:defRPr/>
            </a:pPr>
            <a:r>
              <a:rPr lang="en-US" altLang="en-US" sz="2600" b="0" dirty="0"/>
              <a:t>7-3  </a:t>
            </a:r>
            <a:r>
              <a:rPr lang="en-US" altLang="en-US" sz="2600" b="0" dirty="0" err="1"/>
              <a:t>Ước</a:t>
            </a:r>
            <a:r>
              <a:rPr lang="en-US" altLang="en-US" sz="2600" b="0" dirty="0"/>
              <a:t> </a:t>
            </a:r>
            <a:r>
              <a:rPr lang="en-US" altLang="en-US" sz="2600" b="0" dirty="0" err="1"/>
              <a:t>lượng</a:t>
            </a:r>
            <a:r>
              <a:rPr lang="en-US" altLang="en-US" sz="2600" b="0" dirty="0"/>
              <a:t> </a:t>
            </a:r>
            <a:r>
              <a:rPr lang="en-US" altLang="en-US" sz="2600" b="0" dirty="0" err="1"/>
              <a:t>tỉ</a:t>
            </a:r>
            <a:r>
              <a:rPr lang="en-US" altLang="en-US" sz="2600" b="0" dirty="0"/>
              <a:t> </a:t>
            </a:r>
            <a:r>
              <a:rPr lang="en-US" altLang="en-US" sz="2600" b="0" dirty="0" err="1"/>
              <a:t>lệ</a:t>
            </a:r>
            <a:r>
              <a:rPr lang="en-US" altLang="en-US" sz="2600" b="0" dirty="0"/>
              <a:t> </a:t>
            </a:r>
            <a:r>
              <a:rPr lang="en-US" altLang="en-US" sz="2600" b="0" dirty="0" err="1"/>
              <a:t>quần</a:t>
            </a:r>
            <a:r>
              <a:rPr lang="en-US" altLang="en-US" sz="2600" b="0" dirty="0"/>
              <a:t> </a:t>
            </a:r>
            <a:r>
              <a:rPr lang="en-US" altLang="en-US" sz="2600" b="0" dirty="0" err="1"/>
              <a:t>thể</a:t>
            </a:r>
            <a:endParaRPr lang="en-US" altLang="en-US" sz="2600" b="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927100" y="525462"/>
            <a:ext cx="7226300" cy="8461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r>
              <a:rPr lang="en-US" altLang="en-US" b="1"/>
              <a:t>Giới thiệu </a:t>
            </a:r>
          </a:p>
        </p:txBody>
      </p:sp>
      <p:sp>
        <p:nvSpPr>
          <p:cNvPr id="6147" name="Rectangle 3"/>
          <p:cNvSpPr>
            <a:spLocks noGrp="1" noChangeArrowheads="1"/>
          </p:cNvSpPr>
          <p:nvPr>
            <p:ph idx="1"/>
          </p:nvPr>
        </p:nvSpPr>
        <p:spPr bwMode="auto">
          <a:xfrm>
            <a:off x="0" y="1371600"/>
            <a:ext cx="9144000" cy="49561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normAutofit/>
          </a:bodyPr>
          <a:lstStyle/>
          <a:p>
            <a:pPr marL="457200" indent="-457200">
              <a:lnSpc>
                <a:spcPct val="95000"/>
              </a:lnSpc>
              <a:spcBef>
                <a:spcPct val="0"/>
              </a:spcBef>
              <a:spcAft>
                <a:spcPct val="35000"/>
              </a:spcAft>
              <a:defRPr/>
            </a:pPr>
            <a:r>
              <a:rPr lang="en-US" altLang="en-US" dirty="0" err="1"/>
              <a:t>Trong</a:t>
            </a:r>
            <a:r>
              <a:rPr lang="en-US" altLang="en-US" dirty="0"/>
              <a:t> </a:t>
            </a:r>
            <a:r>
              <a:rPr lang="en-US" altLang="en-US" dirty="0">
                <a:solidFill>
                  <a:srgbClr val="FF0000"/>
                </a:solidFill>
                <a:latin typeface="inherit"/>
              </a:rPr>
              <a:t>c</a:t>
            </a:r>
            <a:r>
              <a:rPr lang="vi-VN" altLang="en-US" dirty="0">
                <a:solidFill>
                  <a:srgbClr val="FF0000"/>
                </a:solidFill>
                <a:latin typeface="inherit"/>
              </a:rPr>
              <a:t>hương 2 &amp; 3, </a:t>
            </a:r>
            <a:r>
              <a:rPr lang="vi-VN" altLang="en-US" dirty="0">
                <a:solidFill>
                  <a:srgbClr val="212121"/>
                </a:solidFill>
                <a:latin typeface="inherit"/>
              </a:rPr>
              <a:t>ch</a:t>
            </a:r>
            <a:r>
              <a:rPr lang="vi-VN" altLang="en-US" dirty="0">
                <a:solidFill>
                  <a:srgbClr val="212121"/>
                </a:solidFill>
              </a:rPr>
              <a:t>ú</a:t>
            </a:r>
            <a:r>
              <a:rPr lang="vi-VN" altLang="en-US" dirty="0">
                <a:solidFill>
                  <a:srgbClr val="212121"/>
                </a:solidFill>
                <a:latin typeface="inherit"/>
              </a:rPr>
              <a:t>ng t</a:t>
            </a:r>
            <a:r>
              <a:rPr lang="en-US" altLang="en-US" dirty="0">
                <a:solidFill>
                  <a:srgbClr val="212121"/>
                </a:solidFill>
                <a:latin typeface="inherit"/>
              </a:rPr>
              <a:t>a</a:t>
            </a:r>
            <a:r>
              <a:rPr lang="vi-VN" altLang="en-US" dirty="0">
                <a:solidFill>
                  <a:srgbClr val="212121"/>
                </a:solidFill>
                <a:latin typeface="inherit"/>
              </a:rPr>
              <a:t> đã sử dụng số liệu </a:t>
            </a:r>
            <a:r>
              <a:rPr lang="vi-VN" altLang="en-US" dirty="0">
                <a:solidFill>
                  <a:srgbClr val="FF0000"/>
                </a:solidFill>
                <a:latin typeface="inherit"/>
              </a:rPr>
              <a:t>thống kê mô tả </a:t>
            </a:r>
            <a:r>
              <a:rPr lang="vi-VN" altLang="en-US" dirty="0">
                <a:solidFill>
                  <a:srgbClr val="212121"/>
                </a:solidFill>
                <a:latin typeface="inherit"/>
              </a:rPr>
              <a:t>khi ch</a:t>
            </a:r>
            <a:r>
              <a:rPr lang="vi-VN" altLang="en-US" dirty="0">
                <a:solidFill>
                  <a:srgbClr val="212121"/>
                </a:solidFill>
              </a:rPr>
              <a:t>ú</a:t>
            </a:r>
            <a:r>
              <a:rPr lang="vi-VN" altLang="en-US" dirty="0">
                <a:solidFill>
                  <a:srgbClr val="212121"/>
                </a:solidFill>
                <a:latin typeface="inherit"/>
              </a:rPr>
              <a:t>ng t</a:t>
            </a:r>
            <a:r>
              <a:rPr lang="en-US" altLang="en-US" dirty="0">
                <a:solidFill>
                  <a:srgbClr val="212121"/>
                </a:solidFill>
                <a:latin typeface="inherit"/>
              </a:rPr>
              <a:t>a</a:t>
            </a:r>
            <a:r>
              <a:rPr lang="vi-VN" altLang="en-US" dirty="0">
                <a:solidFill>
                  <a:srgbClr val="212121"/>
                </a:solidFill>
                <a:latin typeface="inherit"/>
              </a:rPr>
              <a:t> </a:t>
            </a:r>
            <a:r>
              <a:rPr lang="vi-VN" altLang="en-US" dirty="0">
                <a:solidFill>
                  <a:srgbClr val="FF0000"/>
                </a:solidFill>
                <a:latin typeface="inherit"/>
              </a:rPr>
              <a:t>t</a:t>
            </a:r>
            <a:r>
              <a:rPr lang="vi-VN" altLang="en-US" dirty="0">
                <a:solidFill>
                  <a:srgbClr val="FF0000"/>
                </a:solidFill>
              </a:rPr>
              <a:t>ó</a:t>
            </a:r>
            <a:r>
              <a:rPr lang="vi-VN" altLang="en-US" dirty="0">
                <a:solidFill>
                  <a:srgbClr val="FF0000"/>
                </a:solidFill>
                <a:latin typeface="inherit"/>
              </a:rPr>
              <a:t>m tắt dữ liệu </a:t>
            </a:r>
            <a:r>
              <a:rPr lang="vi-VN" altLang="en-US" dirty="0">
                <a:solidFill>
                  <a:srgbClr val="212121"/>
                </a:solidFill>
                <a:latin typeface="inherit"/>
              </a:rPr>
              <a:t>bằng c</a:t>
            </a:r>
            <a:r>
              <a:rPr lang="vi-VN" altLang="en-US" dirty="0">
                <a:solidFill>
                  <a:srgbClr val="212121"/>
                </a:solidFill>
              </a:rPr>
              <a:t>á</a:t>
            </a:r>
            <a:r>
              <a:rPr lang="vi-VN" altLang="en-US" dirty="0">
                <a:solidFill>
                  <a:srgbClr val="212121"/>
                </a:solidFill>
                <a:latin typeface="inherit"/>
              </a:rPr>
              <a:t>ch sử dụng c</a:t>
            </a:r>
            <a:r>
              <a:rPr lang="vi-VN" altLang="en-US" dirty="0">
                <a:solidFill>
                  <a:srgbClr val="212121"/>
                </a:solidFill>
              </a:rPr>
              <a:t>á</a:t>
            </a:r>
            <a:r>
              <a:rPr lang="vi-VN" altLang="en-US" dirty="0">
                <a:solidFill>
                  <a:srgbClr val="212121"/>
                </a:solidFill>
                <a:latin typeface="inherit"/>
              </a:rPr>
              <a:t>c công</a:t>
            </a:r>
            <a:r>
              <a:rPr lang="en-US" altLang="en-US" dirty="0">
                <a:solidFill>
                  <a:srgbClr val="212121"/>
                </a:solidFill>
                <a:latin typeface="inherit"/>
              </a:rPr>
              <a:t> </a:t>
            </a:r>
            <a:r>
              <a:rPr lang="vi-VN" altLang="en-US" dirty="0">
                <a:solidFill>
                  <a:srgbClr val="212121"/>
                </a:solidFill>
                <a:latin typeface="inherit"/>
              </a:rPr>
              <a:t>cụ như đồ thị v</a:t>
            </a:r>
            <a:r>
              <a:rPr lang="vi-VN" altLang="en-US" dirty="0">
                <a:solidFill>
                  <a:srgbClr val="212121"/>
                </a:solidFill>
              </a:rPr>
              <a:t>à</a:t>
            </a:r>
            <a:r>
              <a:rPr lang="vi-VN" altLang="en-US" dirty="0">
                <a:solidFill>
                  <a:srgbClr val="212121"/>
                </a:solidFill>
                <a:latin typeface="inherit"/>
              </a:rPr>
              <a:t> </a:t>
            </a:r>
            <a:r>
              <a:rPr lang="en-US" altLang="en-US" dirty="0" err="1">
                <a:solidFill>
                  <a:srgbClr val="212121"/>
                </a:solidFill>
                <a:latin typeface="inherit"/>
              </a:rPr>
              <a:t>số</a:t>
            </a:r>
            <a:r>
              <a:rPr lang="en-US" altLang="en-US" dirty="0">
                <a:solidFill>
                  <a:srgbClr val="212121"/>
                </a:solidFill>
                <a:latin typeface="inherit"/>
              </a:rPr>
              <a:t> </a:t>
            </a:r>
            <a:r>
              <a:rPr lang="en-US" altLang="en-US" dirty="0" err="1">
                <a:solidFill>
                  <a:srgbClr val="212121"/>
                </a:solidFill>
                <a:latin typeface="inherit"/>
              </a:rPr>
              <a:t>liệu</a:t>
            </a:r>
            <a:r>
              <a:rPr lang="en-US" altLang="en-US" dirty="0">
                <a:solidFill>
                  <a:srgbClr val="212121"/>
                </a:solidFill>
                <a:latin typeface="inherit"/>
              </a:rPr>
              <a:t> </a:t>
            </a:r>
            <a:r>
              <a:rPr lang="vi-VN" altLang="en-US" dirty="0">
                <a:solidFill>
                  <a:srgbClr val="212121"/>
                </a:solidFill>
                <a:latin typeface="inherit"/>
              </a:rPr>
              <a:t>thống kê chẳng hạn như</a:t>
            </a:r>
            <a:r>
              <a:rPr lang="en-US" altLang="en-US" dirty="0">
                <a:solidFill>
                  <a:srgbClr val="212121"/>
                </a:solidFill>
                <a:latin typeface="inherit"/>
              </a:rPr>
              <a:t> </a:t>
            </a:r>
            <a:r>
              <a:rPr lang="en-US" altLang="en-US" dirty="0" err="1">
                <a:solidFill>
                  <a:srgbClr val="212121"/>
                </a:solidFill>
                <a:latin typeface="inherit"/>
              </a:rPr>
              <a:t>giá</a:t>
            </a:r>
            <a:r>
              <a:rPr lang="en-US" altLang="en-US" dirty="0">
                <a:solidFill>
                  <a:srgbClr val="212121"/>
                </a:solidFill>
                <a:latin typeface="inherit"/>
              </a:rPr>
              <a:t> </a:t>
            </a:r>
            <a:r>
              <a:rPr lang="en-US" altLang="en-US" dirty="0" err="1">
                <a:solidFill>
                  <a:srgbClr val="212121"/>
                </a:solidFill>
                <a:latin typeface="inherit"/>
              </a:rPr>
              <a:t>trị</a:t>
            </a:r>
            <a:r>
              <a:rPr lang="vi-VN" altLang="en-US" dirty="0">
                <a:solidFill>
                  <a:srgbClr val="212121"/>
                </a:solidFill>
                <a:latin typeface="inherit"/>
              </a:rPr>
              <a:t> trung b</a:t>
            </a:r>
            <a:r>
              <a:rPr lang="vi-VN" altLang="en-US" dirty="0">
                <a:solidFill>
                  <a:srgbClr val="212121"/>
                </a:solidFill>
              </a:rPr>
              <a:t>ì</a:t>
            </a:r>
            <a:r>
              <a:rPr lang="vi-VN" altLang="en-US" dirty="0">
                <a:solidFill>
                  <a:srgbClr val="212121"/>
                </a:solidFill>
                <a:latin typeface="inherit"/>
              </a:rPr>
              <a:t>nh v</a:t>
            </a:r>
            <a:r>
              <a:rPr lang="vi-VN" altLang="en-US" dirty="0">
                <a:solidFill>
                  <a:srgbClr val="212121"/>
                </a:solidFill>
              </a:rPr>
              <a:t>à</a:t>
            </a:r>
            <a:r>
              <a:rPr lang="vi-VN" altLang="en-US" dirty="0">
                <a:solidFill>
                  <a:srgbClr val="212121"/>
                </a:solidFill>
                <a:latin typeface="inherit"/>
              </a:rPr>
              <a:t> độ lệch chuẩn</a:t>
            </a:r>
            <a:r>
              <a:rPr lang="en-US" altLang="en-US" b="1" dirty="0"/>
              <a:t>.</a:t>
            </a:r>
            <a:endParaRPr lang="en-US" altLang="en-US" dirty="0"/>
          </a:p>
          <a:p>
            <a:pPr marL="457200" indent="-457200">
              <a:lnSpc>
                <a:spcPct val="95000"/>
              </a:lnSpc>
              <a:spcBef>
                <a:spcPct val="0"/>
              </a:spcBef>
              <a:spcAft>
                <a:spcPct val="35000"/>
              </a:spcAft>
              <a:defRPr/>
            </a:pPr>
            <a:r>
              <a:rPr lang="vi-VN" altLang="en-US" dirty="0">
                <a:solidFill>
                  <a:srgbClr val="FF0000"/>
                </a:solidFill>
                <a:latin typeface="inherit"/>
              </a:rPr>
              <a:t>Chương 6</a:t>
            </a:r>
            <a:r>
              <a:rPr lang="vi-VN" altLang="en-US" dirty="0">
                <a:solidFill>
                  <a:srgbClr val="212121"/>
                </a:solidFill>
                <a:latin typeface="inherit"/>
              </a:rPr>
              <a:t> ch</a:t>
            </a:r>
            <a:r>
              <a:rPr lang="vi-VN" altLang="en-US" dirty="0">
                <a:solidFill>
                  <a:srgbClr val="212121"/>
                </a:solidFill>
              </a:rPr>
              <a:t>ú</a:t>
            </a:r>
            <a:r>
              <a:rPr lang="vi-VN" altLang="en-US" dirty="0">
                <a:solidFill>
                  <a:srgbClr val="212121"/>
                </a:solidFill>
                <a:latin typeface="inherit"/>
              </a:rPr>
              <a:t>ng t</a:t>
            </a:r>
            <a:r>
              <a:rPr lang="en-US" altLang="en-US" dirty="0">
                <a:solidFill>
                  <a:srgbClr val="212121"/>
                </a:solidFill>
                <a:latin typeface="inherit"/>
              </a:rPr>
              <a:t>a</a:t>
            </a:r>
            <a:r>
              <a:rPr lang="vi-VN" altLang="en-US" dirty="0">
                <a:solidFill>
                  <a:srgbClr val="212121"/>
                </a:solidFill>
                <a:latin typeface="inherit"/>
              </a:rPr>
              <a:t> giới thiệu c</a:t>
            </a:r>
            <a:r>
              <a:rPr lang="vi-VN" altLang="en-US" dirty="0">
                <a:solidFill>
                  <a:srgbClr val="212121"/>
                </a:solidFill>
              </a:rPr>
              <a:t>á</a:t>
            </a:r>
            <a:r>
              <a:rPr lang="vi-VN" altLang="en-US" dirty="0">
                <a:solidFill>
                  <a:srgbClr val="212121"/>
                </a:solidFill>
                <a:latin typeface="inherit"/>
              </a:rPr>
              <a:t>c </a:t>
            </a:r>
            <a:r>
              <a:rPr lang="en-US" altLang="en-US" dirty="0">
                <a:solidFill>
                  <a:srgbClr val="FF0000"/>
                </a:solidFill>
                <a:latin typeface="inherit"/>
              </a:rPr>
              <a:t>critical value</a:t>
            </a:r>
            <a:r>
              <a:rPr lang="en-US" altLang="en-US" dirty="0">
                <a:solidFill>
                  <a:srgbClr val="FF0000"/>
                </a:solidFill>
              </a:rPr>
              <a:t>:</a:t>
            </a:r>
          </a:p>
          <a:p>
            <a:pPr marL="457200" indent="-457200">
              <a:lnSpc>
                <a:spcPct val="95000"/>
              </a:lnSpc>
              <a:spcBef>
                <a:spcPct val="0"/>
              </a:spcBef>
              <a:spcAft>
                <a:spcPct val="35000"/>
              </a:spcAft>
              <a:buFontTx/>
              <a:buNone/>
              <a:defRPr/>
            </a:pPr>
            <a:r>
              <a:rPr lang="en-US" altLang="en-US" i="1" dirty="0"/>
              <a:t>	z</a:t>
            </a:r>
            <a:r>
              <a:rPr lang="el-GR" altLang="en-US" i="1" baseline="-25000" dirty="0"/>
              <a:t>α</a:t>
            </a:r>
            <a:r>
              <a:rPr lang="en-US" altLang="en-US" i="1" dirty="0"/>
              <a:t> </a:t>
            </a:r>
            <a:r>
              <a:rPr lang="en-US" altLang="en-US" dirty="0" err="1"/>
              <a:t>biểu</a:t>
            </a:r>
            <a:r>
              <a:rPr lang="en-US" altLang="en-US" dirty="0"/>
              <a:t> </a:t>
            </a:r>
            <a:r>
              <a:rPr lang="en-US" altLang="en-US" dirty="0" err="1"/>
              <a:t>thị</a:t>
            </a:r>
            <a:r>
              <a:rPr lang="en-US" altLang="en-US" dirty="0"/>
              <a:t> </a:t>
            </a:r>
            <a:r>
              <a:rPr lang="en-US" altLang="en-US" dirty="0" err="1"/>
              <a:t>điểm</a:t>
            </a:r>
            <a:r>
              <a:rPr lang="en-US" altLang="en-US" dirty="0"/>
              <a:t> z </a:t>
            </a:r>
            <a:r>
              <a:rPr lang="en-US" altLang="en-US" dirty="0" err="1"/>
              <a:t>với</a:t>
            </a:r>
            <a:r>
              <a:rPr lang="en-US" altLang="en-US" dirty="0"/>
              <a:t> </a:t>
            </a:r>
            <a:r>
              <a:rPr lang="en-US" altLang="en-US" dirty="0" err="1"/>
              <a:t>diện</a:t>
            </a:r>
            <a:r>
              <a:rPr lang="en-US" altLang="en-US" dirty="0"/>
              <a:t> </a:t>
            </a:r>
            <a:r>
              <a:rPr lang="en-US" altLang="en-US" dirty="0" err="1"/>
              <a:t>tích</a:t>
            </a:r>
            <a:r>
              <a:rPr lang="en-US" altLang="en-US" dirty="0"/>
              <a:t> </a:t>
            </a:r>
            <a:r>
              <a:rPr lang="el-GR" altLang="en-US" dirty="0"/>
              <a:t>α </a:t>
            </a:r>
            <a:r>
              <a:rPr lang="en-US" altLang="en-US" dirty="0"/>
              <a:t>ở </a:t>
            </a:r>
            <a:r>
              <a:rPr lang="en-US" altLang="en-US" dirty="0" err="1"/>
              <a:t>bên</a:t>
            </a:r>
            <a:r>
              <a:rPr lang="en-US" altLang="en-US" dirty="0"/>
              <a:t> </a:t>
            </a:r>
            <a:r>
              <a:rPr lang="en-US" altLang="en-US" dirty="0" err="1"/>
              <a:t>phải</a:t>
            </a:r>
            <a:r>
              <a:rPr lang="en-US" altLang="en-US" dirty="0"/>
              <a:t>.</a:t>
            </a:r>
          </a:p>
          <a:p>
            <a:pPr>
              <a:lnSpc>
                <a:spcPct val="95000"/>
              </a:lnSpc>
              <a:spcBef>
                <a:spcPct val="0"/>
              </a:spcBef>
              <a:spcAft>
                <a:spcPct val="35000"/>
              </a:spcAft>
              <a:defRPr/>
            </a:pPr>
            <a:r>
              <a:rPr lang="en-US" altLang="en-US" dirty="0"/>
              <a:t>  </a:t>
            </a:r>
            <a:r>
              <a:rPr lang="en-US" altLang="en-US" dirty="0" err="1"/>
              <a:t>Nếu</a:t>
            </a:r>
            <a:r>
              <a:rPr lang="en-US" altLang="en-US" dirty="0"/>
              <a:t> </a:t>
            </a:r>
            <a:r>
              <a:rPr lang="el-GR" altLang="en-US" i="1" dirty="0"/>
              <a:t>α</a:t>
            </a:r>
            <a:r>
              <a:rPr lang="en-US" altLang="en-US" dirty="0"/>
              <a:t> = 0.025, </a:t>
            </a:r>
            <a:r>
              <a:rPr lang="en-US" altLang="en-US" dirty="0" err="1"/>
              <a:t>thì</a:t>
            </a:r>
            <a:r>
              <a:rPr lang="en-US" altLang="en-US" dirty="0"/>
              <a:t> </a:t>
            </a:r>
            <a:r>
              <a:rPr lang="en-US" altLang="en-US" dirty="0" err="1"/>
              <a:t>giá</a:t>
            </a:r>
            <a:r>
              <a:rPr lang="en-US" altLang="en-US" dirty="0"/>
              <a:t> </a:t>
            </a:r>
            <a:r>
              <a:rPr lang="en-US" altLang="en-US" dirty="0" err="1"/>
              <a:t>trị</a:t>
            </a:r>
            <a:r>
              <a:rPr lang="en-US" altLang="en-US" dirty="0"/>
              <a:t> </a:t>
            </a:r>
            <a:r>
              <a:rPr lang="en-US" altLang="en-US" b="1" dirty="0"/>
              <a:t>critical value </a:t>
            </a:r>
            <a:r>
              <a:rPr lang="en-US" altLang="en-US" dirty="0" err="1"/>
              <a:t>là</a:t>
            </a:r>
            <a:r>
              <a:rPr lang="en-US" altLang="en-US" dirty="0"/>
              <a:t> </a:t>
            </a:r>
            <a:r>
              <a:rPr lang="en-US" altLang="en-US" i="1" dirty="0" err="1"/>
              <a:t>z</a:t>
            </a:r>
            <a:r>
              <a:rPr lang="en-US" altLang="en-US" baseline="-25000" dirty="0" err="1"/>
              <a:t>0.025</a:t>
            </a:r>
            <a:r>
              <a:rPr lang="en-US" altLang="en-US" dirty="0"/>
              <a:t> = 1.96.</a:t>
            </a:r>
          </a:p>
          <a:p>
            <a:pPr>
              <a:lnSpc>
                <a:spcPct val="95000"/>
              </a:lnSpc>
              <a:spcBef>
                <a:spcPct val="0"/>
              </a:spcBef>
              <a:spcAft>
                <a:spcPct val="35000"/>
              </a:spcAft>
              <a:defRPr/>
            </a:pPr>
            <a:r>
              <a:rPr lang="en-US" altLang="en-US" dirty="0"/>
              <a:t>  </a:t>
            </a:r>
            <a:r>
              <a:rPr lang="en-US" altLang="en-US" dirty="0" err="1"/>
              <a:t>Nghĩa</a:t>
            </a:r>
            <a:r>
              <a:rPr lang="en-US" altLang="en-US" dirty="0"/>
              <a:t> </a:t>
            </a:r>
            <a:r>
              <a:rPr lang="en-US" altLang="en-US" dirty="0" err="1"/>
              <a:t>là</a:t>
            </a:r>
            <a:r>
              <a:rPr lang="en-US" altLang="en-US" dirty="0"/>
              <a:t>, critical value </a:t>
            </a:r>
            <a:r>
              <a:rPr lang="en-US" altLang="en-US" i="1" dirty="0" err="1"/>
              <a:t>z</a:t>
            </a:r>
            <a:r>
              <a:rPr lang="en-US" altLang="en-US" baseline="-25000" dirty="0" err="1"/>
              <a:t>0.025</a:t>
            </a:r>
            <a:r>
              <a:rPr lang="en-US" altLang="en-US" dirty="0"/>
              <a:t> = 1.96 </a:t>
            </a:r>
            <a:r>
              <a:rPr lang="en-US" altLang="en-US" dirty="0" err="1"/>
              <a:t>có</a:t>
            </a:r>
            <a:r>
              <a:rPr lang="en-US" altLang="en-US" dirty="0"/>
              <a:t> </a:t>
            </a:r>
            <a:r>
              <a:rPr lang="en-US" altLang="en-US" dirty="0" err="1"/>
              <a:t>diện</a:t>
            </a:r>
            <a:r>
              <a:rPr lang="en-US" altLang="en-US" dirty="0"/>
              <a:t> </a:t>
            </a:r>
            <a:r>
              <a:rPr lang="en-US" altLang="en-US" dirty="0" err="1"/>
              <a:t>tích</a:t>
            </a:r>
            <a:r>
              <a:rPr lang="en-US" altLang="en-US" dirty="0"/>
              <a:t> </a:t>
            </a:r>
            <a:r>
              <a:rPr lang="en-US" altLang="en-US" dirty="0" err="1"/>
              <a:t>phần</a:t>
            </a:r>
            <a:r>
              <a:rPr lang="en-US" altLang="en-US" dirty="0"/>
              <a:t>   </a:t>
            </a:r>
          </a:p>
          <a:p>
            <a:pPr marL="0" indent="0">
              <a:lnSpc>
                <a:spcPct val="95000"/>
              </a:lnSpc>
              <a:spcBef>
                <a:spcPct val="0"/>
              </a:spcBef>
              <a:spcAft>
                <a:spcPct val="35000"/>
              </a:spcAft>
              <a:buFontTx/>
              <a:buNone/>
              <a:defRPr/>
            </a:pPr>
            <a:r>
              <a:rPr lang="en-US" altLang="en-US" dirty="0"/>
              <a:t>     </a:t>
            </a:r>
            <a:r>
              <a:rPr lang="en-US" altLang="en-US" dirty="0" err="1"/>
              <a:t>bên</a:t>
            </a:r>
            <a:r>
              <a:rPr lang="en-US" altLang="en-US" dirty="0"/>
              <a:t> </a:t>
            </a:r>
            <a:r>
              <a:rPr lang="en-US" altLang="en-US" dirty="0" err="1"/>
              <a:t>phải</a:t>
            </a:r>
            <a:r>
              <a:rPr lang="en-US" altLang="en-US" dirty="0"/>
              <a:t> </a:t>
            </a:r>
            <a:r>
              <a:rPr lang="en-US" altLang="en-US" dirty="0" err="1"/>
              <a:t>là</a:t>
            </a:r>
            <a:r>
              <a:rPr lang="en-US" altLang="en-US" dirty="0"/>
              <a:t> 0.025</a:t>
            </a:r>
          </a:p>
        </p:txBody>
      </p:sp>
      <p:sp>
        <p:nvSpPr>
          <p:cNvPr id="6148" name="Rectangle 4"/>
          <p:cNvSpPr>
            <a:spLocks noChangeArrowheads="1"/>
          </p:cNvSpPr>
          <p:nvPr/>
        </p:nvSpPr>
        <p:spPr bwMode="auto">
          <a:xfrm>
            <a:off x="261938" y="4335463"/>
            <a:ext cx="8686800"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927100" y="373062"/>
            <a:ext cx="7226300" cy="8461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r>
              <a:rPr lang="en-US" altLang="en-US" b="1" dirty="0" err="1"/>
              <a:t>Giới</a:t>
            </a:r>
            <a:r>
              <a:rPr lang="en-US" altLang="en-US" b="1" dirty="0"/>
              <a:t> </a:t>
            </a:r>
            <a:r>
              <a:rPr lang="en-US" altLang="en-US" b="1" dirty="0" err="1"/>
              <a:t>thiệu</a:t>
            </a:r>
            <a:r>
              <a:rPr lang="en-US" altLang="en-US" b="1" dirty="0"/>
              <a:t>  </a:t>
            </a:r>
          </a:p>
        </p:txBody>
      </p:sp>
      <p:sp>
        <p:nvSpPr>
          <p:cNvPr id="8195" name="Rectangle 3"/>
          <p:cNvSpPr>
            <a:spLocks noGrp="1" noChangeArrowheads="1"/>
          </p:cNvSpPr>
          <p:nvPr>
            <p:ph idx="1"/>
          </p:nvPr>
        </p:nvSpPr>
        <p:spPr bwMode="auto">
          <a:xfrm>
            <a:off x="0" y="1828800"/>
            <a:ext cx="9144000" cy="4498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marL="457200" indent="-457200">
              <a:lnSpc>
                <a:spcPct val="85000"/>
              </a:lnSpc>
              <a:spcBef>
                <a:spcPct val="0"/>
              </a:spcBef>
              <a:spcAft>
                <a:spcPct val="35000"/>
              </a:spcAft>
            </a:pPr>
            <a:r>
              <a:rPr lang="vi-VN" altLang="en-US" dirty="0"/>
              <a:t>Hai </a:t>
            </a:r>
            <a:r>
              <a:rPr lang="en-US" altLang="en-US" dirty="0" err="1"/>
              <a:t>vấn</a:t>
            </a:r>
            <a:r>
              <a:rPr lang="en-US" altLang="en-US" dirty="0"/>
              <a:t> </a:t>
            </a:r>
            <a:r>
              <a:rPr lang="en-US" altLang="en-US" dirty="0" err="1"/>
              <a:t>đề</a:t>
            </a:r>
            <a:r>
              <a:rPr lang="en-US" altLang="en-US" dirty="0"/>
              <a:t> </a:t>
            </a:r>
            <a:r>
              <a:rPr lang="vi-VN" altLang="en-US" dirty="0"/>
              <a:t> chính của </a:t>
            </a:r>
            <a:r>
              <a:rPr lang="en-US" altLang="en-US" dirty="0" err="1"/>
              <a:t>thống</a:t>
            </a:r>
            <a:r>
              <a:rPr lang="en-US" altLang="en-US" dirty="0"/>
              <a:t> </a:t>
            </a:r>
            <a:r>
              <a:rPr lang="en-US" altLang="en-US" dirty="0" err="1"/>
              <a:t>kê</a:t>
            </a:r>
            <a:r>
              <a:rPr lang="en-US" altLang="en-US" dirty="0"/>
              <a:t> </a:t>
            </a:r>
            <a:r>
              <a:rPr lang="en-US" altLang="en-US" dirty="0" err="1"/>
              <a:t>suy</a:t>
            </a:r>
            <a:r>
              <a:rPr lang="en-US" altLang="en-US" dirty="0"/>
              <a:t> </a:t>
            </a:r>
            <a:r>
              <a:rPr lang="en-US" altLang="en-US" dirty="0" err="1"/>
              <a:t>diễn</a:t>
            </a:r>
            <a:r>
              <a:rPr lang="en-US" altLang="en-US" dirty="0"/>
              <a:t> </a:t>
            </a:r>
            <a:r>
              <a:rPr lang="vi-VN" altLang="en-US" dirty="0"/>
              <a:t>là </a:t>
            </a:r>
            <a:endParaRPr lang="en-US" altLang="en-US" dirty="0"/>
          </a:p>
          <a:p>
            <a:pPr marL="857250" lvl="1" indent="-457200">
              <a:lnSpc>
                <a:spcPct val="85000"/>
              </a:lnSpc>
              <a:spcBef>
                <a:spcPct val="0"/>
              </a:spcBef>
              <a:spcAft>
                <a:spcPct val="35000"/>
              </a:spcAft>
            </a:pPr>
            <a:r>
              <a:rPr lang="vi-VN" altLang="en-US" sz="2400" dirty="0"/>
              <a:t>(1) sử dụng dữ liệu mẫu để </a:t>
            </a:r>
            <a:r>
              <a:rPr lang="vi-VN" altLang="en-US" sz="2400" dirty="0">
                <a:solidFill>
                  <a:srgbClr val="FF0000"/>
                </a:solidFill>
              </a:rPr>
              <a:t>ướ</a:t>
            </a:r>
            <a:r>
              <a:rPr lang="en-US" altLang="en-US" sz="2400" dirty="0">
                <a:solidFill>
                  <a:srgbClr val="FF0000"/>
                </a:solidFill>
              </a:rPr>
              <a:t>c </a:t>
            </a:r>
            <a:r>
              <a:rPr lang="en-US" altLang="en-US" sz="2400" dirty="0" err="1">
                <a:solidFill>
                  <a:srgbClr val="FF0000"/>
                </a:solidFill>
              </a:rPr>
              <a:t>lượng</a:t>
            </a:r>
            <a:r>
              <a:rPr lang="vi-VN" altLang="en-US" sz="2400" dirty="0">
                <a:solidFill>
                  <a:srgbClr val="FF0000"/>
                </a:solidFill>
              </a:rPr>
              <a:t> </a:t>
            </a:r>
            <a:r>
              <a:rPr lang="en-US" altLang="en-US" sz="2400" dirty="0" err="1">
                <a:solidFill>
                  <a:srgbClr val="FF0000"/>
                </a:solidFill>
              </a:rPr>
              <a:t>các</a:t>
            </a:r>
            <a:r>
              <a:rPr lang="en-US" altLang="en-US" sz="2400" dirty="0">
                <a:solidFill>
                  <a:srgbClr val="FF0000"/>
                </a:solidFill>
              </a:rPr>
              <a:t> </a:t>
            </a:r>
            <a:r>
              <a:rPr lang="vi-VN" altLang="en-US" sz="2400" dirty="0">
                <a:solidFill>
                  <a:srgbClr val="FF0000"/>
                </a:solidFill>
              </a:rPr>
              <a:t>giá trị của tham số </a:t>
            </a:r>
            <a:r>
              <a:rPr lang="en-US" altLang="en-US" sz="2400" dirty="0" err="1">
                <a:solidFill>
                  <a:srgbClr val="FF0000"/>
                </a:solidFill>
              </a:rPr>
              <a:t>quần</a:t>
            </a:r>
            <a:r>
              <a:rPr lang="en-US" altLang="en-US" sz="2400" dirty="0">
                <a:solidFill>
                  <a:srgbClr val="FF0000"/>
                </a:solidFill>
              </a:rPr>
              <a:t> </a:t>
            </a:r>
            <a:r>
              <a:rPr lang="en-US" altLang="en-US" sz="2400" dirty="0" err="1">
                <a:solidFill>
                  <a:srgbClr val="FF0000"/>
                </a:solidFill>
              </a:rPr>
              <a:t>thể</a:t>
            </a:r>
            <a:r>
              <a:rPr lang="en-US" altLang="en-US" sz="2400" dirty="0">
                <a:solidFill>
                  <a:srgbClr val="FF0000"/>
                </a:solidFill>
              </a:rPr>
              <a:t>.</a:t>
            </a:r>
          </a:p>
          <a:p>
            <a:pPr marL="857250" lvl="1" indent="-457200">
              <a:lnSpc>
                <a:spcPct val="85000"/>
              </a:lnSpc>
              <a:spcBef>
                <a:spcPct val="0"/>
              </a:spcBef>
              <a:spcAft>
                <a:spcPct val="35000"/>
              </a:spcAft>
            </a:pPr>
            <a:r>
              <a:rPr lang="vi-VN" altLang="en-US" sz="2400" dirty="0"/>
              <a:t>(2) để </a:t>
            </a:r>
            <a:r>
              <a:rPr lang="vi-VN" altLang="en-US" sz="2400" dirty="0">
                <a:solidFill>
                  <a:srgbClr val="FF0000"/>
                </a:solidFill>
              </a:rPr>
              <a:t>kiểm </a:t>
            </a:r>
            <a:r>
              <a:rPr lang="en-US" altLang="en-US" sz="2400" dirty="0" err="1">
                <a:solidFill>
                  <a:srgbClr val="FF0000"/>
                </a:solidFill>
              </a:rPr>
              <a:t>định</a:t>
            </a:r>
            <a:r>
              <a:rPr lang="vi-VN" altLang="en-US" sz="2400" dirty="0">
                <a:solidFill>
                  <a:srgbClr val="FF0000"/>
                </a:solidFill>
              </a:rPr>
              <a:t> giả thuyết </a:t>
            </a:r>
            <a:r>
              <a:rPr lang="vi-VN" altLang="en-US" sz="2400" dirty="0"/>
              <a:t>hoặc</a:t>
            </a:r>
            <a:r>
              <a:rPr lang="en-US" altLang="en-US" sz="2400" dirty="0"/>
              <a:t> </a:t>
            </a:r>
            <a:r>
              <a:rPr lang="en-US" altLang="en-US" sz="2400" dirty="0" err="1"/>
              <a:t>đưa</a:t>
            </a:r>
            <a:r>
              <a:rPr lang="en-US" altLang="en-US" sz="2400" dirty="0"/>
              <a:t> </a:t>
            </a:r>
            <a:r>
              <a:rPr lang="en-US" altLang="en-US" sz="2400" dirty="0" err="1"/>
              <a:t>ra</a:t>
            </a:r>
            <a:r>
              <a:rPr lang="en-US" altLang="en-US" sz="2400" dirty="0"/>
              <a:t> </a:t>
            </a:r>
            <a:r>
              <a:rPr lang="en-US" altLang="en-US" sz="2400" dirty="0" err="1"/>
              <a:t>các</a:t>
            </a:r>
            <a:r>
              <a:rPr lang="en-US" altLang="en-US" sz="2400" dirty="0"/>
              <a:t> </a:t>
            </a:r>
            <a:r>
              <a:rPr lang="en-US" altLang="en-US" sz="2400" dirty="0" err="1"/>
              <a:t>phát</a:t>
            </a:r>
            <a:r>
              <a:rPr lang="en-US" altLang="en-US" sz="2400" dirty="0"/>
              <a:t> </a:t>
            </a:r>
            <a:r>
              <a:rPr lang="en-US" altLang="en-US" sz="2400" dirty="0" err="1"/>
              <a:t>biểu</a:t>
            </a:r>
            <a:r>
              <a:rPr lang="vi-VN" altLang="en-US" sz="2400" dirty="0"/>
              <a:t> về các tham số </a:t>
            </a:r>
            <a:r>
              <a:rPr lang="en-US" altLang="en-US" sz="2400" dirty="0" err="1"/>
              <a:t>quần</a:t>
            </a:r>
            <a:r>
              <a:rPr lang="en-US" altLang="en-US" sz="2400" dirty="0"/>
              <a:t> </a:t>
            </a:r>
            <a:r>
              <a:rPr lang="en-US" altLang="en-US" sz="2400" dirty="0" err="1"/>
              <a:t>thể</a:t>
            </a:r>
            <a:r>
              <a:rPr lang="en-US" altLang="en-US" sz="2400" dirty="0"/>
              <a:t>.</a:t>
            </a:r>
          </a:p>
          <a:p>
            <a:pPr marL="457200" indent="-457200">
              <a:lnSpc>
                <a:spcPct val="85000"/>
              </a:lnSpc>
              <a:spcBef>
                <a:spcPct val="0"/>
              </a:spcBef>
              <a:spcAft>
                <a:spcPct val="35000"/>
              </a:spcAft>
            </a:pPr>
            <a:r>
              <a:rPr lang="vi-VN" altLang="en-US" dirty="0"/>
              <a:t>Chúng t</a:t>
            </a:r>
            <a:r>
              <a:rPr lang="en-US" altLang="en-US" dirty="0"/>
              <a:t>a</a:t>
            </a:r>
            <a:r>
              <a:rPr lang="vi-VN" altLang="en-US" dirty="0"/>
              <a:t> giới thiệu các phương pháp để ước </a:t>
            </a:r>
            <a:r>
              <a:rPr lang="en-US" altLang="en-US" dirty="0" err="1"/>
              <a:t>lượng</a:t>
            </a:r>
            <a:r>
              <a:rPr lang="en-US" altLang="en-US" dirty="0"/>
              <a:t> </a:t>
            </a:r>
            <a:r>
              <a:rPr lang="en-US" altLang="en-US" dirty="0" err="1"/>
              <a:t>các</a:t>
            </a:r>
            <a:r>
              <a:rPr lang="vi-VN" altLang="en-US" dirty="0"/>
              <a:t> giá trị </a:t>
            </a:r>
            <a:r>
              <a:rPr lang="en-US" altLang="en-US" dirty="0" err="1"/>
              <a:t>tham</a:t>
            </a:r>
            <a:r>
              <a:rPr lang="en-US" altLang="en-US" dirty="0"/>
              <a:t> </a:t>
            </a:r>
            <a:r>
              <a:rPr lang="en-US" altLang="en-US" dirty="0" err="1"/>
              <a:t>số</a:t>
            </a:r>
            <a:r>
              <a:rPr lang="en-US" altLang="en-US" dirty="0"/>
              <a:t> </a:t>
            </a:r>
            <a:r>
              <a:rPr lang="en-US" altLang="en-US" dirty="0" err="1"/>
              <a:t>trên</a:t>
            </a:r>
            <a:r>
              <a:rPr lang="en-US" altLang="en-US" dirty="0"/>
              <a:t> </a:t>
            </a:r>
            <a:r>
              <a:rPr lang="en-US" altLang="en-US" dirty="0" err="1"/>
              <a:t>quần</a:t>
            </a:r>
            <a:r>
              <a:rPr lang="en-US" altLang="en-US" dirty="0"/>
              <a:t> </a:t>
            </a:r>
            <a:r>
              <a:rPr lang="en-US" altLang="en-US" dirty="0" err="1"/>
              <a:t>thể</a:t>
            </a:r>
            <a:r>
              <a:rPr lang="vi-VN" altLang="en-US" dirty="0"/>
              <a:t> quan trọng sau: </a:t>
            </a:r>
            <a:r>
              <a:rPr lang="en-US" altLang="en-US" dirty="0" err="1">
                <a:solidFill>
                  <a:srgbClr val="FF0000"/>
                </a:solidFill>
              </a:rPr>
              <a:t>trung</a:t>
            </a:r>
            <a:r>
              <a:rPr lang="en-US" altLang="en-US" dirty="0">
                <a:solidFill>
                  <a:srgbClr val="FF0000"/>
                </a:solidFill>
              </a:rPr>
              <a:t> </a:t>
            </a:r>
            <a:r>
              <a:rPr lang="en-US" altLang="en-US" dirty="0" err="1">
                <a:solidFill>
                  <a:srgbClr val="FF0000"/>
                </a:solidFill>
              </a:rPr>
              <a:t>bình</a:t>
            </a:r>
            <a:r>
              <a:rPr lang="vi-VN" altLang="en-US" dirty="0">
                <a:solidFill>
                  <a:srgbClr val="FF0000"/>
                </a:solidFill>
              </a:rPr>
              <a:t> và</a:t>
            </a:r>
            <a:r>
              <a:rPr lang="en-US" altLang="en-US" dirty="0">
                <a:solidFill>
                  <a:srgbClr val="FF0000"/>
                </a:solidFill>
              </a:rPr>
              <a:t> </a:t>
            </a:r>
            <a:r>
              <a:rPr lang="en-US" altLang="en-US" dirty="0" err="1">
                <a:solidFill>
                  <a:srgbClr val="FF0000"/>
                </a:solidFill>
              </a:rPr>
              <a:t>tỉ</a:t>
            </a:r>
            <a:r>
              <a:rPr lang="en-US" altLang="en-US" dirty="0">
                <a:solidFill>
                  <a:srgbClr val="FF0000"/>
                </a:solidFill>
              </a:rPr>
              <a:t> </a:t>
            </a:r>
            <a:r>
              <a:rPr lang="en-US" altLang="en-US" dirty="0" err="1">
                <a:solidFill>
                  <a:srgbClr val="FF0000"/>
                </a:solidFill>
              </a:rPr>
              <a:t>lệ</a:t>
            </a:r>
            <a:r>
              <a:rPr lang="en-US" altLang="en-US" dirty="0">
                <a:solidFill>
                  <a:srgbClr val="FF0000"/>
                </a:solidFill>
              </a:rPr>
              <a:t>.</a:t>
            </a:r>
          </a:p>
          <a:p>
            <a:pPr marL="457200" indent="-457200">
              <a:lnSpc>
                <a:spcPct val="85000"/>
              </a:lnSpc>
              <a:spcBef>
                <a:spcPct val="0"/>
              </a:spcBef>
              <a:spcAft>
                <a:spcPct val="35000"/>
              </a:spcAft>
            </a:pPr>
            <a:r>
              <a:rPr lang="vi-VN" altLang="en-US" dirty="0"/>
              <a:t>Chúng t</a:t>
            </a:r>
            <a:r>
              <a:rPr lang="en-US" altLang="en-US" dirty="0"/>
              <a:t>a</a:t>
            </a:r>
            <a:r>
              <a:rPr lang="vi-VN" altLang="en-US" dirty="0"/>
              <a:t> cũng trình bày các phương pháp xác định </a:t>
            </a:r>
            <a:r>
              <a:rPr lang="vi-VN" altLang="en-US" dirty="0">
                <a:solidFill>
                  <a:srgbClr val="FF0000"/>
                </a:solidFill>
              </a:rPr>
              <a:t>kích thước mẫu </a:t>
            </a:r>
            <a:r>
              <a:rPr lang="vi-VN" altLang="en-US" dirty="0"/>
              <a:t>cần thiết để ước tính các thông số đó</a:t>
            </a:r>
            <a:r>
              <a:rPr lang="en-US" altLang="en-US" dirty="0"/>
              <a:t>.</a:t>
            </a:r>
          </a:p>
        </p:txBody>
      </p:sp>
      <p:sp>
        <p:nvSpPr>
          <p:cNvPr id="8196" name="Rectangle 4"/>
          <p:cNvSpPr>
            <a:spLocks noChangeArrowheads="1"/>
          </p:cNvSpPr>
          <p:nvPr/>
        </p:nvSpPr>
        <p:spPr bwMode="auto">
          <a:xfrm>
            <a:off x="261938" y="4335463"/>
            <a:ext cx="8686800"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8197" name="Rectangle 5"/>
          <p:cNvSpPr>
            <a:spLocks noChangeArrowheads="1"/>
          </p:cNvSpPr>
          <p:nvPr/>
        </p:nvSpPr>
        <p:spPr bwMode="auto">
          <a:xfrm>
            <a:off x="381001" y="935038"/>
            <a:ext cx="853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85000"/>
              </a:lnSpc>
              <a:spcBef>
                <a:spcPct val="30000"/>
              </a:spcBef>
              <a:spcAft>
                <a:spcPct val="45000"/>
              </a:spcAft>
            </a:pPr>
            <a:r>
              <a:rPr lang="en-US" altLang="en-US" sz="2800" b="0" dirty="0" err="1"/>
              <a:t>Chương</a:t>
            </a:r>
            <a:r>
              <a:rPr lang="en-US" altLang="en-US" sz="2800" b="0" dirty="0"/>
              <a:t> </a:t>
            </a:r>
            <a:r>
              <a:rPr lang="en-US" altLang="en-US" sz="2800" b="0" dirty="0" err="1"/>
              <a:t>này</a:t>
            </a:r>
            <a:r>
              <a:rPr lang="en-US" altLang="en-US" sz="2800" b="0" dirty="0"/>
              <a:t> </a:t>
            </a:r>
            <a:r>
              <a:rPr lang="en-US" altLang="en-US" sz="2800" b="0" dirty="0" err="1"/>
              <a:t>trình</a:t>
            </a:r>
            <a:r>
              <a:rPr lang="en-US" altLang="en-US" sz="2800" b="0" dirty="0"/>
              <a:t> </a:t>
            </a:r>
            <a:r>
              <a:rPr lang="en-US" altLang="en-US" sz="2800" b="0" dirty="0" err="1"/>
              <a:t>bày</a:t>
            </a:r>
            <a:r>
              <a:rPr lang="en-US" altLang="en-US" sz="2800" b="0" dirty="0"/>
              <a:t> </a:t>
            </a:r>
            <a:r>
              <a:rPr lang="en-US" altLang="en-US" sz="2800" b="0" dirty="0" err="1"/>
              <a:t>các</a:t>
            </a:r>
            <a:r>
              <a:rPr lang="en-US" altLang="en-US" sz="2800" b="0" dirty="0"/>
              <a:t> </a:t>
            </a:r>
            <a:r>
              <a:rPr lang="en-US" altLang="en-US" sz="2800" b="0" dirty="0" err="1"/>
              <a:t>khái</a:t>
            </a:r>
            <a:r>
              <a:rPr lang="en-US" altLang="en-US" sz="2800" b="0" dirty="0"/>
              <a:t> </a:t>
            </a:r>
            <a:r>
              <a:rPr lang="en-US" altLang="en-US" sz="2800" b="0" dirty="0" err="1"/>
              <a:t>niệm</a:t>
            </a:r>
            <a:r>
              <a:rPr lang="en-US" altLang="en-US" sz="2800" b="0" dirty="0"/>
              <a:t> </a:t>
            </a:r>
            <a:r>
              <a:rPr lang="en-US" altLang="en-US" sz="2800" b="0" dirty="0" err="1"/>
              <a:t>bắt</a:t>
            </a:r>
            <a:r>
              <a:rPr lang="en-US" altLang="en-US" sz="2800" b="0" dirty="0"/>
              <a:t> </a:t>
            </a:r>
            <a:r>
              <a:rPr lang="en-US" altLang="en-US" sz="2800" b="0" dirty="0" err="1"/>
              <a:t>đầu</a:t>
            </a:r>
            <a:r>
              <a:rPr lang="en-US" altLang="en-US" sz="2800" b="0" dirty="0"/>
              <a:t> </a:t>
            </a:r>
            <a:r>
              <a:rPr lang="en-US" altLang="en-US" sz="2800" b="0" dirty="0" err="1"/>
              <a:t>về</a:t>
            </a:r>
            <a:r>
              <a:rPr lang="en-US" altLang="en-US" sz="2800" b="0" dirty="0"/>
              <a:t> </a:t>
            </a:r>
            <a:r>
              <a:rPr lang="en-US" altLang="en-US" sz="2800" b="0" dirty="0" err="1">
                <a:solidFill>
                  <a:srgbClr val="FF0000"/>
                </a:solidFill>
              </a:rPr>
              <a:t>thống</a:t>
            </a:r>
            <a:r>
              <a:rPr lang="en-US" altLang="en-US" sz="2800" b="0" dirty="0">
                <a:solidFill>
                  <a:srgbClr val="FF0000"/>
                </a:solidFill>
              </a:rPr>
              <a:t> </a:t>
            </a:r>
            <a:r>
              <a:rPr lang="en-US" altLang="en-US" sz="2800" b="0" dirty="0" err="1">
                <a:solidFill>
                  <a:srgbClr val="FF0000"/>
                </a:solidFill>
              </a:rPr>
              <a:t>kê</a:t>
            </a:r>
            <a:r>
              <a:rPr lang="en-US" altLang="en-US" sz="2800" b="0" dirty="0">
                <a:solidFill>
                  <a:srgbClr val="FF0000"/>
                </a:solidFill>
              </a:rPr>
              <a:t> </a:t>
            </a:r>
            <a:r>
              <a:rPr lang="en-US" altLang="en-US" sz="2800" b="0" dirty="0" err="1">
                <a:solidFill>
                  <a:srgbClr val="FF0000"/>
                </a:solidFill>
              </a:rPr>
              <a:t>suy</a:t>
            </a:r>
            <a:r>
              <a:rPr lang="en-US" altLang="en-US" sz="2800" b="0" dirty="0">
                <a:solidFill>
                  <a:srgbClr val="FF0000"/>
                </a:solidFill>
              </a:rPr>
              <a:t> </a:t>
            </a:r>
            <a:r>
              <a:rPr lang="en-US" altLang="en-US" sz="2800" b="0" dirty="0" err="1">
                <a:solidFill>
                  <a:srgbClr val="FF0000"/>
                </a:solidFill>
              </a:rPr>
              <a:t>diễn</a:t>
            </a:r>
            <a:endParaRPr lang="en-US" altLang="en-US" sz="2800" b="0" dirty="0">
              <a:solidFill>
                <a:srgbClr val="FF000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927100" y="449262"/>
            <a:ext cx="7226300" cy="8461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r>
              <a:rPr lang="en-US" altLang="en-US" b="1"/>
              <a:t>Giới thiệu  </a:t>
            </a:r>
          </a:p>
        </p:txBody>
      </p:sp>
      <p:sp>
        <p:nvSpPr>
          <p:cNvPr id="8195" name="Rectangle 3"/>
          <p:cNvSpPr>
            <a:spLocks noGrp="1" noChangeArrowheads="1"/>
          </p:cNvSpPr>
          <p:nvPr>
            <p:ph idx="1"/>
          </p:nvPr>
        </p:nvSpPr>
        <p:spPr bwMode="auto">
          <a:xfrm>
            <a:off x="0" y="1828800"/>
            <a:ext cx="9144000" cy="44989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normAutofit lnSpcReduction="10000"/>
          </a:bodyPr>
          <a:lstStyle/>
          <a:p>
            <a:pPr marL="457200" indent="-457200">
              <a:lnSpc>
                <a:spcPct val="85000"/>
              </a:lnSpc>
              <a:spcBef>
                <a:spcPct val="0"/>
              </a:spcBef>
              <a:spcAft>
                <a:spcPct val="35000"/>
              </a:spcAft>
              <a:defRPr/>
            </a:pPr>
            <a:endParaRPr lang="en-US" altLang="en-US" dirty="0"/>
          </a:p>
          <a:p>
            <a:pPr marL="457200" indent="-457200">
              <a:lnSpc>
                <a:spcPct val="85000"/>
              </a:lnSpc>
              <a:spcBef>
                <a:spcPct val="0"/>
              </a:spcBef>
              <a:spcAft>
                <a:spcPct val="35000"/>
              </a:spcAft>
              <a:defRPr/>
            </a:pPr>
            <a:endParaRPr lang="en-US" altLang="en-US" dirty="0"/>
          </a:p>
          <a:p>
            <a:pPr marL="457200" indent="-457200">
              <a:lnSpc>
                <a:spcPct val="85000"/>
              </a:lnSpc>
              <a:spcBef>
                <a:spcPct val="0"/>
              </a:spcBef>
              <a:spcAft>
                <a:spcPct val="35000"/>
              </a:spcAft>
              <a:defRPr/>
            </a:pPr>
            <a:endParaRPr lang="en-US" altLang="en-US" dirty="0"/>
          </a:p>
          <a:p>
            <a:pPr marL="457200" indent="-457200">
              <a:lnSpc>
                <a:spcPct val="85000"/>
              </a:lnSpc>
              <a:spcBef>
                <a:spcPct val="0"/>
              </a:spcBef>
              <a:spcAft>
                <a:spcPct val="35000"/>
              </a:spcAft>
              <a:defRPr/>
            </a:pPr>
            <a:endParaRPr lang="en-US" altLang="en-US" dirty="0"/>
          </a:p>
          <a:p>
            <a:pPr marL="457200" indent="-457200">
              <a:lnSpc>
                <a:spcPct val="85000"/>
              </a:lnSpc>
              <a:spcBef>
                <a:spcPct val="0"/>
              </a:spcBef>
              <a:spcAft>
                <a:spcPct val="35000"/>
              </a:spcAft>
              <a:defRPr/>
            </a:pPr>
            <a:endParaRPr lang="en-US" altLang="en-US" dirty="0"/>
          </a:p>
          <a:p>
            <a:pPr marL="0" indent="0">
              <a:lnSpc>
                <a:spcPct val="85000"/>
              </a:lnSpc>
              <a:spcBef>
                <a:spcPct val="0"/>
              </a:spcBef>
              <a:spcAft>
                <a:spcPct val="35000"/>
              </a:spcAft>
              <a:buFontTx/>
              <a:buNone/>
              <a:defRPr/>
            </a:pPr>
            <a:endParaRPr lang="en-US" altLang="en-US" dirty="0"/>
          </a:p>
          <a:p>
            <a:pPr marL="658368" lvl="1" indent="-246888" algn="just" eaLnBrk="1" fontAlgn="auto" hangingPunct="1">
              <a:spcAft>
                <a:spcPts val="0"/>
              </a:spcAft>
              <a:buFont typeface="Georgia"/>
              <a:buChar char="▫"/>
              <a:defRPr/>
            </a:pPr>
            <a:r>
              <a:rPr lang="en-US" sz="2250" dirty="0" err="1">
                <a:solidFill>
                  <a:srgbClr val="FF0000"/>
                </a:solidFill>
              </a:rPr>
              <a:t>Ước</a:t>
            </a:r>
            <a:r>
              <a:rPr lang="en-US" sz="2250" dirty="0">
                <a:solidFill>
                  <a:srgbClr val="FF0000"/>
                </a:solidFill>
              </a:rPr>
              <a:t> </a:t>
            </a:r>
            <a:r>
              <a:rPr lang="en-US" sz="2250" dirty="0" err="1">
                <a:solidFill>
                  <a:srgbClr val="FF0000"/>
                </a:solidFill>
              </a:rPr>
              <a:t>lượng</a:t>
            </a:r>
            <a:r>
              <a:rPr lang="en-US" sz="2250" dirty="0">
                <a:solidFill>
                  <a:srgbClr val="FF0000"/>
                </a:solidFill>
              </a:rPr>
              <a:t> </a:t>
            </a:r>
            <a:r>
              <a:rPr lang="en-US" sz="2250" dirty="0" err="1">
                <a:solidFill>
                  <a:srgbClr val="FF0000"/>
                </a:solidFill>
              </a:rPr>
              <a:t>điểm</a:t>
            </a:r>
            <a:r>
              <a:rPr lang="en-US" sz="2250" dirty="0">
                <a:solidFill>
                  <a:srgbClr val="FF0000"/>
                </a:solidFill>
              </a:rPr>
              <a:t> </a:t>
            </a:r>
            <a:r>
              <a:rPr lang="en-US" sz="2250" dirty="0"/>
              <a:t>(point estimation): </a:t>
            </a:r>
            <a:r>
              <a:rPr lang="en-US" sz="2250" dirty="0" err="1"/>
              <a:t>xác</a:t>
            </a:r>
            <a:r>
              <a:rPr lang="en-US" sz="2250" dirty="0"/>
              <a:t> </a:t>
            </a:r>
            <a:r>
              <a:rPr lang="en-US" sz="2250" dirty="0" err="1"/>
              <a:t>định</a:t>
            </a:r>
            <a:r>
              <a:rPr lang="en-US" sz="2250" dirty="0"/>
              <a:t> </a:t>
            </a:r>
            <a:r>
              <a:rPr lang="en-US" sz="2250" dirty="0" err="1"/>
              <a:t>một</a:t>
            </a:r>
            <a:r>
              <a:rPr lang="en-US" sz="2250" dirty="0"/>
              <a:t> </a:t>
            </a:r>
            <a:r>
              <a:rPr lang="en-US" sz="2250" dirty="0" err="1"/>
              <a:t>giá</a:t>
            </a:r>
            <a:r>
              <a:rPr lang="en-US" sz="2250" dirty="0"/>
              <a:t> </a:t>
            </a:r>
            <a:r>
              <a:rPr lang="en-US" sz="2250" dirty="0" err="1"/>
              <a:t>trị</a:t>
            </a:r>
            <a:r>
              <a:rPr lang="en-US" sz="2250" dirty="0"/>
              <a:t> </a:t>
            </a:r>
            <a:r>
              <a:rPr lang="en-US" sz="2250" dirty="0" err="1"/>
              <a:t>số</a:t>
            </a:r>
            <a:r>
              <a:rPr lang="en-US" sz="2250" dirty="0"/>
              <a:t> </a:t>
            </a:r>
            <a:r>
              <a:rPr lang="en-US" sz="2250" dirty="0" err="1"/>
              <a:t>là</a:t>
            </a:r>
            <a:r>
              <a:rPr lang="en-US" sz="2250" dirty="0"/>
              <a:t> </a:t>
            </a:r>
            <a:r>
              <a:rPr lang="en-US" sz="2250" dirty="0" err="1"/>
              <a:t>giá</a:t>
            </a:r>
            <a:r>
              <a:rPr lang="en-US" sz="2250" dirty="0"/>
              <a:t> </a:t>
            </a:r>
            <a:r>
              <a:rPr lang="en-US" sz="2250" dirty="0" err="1"/>
              <a:t>trị</a:t>
            </a:r>
            <a:r>
              <a:rPr lang="en-US" sz="2250" dirty="0"/>
              <a:t> </a:t>
            </a:r>
            <a:r>
              <a:rPr lang="en-US" sz="2250" dirty="0" err="1"/>
              <a:t>ước</a:t>
            </a:r>
            <a:r>
              <a:rPr lang="en-US" sz="2250" dirty="0"/>
              <a:t> </a:t>
            </a:r>
            <a:r>
              <a:rPr lang="en-US" sz="2250" dirty="0" err="1"/>
              <a:t>lượng</a:t>
            </a:r>
            <a:r>
              <a:rPr lang="en-US" sz="2250" dirty="0"/>
              <a:t> </a:t>
            </a:r>
            <a:r>
              <a:rPr lang="en-US" sz="2250" dirty="0" err="1"/>
              <a:t>cho</a:t>
            </a:r>
            <a:r>
              <a:rPr lang="en-US" sz="2250" dirty="0"/>
              <a:t> </a:t>
            </a:r>
            <a:r>
              <a:rPr lang="en-US" sz="2250" dirty="0" err="1"/>
              <a:t>tham</a:t>
            </a:r>
            <a:r>
              <a:rPr lang="en-US" sz="2250" dirty="0"/>
              <a:t> </a:t>
            </a:r>
            <a:r>
              <a:rPr lang="en-US" sz="2250" dirty="0" err="1"/>
              <a:t>số</a:t>
            </a:r>
            <a:r>
              <a:rPr lang="en-US" sz="2250" dirty="0"/>
              <a:t> </a:t>
            </a:r>
            <a:r>
              <a:rPr lang="en-US" sz="2250" dirty="0" err="1"/>
              <a:t>quần</a:t>
            </a:r>
            <a:r>
              <a:rPr lang="en-US" sz="2250" dirty="0"/>
              <a:t> </a:t>
            </a:r>
            <a:r>
              <a:rPr lang="en-US" sz="2250" dirty="0" err="1"/>
              <a:t>thể</a:t>
            </a:r>
            <a:endParaRPr lang="en-US" sz="2250" dirty="0"/>
          </a:p>
          <a:p>
            <a:pPr marL="658368" lvl="1" indent="-246888" algn="just" eaLnBrk="1" fontAlgn="auto" hangingPunct="1">
              <a:spcAft>
                <a:spcPts val="0"/>
              </a:spcAft>
              <a:buFont typeface="Georgia"/>
              <a:buChar char="▫"/>
              <a:defRPr/>
            </a:pPr>
            <a:r>
              <a:rPr lang="en-US" sz="2250" dirty="0" err="1">
                <a:solidFill>
                  <a:srgbClr val="FF0000"/>
                </a:solidFill>
              </a:rPr>
              <a:t>Ước</a:t>
            </a:r>
            <a:r>
              <a:rPr lang="en-US" sz="2250" dirty="0">
                <a:solidFill>
                  <a:srgbClr val="FF0000"/>
                </a:solidFill>
              </a:rPr>
              <a:t> </a:t>
            </a:r>
            <a:r>
              <a:rPr lang="en-US" sz="2250" dirty="0" err="1">
                <a:solidFill>
                  <a:srgbClr val="FF0000"/>
                </a:solidFill>
              </a:rPr>
              <a:t>lượng</a:t>
            </a:r>
            <a:r>
              <a:rPr lang="en-US" sz="2250" dirty="0">
                <a:solidFill>
                  <a:srgbClr val="FF0000"/>
                </a:solidFill>
              </a:rPr>
              <a:t> </a:t>
            </a:r>
            <a:r>
              <a:rPr lang="en-US" sz="2250" dirty="0" err="1">
                <a:solidFill>
                  <a:srgbClr val="FF0000"/>
                </a:solidFill>
              </a:rPr>
              <a:t>khoảng</a:t>
            </a:r>
            <a:r>
              <a:rPr lang="en-US" sz="2250" dirty="0">
                <a:solidFill>
                  <a:srgbClr val="FF0000"/>
                </a:solidFill>
              </a:rPr>
              <a:t> </a:t>
            </a:r>
            <a:r>
              <a:rPr lang="en-US" sz="2250" dirty="0"/>
              <a:t>(interval estimation): </a:t>
            </a:r>
            <a:r>
              <a:rPr lang="en-US" sz="2250" dirty="0" err="1"/>
              <a:t>xác</a:t>
            </a:r>
            <a:r>
              <a:rPr lang="en-US" sz="2250" dirty="0"/>
              <a:t> </a:t>
            </a:r>
            <a:r>
              <a:rPr lang="en-US" sz="2250" dirty="0" err="1"/>
              <a:t>định</a:t>
            </a:r>
            <a:r>
              <a:rPr lang="en-US" sz="2250" dirty="0"/>
              <a:t> </a:t>
            </a:r>
            <a:r>
              <a:rPr lang="en-US" sz="2250" dirty="0" err="1"/>
              <a:t>một</a:t>
            </a:r>
            <a:r>
              <a:rPr lang="en-US" sz="2250" dirty="0"/>
              <a:t> </a:t>
            </a:r>
            <a:r>
              <a:rPr lang="en-US" sz="2250" dirty="0" err="1"/>
              <a:t>khoảng</a:t>
            </a:r>
            <a:r>
              <a:rPr lang="en-US" sz="2250" dirty="0"/>
              <a:t> </a:t>
            </a:r>
            <a:r>
              <a:rPr lang="en-US" sz="2250" dirty="0" err="1"/>
              <a:t>giá</a:t>
            </a:r>
            <a:r>
              <a:rPr lang="en-US" sz="2250" dirty="0"/>
              <a:t> </a:t>
            </a:r>
            <a:r>
              <a:rPr lang="en-US" sz="2250" dirty="0" err="1"/>
              <a:t>trị</a:t>
            </a:r>
            <a:r>
              <a:rPr lang="en-US" sz="2250" dirty="0"/>
              <a:t> </a:t>
            </a:r>
            <a:r>
              <a:rPr lang="en-US" sz="2250" dirty="0" err="1"/>
              <a:t>có</a:t>
            </a:r>
            <a:r>
              <a:rPr lang="en-US" sz="2250" dirty="0"/>
              <a:t> </a:t>
            </a:r>
            <a:r>
              <a:rPr lang="en-US" sz="2250" dirty="0" err="1"/>
              <a:t>nhiều</a:t>
            </a:r>
            <a:r>
              <a:rPr lang="en-US" sz="2250" dirty="0"/>
              <a:t> </a:t>
            </a:r>
            <a:r>
              <a:rPr lang="en-US" sz="2250" dirty="0" err="1"/>
              <a:t>khả</a:t>
            </a:r>
            <a:r>
              <a:rPr lang="en-US" sz="2250" dirty="0"/>
              <a:t> </a:t>
            </a:r>
            <a:r>
              <a:rPr lang="en-US" sz="2250" dirty="0" err="1"/>
              <a:t>năng</a:t>
            </a:r>
            <a:r>
              <a:rPr lang="en-US" sz="2250" dirty="0"/>
              <a:t> </a:t>
            </a:r>
            <a:r>
              <a:rPr lang="en-US" sz="2250" dirty="0" err="1"/>
              <a:t>chứa</a:t>
            </a:r>
            <a:r>
              <a:rPr lang="en-US" sz="2250" dirty="0"/>
              <a:t> </a:t>
            </a:r>
            <a:r>
              <a:rPr lang="en-US" sz="2250" dirty="0" err="1"/>
              <a:t>giá</a:t>
            </a:r>
            <a:r>
              <a:rPr lang="en-US" sz="2250" dirty="0"/>
              <a:t> </a:t>
            </a:r>
            <a:r>
              <a:rPr lang="en-US" sz="2250" dirty="0" err="1"/>
              <a:t>trị</a:t>
            </a:r>
            <a:r>
              <a:rPr lang="en-US" sz="2250" dirty="0"/>
              <a:t> </a:t>
            </a:r>
            <a:r>
              <a:rPr lang="en-US" sz="2250" dirty="0" err="1"/>
              <a:t>tham</a:t>
            </a:r>
            <a:r>
              <a:rPr lang="en-US" sz="2250" dirty="0"/>
              <a:t> </a:t>
            </a:r>
            <a:r>
              <a:rPr lang="en-US" sz="2250" dirty="0" err="1"/>
              <a:t>số</a:t>
            </a:r>
            <a:r>
              <a:rPr lang="en-US" sz="2250" dirty="0"/>
              <a:t> </a:t>
            </a:r>
            <a:r>
              <a:rPr lang="en-US" sz="2250" dirty="0" err="1"/>
              <a:t>quần</a:t>
            </a:r>
            <a:r>
              <a:rPr lang="en-US" sz="2250" dirty="0"/>
              <a:t> </a:t>
            </a:r>
            <a:r>
              <a:rPr lang="en-US" sz="2250" dirty="0" err="1"/>
              <a:t>thể</a:t>
            </a:r>
            <a:r>
              <a:rPr lang="en-US" sz="2250" dirty="0"/>
              <a:t> </a:t>
            </a:r>
          </a:p>
          <a:p>
            <a:pPr marL="457200" indent="-457200">
              <a:lnSpc>
                <a:spcPct val="85000"/>
              </a:lnSpc>
              <a:spcBef>
                <a:spcPct val="0"/>
              </a:spcBef>
              <a:spcAft>
                <a:spcPct val="35000"/>
              </a:spcAft>
              <a:defRPr/>
            </a:pPr>
            <a:endParaRPr lang="en-US" altLang="en-US" dirty="0"/>
          </a:p>
        </p:txBody>
      </p:sp>
      <p:sp>
        <p:nvSpPr>
          <p:cNvPr id="10244" name="Rectangle 4"/>
          <p:cNvSpPr>
            <a:spLocks noChangeArrowheads="1"/>
          </p:cNvSpPr>
          <p:nvPr/>
        </p:nvSpPr>
        <p:spPr bwMode="auto">
          <a:xfrm>
            <a:off x="261938" y="4335463"/>
            <a:ext cx="8686800"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0245" name="Rectangle 5"/>
          <p:cNvSpPr>
            <a:spLocks noChangeArrowheads="1"/>
          </p:cNvSpPr>
          <p:nvPr/>
        </p:nvSpPr>
        <p:spPr bwMode="auto">
          <a:xfrm>
            <a:off x="646113" y="935038"/>
            <a:ext cx="82692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85000"/>
              </a:lnSpc>
              <a:spcBef>
                <a:spcPct val="30000"/>
              </a:spcBef>
              <a:spcAft>
                <a:spcPct val="45000"/>
              </a:spcAft>
            </a:pPr>
            <a:r>
              <a:rPr lang="vi-VN" altLang="en-US" sz="2800" b="0" dirty="0"/>
              <a:t>Ước lượng tham số: sử dụng thống kê mẫu để ước lượng cho tham số quần th</a:t>
            </a:r>
            <a:r>
              <a:rPr lang="en-US" altLang="en-US" sz="2800" b="0" dirty="0"/>
              <a:t>ể</a:t>
            </a:r>
            <a:endParaRPr lang="en-US" altLang="en-US" sz="2800" b="0" dirty="0">
              <a:solidFill>
                <a:srgbClr val="FF0000"/>
              </a:solidFill>
            </a:endParaRPr>
          </a:p>
        </p:txBody>
      </p:sp>
      <p:sp>
        <p:nvSpPr>
          <p:cNvPr id="15" name="Rectangle 14"/>
          <p:cNvSpPr/>
          <p:nvPr/>
        </p:nvSpPr>
        <p:spPr>
          <a:xfrm>
            <a:off x="1219200" y="2198688"/>
            <a:ext cx="2846388" cy="1882775"/>
          </a:xfrm>
          <a:prstGeom prst="rect">
            <a:avLst/>
          </a:prstGeom>
          <a:solidFill>
            <a:srgbClr val="AE0000"/>
          </a:solidFill>
          <a:ln w="19050" cap="flat" cmpd="sng" algn="ctr">
            <a:solidFill>
              <a:srgbClr val="AE0000">
                <a:shade val="50000"/>
              </a:srgbClr>
            </a:solidFill>
            <a:prstDash val="solid"/>
          </a:ln>
          <a:effectLst/>
        </p:spPr>
        <p:txBody>
          <a:bodyPr anchor="ctr"/>
          <a:lstStyle/>
          <a:p>
            <a:pPr algn="ctr" eaLnBrk="1" fontAlgn="auto" hangingPunct="1">
              <a:spcBef>
                <a:spcPts val="0"/>
              </a:spcBef>
              <a:spcAft>
                <a:spcPts val="0"/>
              </a:spcAft>
              <a:defRPr/>
            </a:pPr>
            <a:endParaRPr lang="en-US" sz="1800" b="0" kern="0">
              <a:solidFill>
                <a:prstClr val="white"/>
              </a:solidFill>
              <a:latin typeface="Palatino Linotype"/>
            </a:endParaRPr>
          </a:p>
        </p:txBody>
      </p:sp>
      <p:sp>
        <p:nvSpPr>
          <p:cNvPr id="16" name="Rectangle 15"/>
          <p:cNvSpPr/>
          <p:nvPr/>
        </p:nvSpPr>
        <p:spPr>
          <a:xfrm>
            <a:off x="2357438" y="2387600"/>
            <a:ext cx="996950" cy="658813"/>
          </a:xfrm>
          <a:prstGeom prst="rect">
            <a:avLst/>
          </a:prstGeom>
          <a:solidFill>
            <a:srgbClr val="E5E9F7">
              <a:lumMod val="50000"/>
            </a:srgbClr>
          </a:solidFill>
          <a:ln w="19050" cap="flat" cmpd="sng" algn="ctr">
            <a:solidFill>
              <a:srgbClr val="AE0000">
                <a:shade val="50000"/>
              </a:srgbClr>
            </a:solidFill>
            <a:prstDash val="solid"/>
          </a:ln>
          <a:effectLst/>
        </p:spPr>
        <p:txBody>
          <a:bodyPr anchor="ctr"/>
          <a:lstStyle/>
          <a:p>
            <a:pPr algn="ctr" eaLnBrk="1" fontAlgn="auto" hangingPunct="1">
              <a:spcBef>
                <a:spcPts val="0"/>
              </a:spcBef>
              <a:spcAft>
                <a:spcPts val="0"/>
              </a:spcAft>
              <a:defRPr/>
            </a:pPr>
            <a:endParaRPr lang="en-US" sz="1800" b="0" kern="0">
              <a:solidFill>
                <a:prstClr val="white"/>
              </a:solidFill>
              <a:latin typeface="Palatino Linotype"/>
            </a:endParaRPr>
          </a:p>
        </p:txBody>
      </p:sp>
      <p:sp>
        <p:nvSpPr>
          <p:cNvPr id="10248" name="TextBox 9"/>
          <p:cNvSpPr txBox="1">
            <a:spLocks noChangeArrowheads="1"/>
          </p:cNvSpPr>
          <p:nvPr/>
        </p:nvSpPr>
        <p:spPr bwMode="auto">
          <a:xfrm>
            <a:off x="1646238" y="3422650"/>
            <a:ext cx="26336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ltLang="en-US" sz="1800" b="0">
                <a:solidFill>
                  <a:srgbClr val="FFFFFF"/>
                </a:solidFill>
                <a:latin typeface="Palatino Linotype" panose="02040502050505030304" pitchFamily="18" charset="0"/>
                <a:cs typeface="Arial" panose="020B0604020202020204" pitchFamily="34" charset="0"/>
              </a:rPr>
              <a:t>Quần thể</a:t>
            </a:r>
          </a:p>
        </p:txBody>
      </p:sp>
      <p:sp>
        <p:nvSpPr>
          <p:cNvPr id="10249" name="TextBox 10"/>
          <p:cNvSpPr txBox="1">
            <a:spLocks noChangeArrowheads="1"/>
          </p:cNvSpPr>
          <p:nvPr/>
        </p:nvSpPr>
        <p:spPr bwMode="auto">
          <a:xfrm>
            <a:off x="5561013" y="3081338"/>
            <a:ext cx="1849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ltLang="en-US" sz="1800" b="0">
                <a:solidFill>
                  <a:srgbClr val="000000"/>
                </a:solidFill>
                <a:latin typeface="Palatino Linotype" panose="02040502050505030304" pitchFamily="18" charset="0"/>
                <a:cs typeface="Arial" panose="020B0604020202020204" pitchFamily="34" charset="0"/>
              </a:rPr>
              <a:t>Thống kê</a:t>
            </a:r>
          </a:p>
        </p:txBody>
      </p:sp>
      <p:sp>
        <p:nvSpPr>
          <p:cNvPr id="10250" name="TextBox 11"/>
          <p:cNvSpPr txBox="1">
            <a:spLocks noChangeArrowheads="1"/>
          </p:cNvSpPr>
          <p:nvPr/>
        </p:nvSpPr>
        <p:spPr bwMode="auto">
          <a:xfrm>
            <a:off x="2085975" y="4149725"/>
            <a:ext cx="1316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ltLang="en-US" sz="1800" b="0">
                <a:solidFill>
                  <a:srgbClr val="000000"/>
                </a:solidFill>
                <a:latin typeface="Palatino Linotype" panose="02040502050505030304" pitchFamily="18" charset="0"/>
                <a:cs typeface="Arial" panose="020B0604020202020204" pitchFamily="34" charset="0"/>
              </a:rPr>
              <a:t>Tham số ?</a:t>
            </a:r>
          </a:p>
        </p:txBody>
      </p:sp>
      <p:sp>
        <p:nvSpPr>
          <p:cNvPr id="20" name="Down Arrow 19"/>
          <p:cNvSpPr/>
          <p:nvPr/>
        </p:nvSpPr>
        <p:spPr>
          <a:xfrm rot="2668314">
            <a:off x="4748213" y="3394075"/>
            <a:ext cx="639762" cy="754063"/>
          </a:xfrm>
          <a:prstGeom prst="downArrow">
            <a:avLst/>
          </a:prstGeom>
          <a:solidFill>
            <a:srgbClr val="AE0000"/>
          </a:solidFill>
          <a:ln w="19050" cap="flat" cmpd="sng" algn="ctr">
            <a:solidFill>
              <a:srgbClr val="AE0000">
                <a:shade val="50000"/>
              </a:srgbClr>
            </a:solidFill>
            <a:prstDash val="solid"/>
          </a:ln>
          <a:effectLst/>
        </p:spPr>
        <p:txBody>
          <a:bodyPr anchor="ctr"/>
          <a:lstStyle/>
          <a:p>
            <a:pPr algn="ctr" eaLnBrk="1" fontAlgn="auto" hangingPunct="1">
              <a:spcBef>
                <a:spcPts val="0"/>
              </a:spcBef>
              <a:spcAft>
                <a:spcPts val="0"/>
              </a:spcAft>
              <a:defRPr/>
            </a:pPr>
            <a:endParaRPr lang="en-US" sz="1800" b="0" kern="0">
              <a:solidFill>
                <a:prstClr val="white"/>
              </a:solidFill>
              <a:latin typeface="Palatino Linotype"/>
            </a:endParaRPr>
          </a:p>
        </p:txBody>
      </p:sp>
      <p:sp>
        <p:nvSpPr>
          <p:cNvPr id="21" name="Right Arrow 20"/>
          <p:cNvSpPr/>
          <p:nvPr/>
        </p:nvSpPr>
        <p:spPr>
          <a:xfrm>
            <a:off x="4351338" y="2481263"/>
            <a:ext cx="1209675" cy="611187"/>
          </a:xfrm>
          <a:prstGeom prst="rightArrow">
            <a:avLst/>
          </a:prstGeom>
          <a:solidFill>
            <a:srgbClr val="AE0000"/>
          </a:solidFill>
          <a:ln w="19050" cap="flat" cmpd="sng" algn="ctr">
            <a:solidFill>
              <a:srgbClr val="AE0000">
                <a:shade val="50000"/>
              </a:srgbClr>
            </a:solidFill>
            <a:prstDash val="solid"/>
          </a:ln>
          <a:effectLst/>
        </p:spPr>
        <p:txBody>
          <a:bodyPr anchor="ctr"/>
          <a:lstStyle/>
          <a:p>
            <a:pPr algn="ctr" eaLnBrk="1" fontAlgn="auto" hangingPunct="1">
              <a:spcBef>
                <a:spcPts val="0"/>
              </a:spcBef>
              <a:spcAft>
                <a:spcPts val="0"/>
              </a:spcAft>
              <a:defRPr/>
            </a:pPr>
            <a:endParaRPr lang="en-US" sz="1800" b="0" kern="0">
              <a:solidFill>
                <a:prstClr val="white"/>
              </a:solidFill>
              <a:latin typeface="Palatino Linotype"/>
            </a:endParaRPr>
          </a:p>
        </p:txBody>
      </p:sp>
      <p:sp>
        <p:nvSpPr>
          <p:cNvPr id="22" name="Rectangle 21"/>
          <p:cNvSpPr/>
          <p:nvPr/>
        </p:nvSpPr>
        <p:spPr>
          <a:xfrm>
            <a:off x="5741988" y="2336800"/>
            <a:ext cx="744537" cy="744538"/>
          </a:xfrm>
          <a:prstGeom prst="rect">
            <a:avLst/>
          </a:prstGeom>
          <a:solidFill>
            <a:srgbClr val="E5E9F7">
              <a:lumMod val="50000"/>
            </a:srgbClr>
          </a:solidFill>
          <a:ln w="19050" cap="flat" cmpd="sng" algn="ctr">
            <a:solidFill>
              <a:srgbClr val="AE0000">
                <a:shade val="50000"/>
              </a:srgbClr>
            </a:solidFill>
            <a:prstDash val="solid"/>
          </a:ln>
          <a:effectLst/>
        </p:spPr>
        <p:txBody>
          <a:bodyPr anchor="ctr"/>
          <a:lstStyle/>
          <a:p>
            <a:pPr algn="ctr" eaLnBrk="1" fontAlgn="auto" hangingPunct="1">
              <a:spcBef>
                <a:spcPts val="0"/>
              </a:spcBef>
              <a:spcAft>
                <a:spcPts val="0"/>
              </a:spcAft>
              <a:defRPr/>
            </a:pPr>
            <a:r>
              <a:rPr lang="en-US" sz="1800" b="0" kern="0" dirty="0">
                <a:solidFill>
                  <a:prstClr val="white"/>
                </a:solidFill>
                <a:latin typeface="Palatino Linotype"/>
              </a:rPr>
              <a:t>Mẫu</a:t>
            </a:r>
          </a:p>
        </p:txBody>
      </p:sp>
      <p:sp>
        <p:nvSpPr>
          <p:cNvPr id="10254" name="TextBox 17"/>
          <p:cNvSpPr txBox="1">
            <a:spLocks noChangeArrowheads="1"/>
          </p:cNvSpPr>
          <p:nvPr/>
        </p:nvSpPr>
        <p:spPr bwMode="auto">
          <a:xfrm>
            <a:off x="5334000" y="3711575"/>
            <a:ext cx="1851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ltLang="en-US" sz="1800" b="0">
                <a:solidFill>
                  <a:srgbClr val="000000"/>
                </a:solidFill>
                <a:latin typeface="Palatino Linotype" panose="02040502050505030304" pitchFamily="18" charset="0"/>
                <a:cs typeface="Arial" panose="020B0604020202020204" pitchFamily="34" charset="0"/>
              </a:rPr>
              <a:t>Ước lượng</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927100" y="525462"/>
            <a:ext cx="7226300" cy="8461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r>
              <a:rPr lang="en-US" altLang="en-US" b="1" dirty="0" err="1"/>
              <a:t>Ví</a:t>
            </a:r>
            <a:r>
              <a:rPr lang="en-US" altLang="en-US" b="1" dirty="0"/>
              <a:t> </a:t>
            </a:r>
            <a:r>
              <a:rPr lang="en-US" altLang="en-US" b="1" dirty="0" err="1"/>
              <a:t>dụ</a:t>
            </a:r>
            <a:endParaRPr lang="en-US" altLang="en-US" b="1" dirty="0"/>
          </a:p>
        </p:txBody>
      </p:sp>
      <p:sp>
        <p:nvSpPr>
          <p:cNvPr id="30" name="Rectangle 29"/>
          <p:cNvSpPr/>
          <p:nvPr/>
        </p:nvSpPr>
        <p:spPr>
          <a:xfrm>
            <a:off x="1371600" y="1524000"/>
            <a:ext cx="3048000" cy="3048000"/>
          </a:xfrm>
          <a:prstGeom prst="rect">
            <a:avLst/>
          </a:prstGeom>
          <a:solidFill>
            <a:srgbClr val="AE0000"/>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1" name="Rectangle 30"/>
          <p:cNvSpPr/>
          <p:nvPr/>
        </p:nvSpPr>
        <p:spPr>
          <a:xfrm>
            <a:off x="2590800" y="1828800"/>
            <a:ext cx="1066800" cy="1066800"/>
          </a:xfrm>
          <a:prstGeom prst="rect">
            <a:avLst/>
          </a:prstGeom>
          <a:solidFill>
            <a:srgbClr val="E5E9F7">
              <a:lumMod val="50000"/>
            </a:srgbClr>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2" name="Rectangle 31"/>
          <p:cNvSpPr/>
          <p:nvPr/>
        </p:nvSpPr>
        <p:spPr>
          <a:xfrm>
            <a:off x="6096000" y="1905000"/>
            <a:ext cx="1066800" cy="1066800"/>
          </a:xfrm>
          <a:prstGeom prst="rect">
            <a:avLst/>
          </a:prstGeom>
          <a:solidFill>
            <a:srgbClr val="E5E9F7">
              <a:lumMod val="50000"/>
            </a:srgbClr>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3" name="TextBox 9"/>
          <p:cNvSpPr txBox="1">
            <a:spLocks noChangeArrowheads="1"/>
          </p:cNvSpPr>
          <p:nvPr/>
        </p:nvSpPr>
        <p:spPr bwMode="auto">
          <a:xfrm>
            <a:off x="1828800" y="3505200"/>
            <a:ext cx="281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white"/>
                </a:solidFill>
                <a:latin typeface="Palatino Linotype" pitchFamily="18" charset="0"/>
              </a:rPr>
              <a:t>Quần thể</a:t>
            </a:r>
          </a:p>
        </p:txBody>
      </p:sp>
      <p:sp>
        <p:nvSpPr>
          <p:cNvPr id="34" name="TextBox 10"/>
          <p:cNvSpPr txBox="1">
            <a:spLocks noChangeArrowheads="1"/>
          </p:cNvSpPr>
          <p:nvPr/>
        </p:nvSpPr>
        <p:spPr bwMode="auto">
          <a:xfrm>
            <a:off x="5511800" y="3263900"/>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black"/>
                </a:solidFill>
                <a:latin typeface="Palatino Linotype" pitchFamily="18" charset="0"/>
              </a:rPr>
              <a:t>Trung bình mẫu</a:t>
            </a:r>
          </a:p>
        </p:txBody>
      </p:sp>
      <p:sp>
        <p:nvSpPr>
          <p:cNvPr id="35" name="TextBox 11"/>
          <p:cNvSpPr txBox="1">
            <a:spLocks noChangeArrowheads="1"/>
          </p:cNvSpPr>
          <p:nvPr/>
        </p:nvSpPr>
        <p:spPr bwMode="auto">
          <a:xfrm>
            <a:off x="2133600" y="4789488"/>
            <a:ext cx="2819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black"/>
                </a:solidFill>
                <a:latin typeface="Palatino Linotype" pitchFamily="18" charset="0"/>
              </a:rPr>
              <a:t>Kỳ vọng</a:t>
            </a:r>
          </a:p>
        </p:txBody>
      </p:sp>
      <p:sp>
        <p:nvSpPr>
          <p:cNvPr id="36" name="TextBox 12"/>
          <p:cNvSpPr txBox="1">
            <a:spLocks noChangeArrowheads="1"/>
          </p:cNvSpPr>
          <p:nvPr/>
        </p:nvSpPr>
        <p:spPr bwMode="auto">
          <a:xfrm>
            <a:off x="6248400" y="2209800"/>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white"/>
                </a:solidFill>
                <a:latin typeface="Palatino Linotype" pitchFamily="18" charset="0"/>
              </a:rPr>
              <a:t>Mẫu</a:t>
            </a:r>
          </a:p>
        </p:txBody>
      </p:sp>
      <p:sp>
        <p:nvSpPr>
          <p:cNvPr id="37" name="Down Arrow 36"/>
          <p:cNvSpPr/>
          <p:nvPr/>
        </p:nvSpPr>
        <p:spPr>
          <a:xfrm rot="2668314">
            <a:off x="4822825" y="3875088"/>
            <a:ext cx="685800" cy="1219200"/>
          </a:xfrm>
          <a:prstGeom prst="downArrow">
            <a:avLst/>
          </a:prstGeom>
          <a:solidFill>
            <a:srgbClr val="AE0000"/>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8" name="Right Arrow 37"/>
          <p:cNvSpPr/>
          <p:nvPr/>
        </p:nvSpPr>
        <p:spPr>
          <a:xfrm>
            <a:off x="4724400" y="1981200"/>
            <a:ext cx="1295400" cy="990600"/>
          </a:xfrm>
          <a:prstGeom prst="rightArrow">
            <a:avLst/>
          </a:prstGeom>
          <a:solidFill>
            <a:srgbClr val="AE0000"/>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9" name="TextBox 17"/>
          <p:cNvSpPr txBox="1">
            <a:spLocks noChangeArrowheads="1"/>
          </p:cNvSpPr>
          <p:nvPr/>
        </p:nvSpPr>
        <p:spPr bwMode="auto">
          <a:xfrm>
            <a:off x="5440363" y="4419600"/>
            <a:ext cx="1849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black"/>
                </a:solidFill>
                <a:latin typeface="Palatino Linotype" pitchFamily="18" charset="0"/>
              </a:rPr>
              <a:t>Ước lượng</a:t>
            </a:r>
          </a:p>
        </p:txBody>
      </p:sp>
    </p:spTree>
    <p:extLst>
      <p:ext uri="{BB962C8B-B14F-4D97-AF65-F5344CB8AC3E}">
        <p14:creationId xmlns:p14="http://schemas.microsoft.com/office/powerpoint/2010/main" val="368600147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2"/>
          <p:cNvSpPr>
            <a:spLocks noGrp="1"/>
          </p:cNvSpPr>
          <p:nvPr>
            <p:ph type="title"/>
          </p:nvPr>
        </p:nvSpPr>
        <p:spPr>
          <a:xfrm>
            <a:off x="990600" y="533400"/>
            <a:ext cx="7315200" cy="1066800"/>
          </a:xfrm>
        </p:spPr>
        <p:txBody>
          <a:bodyPr/>
          <a:lstStyle/>
          <a:p>
            <a:pPr eaLnBrk="1" hangingPunct="1"/>
            <a:r>
              <a:rPr lang="en-US" dirty="0" err="1"/>
              <a:t>Ví</a:t>
            </a:r>
            <a:r>
              <a:rPr lang="en-US" dirty="0"/>
              <a:t> </a:t>
            </a:r>
            <a:r>
              <a:rPr lang="en-US" dirty="0" err="1"/>
              <a:t>dụ</a:t>
            </a:r>
            <a:r>
              <a:rPr lang="en-US" dirty="0"/>
              <a:t> </a:t>
            </a:r>
            <a:r>
              <a:rPr lang="en-US" dirty="0" err="1"/>
              <a:t>ước</a:t>
            </a:r>
            <a:r>
              <a:rPr lang="en-US" dirty="0"/>
              <a:t> </a:t>
            </a:r>
            <a:r>
              <a:rPr lang="en-US" dirty="0" err="1"/>
              <a:t>lượng</a:t>
            </a:r>
            <a:r>
              <a:rPr lang="en-US" dirty="0"/>
              <a:t> </a:t>
            </a:r>
            <a:r>
              <a:rPr lang="en-US" dirty="0" err="1"/>
              <a:t>điểm</a:t>
            </a:r>
            <a:endParaRPr lang="en-US" dirty="0"/>
          </a:p>
        </p:txBody>
      </p:sp>
      <p:sp>
        <p:nvSpPr>
          <p:cNvPr id="4" name="Content Placeholder 3"/>
          <p:cNvSpPr>
            <a:spLocks noGrp="1"/>
          </p:cNvSpPr>
          <p:nvPr>
            <p:ph idx="1"/>
          </p:nvPr>
        </p:nvSpPr>
        <p:spPr>
          <a:xfrm>
            <a:off x="0" y="1371600"/>
            <a:ext cx="9144000" cy="5181600"/>
          </a:xfrm>
        </p:spPr>
        <p:txBody>
          <a:bodyPr>
            <a:normAutofit fontScale="92500" lnSpcReduction="20000"/>
          </a:bodyPr>
          <a:lstStyle/>
          <a:p>
            <a:pPr marL="365760" indent="-256032" eaLnBrk="1" fontAlgn="auto" hangingPunct="1">
              <a:spcAft>
                <a:spcPts val="0"/>
              </a:spcAft>
              <a:buClr>
                <a:schemeClr val="accent3"/>
              </a:buClr>
              <a:buFont typeface="Georgia"/>
              <a:buChar char="•"/>
              <a:defRPr/>
            </a:pPr>
            <a:r>
              <a:rPr lang="en-US" b="0" dirty="0"/>
              <a:t>Ví dụ: Biến ngẫu nhiên X phân phối chuẩn với kỳ vọng </a:t>
            </a:r>
            <a:r>
              <a:rPr lang="el-GR" b="0" dirty="0"/>
              <a:t>μ</a:t>
            </a:r>
            <a:r>
              <a:rPr lang="en-US" b="0" dirty="0"/>
              <a:t> chưa biết. </a:t>
            </a:r>
            <a:r>
              <a:rPr lang="en-US" b="0" dirty="0" err="1"/>
              <a:t>Trung</a:t>
            </a:r>
            <a:r>
              <a:rPr lang="en-US" b="0" dirty="0"/>
              <a:t> </a:t>
            </a:r>
            <a:r>
              <a:rPr lang="en-US" b="0" dirty="0" err="1"/>
              <a:t>bình</a:t>
            </a:r>
            <a:r>
              <a:rPr lang="en-US" b="0" dirty="0"/>
              <a:t> </a:t>
            </a:r>
            <a:r>
              <a:rPr lang="en-US" b="0" dirty="0" err="1"/>
              <a:t>mẫu</a:t>
            </a:r>
            <a:endParaRPr lang="en-US" b="0" dirty="0"/>
          </a:p>
          <a:p>
            <a:pPr marL="365760" indent="-256032" eaLnBrk="1" fontAlgn="auto" hangingPunct="1">
              <a:spcAft>
                <a:spcPts val="0"/>
              </a:spcAft>
              <a:buClr>
                <a:schemeClr val="accent3"/>
              </a:buClr>
              <a:buFont typeface="Georgia"/>
              <a:buNone/>
              <a:defRPr/>
            </a:pPr>
            <a:r>
              <a:rPr lang="en-US" b="0" dirty="0"/>
              <a:t>         là một bộ ước lượng điểm cho kỳ vọng  </a:t>
            </a:r>
            <a:r>
              <a:rPr lang="el-GR" b="0" dirty="0"/>
              <a:t>μ</a:t>
            </a:r>
            <a:r>
              <a:rPr lang="en-US" b="0" dirty="0"/>
              <a:t>. </a:t>
            </a:r>
          </a:p>
          <a:p>
            <a:pPr marL="365760" indent="-256032" eaLnBrk="1" fontAlgn="auto" hangingPunct="1">
              <a:spcAft>
                <a:spcPts val="0"/>
              </a:spcAft>
              <a:buClr>
                <a:schemeClr val="accent3"/>
              </a:buClr>
              <a:buFont typeface="Georgia"/>
              <a:buChar char="•"/>
              <a:defRPr/>
            </a:pPr>
            <a:endParaRPr lang="en-US" b="0" dirty="0"/>
          </a:p>
          <a:p>
            <a:pPr marL="365760" indent="-256032" eaLnBrk="1" fontAlgn="auto" hangingPunct="1">
              <a:spcAft>
                <a:spcPts val="0"/>
              </a:spcAft>
              <a:buClr>
                <a:schemeClr val="accent3"/>
              </a:buClr>
              <a:buFont typeface="Georgia"/>
              <a:buNone/>
              <a:defRPr/>
            </a:pPr>
            <a:r>
              <a:rPr lang="en-US" b="0" dirty="0"/>
              <a:t>	</a:t>
            </a:r>
            <a:r>
              <a:rPr lang="en-US" b="0" dirty="0" err="1"/>
              <a:t>Lấy</a:t>
            </a:r>
            <a:r>
              <a:rPr lang="en-US" b="0" dirty="0"/>
              <a:t> </a:t>
            </a:r>
            <a:r>
              <a:rPr lang="en-US" b="0" dirty="0" err="1"/>
              <a:t>mẫu</a:t>
            </a:r>
            <a:r>
              <a:rPr lang="en-US" b="0" dirty="0"/>
              <a:t> </a:t>
            </a:r>
            <a:r>
              <a:rPr lang="en-US" b="0" dirty="0" err="1"/>
              <a:t>cụ</a:t>
            </a:r>
            <a:r>
              <a:rPr lang="en-US" b="0" dirty="0"/>
              <a:t> </a:t>
            </a:r>
            <a:r>
              <a:rPr lang="en-US" b="0" dirty="0" err="1"/>
              <a:t>thể</a:t>
            </a:r>
            <a:r>
              <a:rPr lang="en-US" b="0" dirty="0"/>
              <a:t>, </a:t>
            </a:r>
            <a:r>
              <a:rPr lang="en-US" b="0" dirty="0" err="1"/>
              <a:t>giá</a:t>
            </a:r>
            <a:r>
              <a:rPr lang="en-US" b="0" dirty="0"/>
              <a:t> </a:t>
            </a:r>
            <a:r>
              <a:rPr lang="en-US" b="0" dirty="0" err="1"/>
              <a:t>trị</a:t>
            </a:r>
            <a:r>
              <a:rPr lang="en-US" b="0" dirty="0"/>
              <a:t> </a:t>
            </a:r>
            <a:r>
              <a:rPr lang="en-US" b="0" dirty="0" err="1"/>
              <a:t>trung</a:t>
            </a:r>
            <a:r>
              <a:rPr lang="en-US" b="0" dirty="0"/>
              <a:t> </a:t>
            </a:r>
            <a:r>
              <a:rPr lang="en-US" b="0" dirty="0" err="1"/>
              <a:t>bình</a:t>
            </a:r>
            <a:r>
              <a:rPr lang="en-US" b="0" dirty="0"/>
              <a:t>      </a:t>
            </a:r>
            <a:r>
              <a:rPr lang="en-US" b="0" dirty="0" err="1"/>
              <a:t>là</a:t>
            </a:r>
            <a:r>
              <a:rPr lang="en-US" b="0" dirty="0"/>
              <a:t> </a:t>
            </a:r>
            <a:r>
              <a:rPr lang="en-US" b="0" dirty="0" err="1"/>
              <a:t>giá</a:t>
            </a:r>
            <a:r>
              <a:rPr lang="en-US" b="0" dirty="0"/>
              <a:t> </a:t>
            </a:r>
            <a:r>
              <a:rPr lang="en-US" b="0" dirty="0" err="1"/>
              <a:t>trị</a:t>
            </a:r>
            <a:r>
              <a:rPr lang="en-US" b="0" dirty="0"/>
              <a:t> </a:t>
            </a:r>
            <a:r>
              <a:rPr lang="en-US" b="0" dirty="0" err="1"/>
              <a:t>ước</a:t>
            </a:r>
            <a:r>
              <a:rPr lang="en-US" b="0" dirty="0"/>
              <a:t> </a:t>
            </a:r>
            <a:r>
              <a:rPr lang="en-US" b="0" dirty="0" err="1"/>
              <a:t>lượng</a:t>
            </a:r>
            <a:r>
              <a:rPr lang="en-US" b="0" dirty="0"/>
              <a:t> </a:t>
            </a:r>
            <a:r>
              <a:rPr lang="en-US" b="0" dirty="0" err="1"/>
              <a:t>điểm</a:t>
            </a:r>
            <a:r>
              <a:rPr lang="en-US" b="0" dirty="0"/>
              <a:t> </a:t>
            </a:r>
            <a:r>
              <a:rPr lang="en-US" b="0" dirty="0" err="1"/>
              <a:t>của</a:t>
            </a:r>
            <a:r>
              <a:rPr lang="en-US" b="0" dirty="0"/>
              <a:t> </a:t>
            </a:r>
            <a:r>
              <a:rPr lang="el-GR" b="0" dirty="0"/>
              <a:t>μ</a:t>
            </a:r>
            <a:r>
              <a:rPr lang="en-US" b="0" dirty="0"/>
              <a:t>.  </a:t>
            </a:r>
          </a:p>
          <a:p>
            <a:pPr marL="365760" indent="-256032" eaLnBrk="1" fontAlgn="auto" hangingPunct="1">
              <a:spcAft>
                <a:spcPts val="0"/>
              </a:spcAft>
              <a:buClr>
                <a:schemeClr val="accent3"/>
              </a:buClr>
              <a:buFont typeface="Georgia"/>
              <a:buNone/>
              <a:defRPr/>
            </a:pPr>
            <a:endParaRPr lang="en-US" b="0" dirty="0"/>
          </a:p>
          <a:p>
            <a:pPr marL="365760" indent="-256032" eaLnBrk="1" fontAlgn="auto" hangingPunct="1">
              <a:spcAft>
                <a:spcPts val="0"/>
              </a:spcAft>
              <a:buClr>
                <a:schemeClr val="accent3"/>
              </a:buClr>
              <a:buFont typeface="Georgia"/>
              <a:buNone/>
              <a:defRPr/>
            </a:pPr>
            <a:r>
              <a:rPr lang="en-US" b="0" dirty="0"/>
              <a:t>	</a:t>
            </a:r>
            <a:r>
              <a:rPr lang="en-US" b="0" dirty="0" err="1"/>
              <a:t>Nếu</a:t>
            </a:r>
            <a:r>
              <a:rPr lang="en-US" b="0" dirty="0"/>
              <a:t> </a:t>
            </a:r>
            <a:r>
              <a:rPr lang="en-US" b="0" dirty="0" err="1"/>
              <a:t>mẫu</a:t>
            </a:r>
            <a:r>
              <a:rPr lang="en-US" b="0" dirty="0"/>
              <a:t> </a:t>
            </a:r>
            <a:r>
              <a:rPr lang="en-US" b="0" dirty="0" err="1"/>
              <a:t>là</a:t>
            </a:r>
            <a:r>
              <a:rPr lang="en-US" b="0" dirty="0"/>
              <a:t> x</a:t>
            </a:r>
            <a:r>
              <a:rPr lang="en-US" b="0" baseline="-25000" dirty="0"/>
              <a:t>1</a:t>
            </a:r>
            <a:r>
              <a:rPr lang="en-US" b="0" dirty="0"/>
              <a:t>=25, x</a:t>
            </a:r>
            <a:r>
              <a:rPr lang="en-US" b="0" baseline="-25000" dirty="0"/>
              <a:t>2</a:t>
            </a:r>
            <a:r>
              <a:rPr lang="en-US" b="0" dirty="0"/>
              <a:t>=30, x</a:t>
            </a:r>
            <a:r>
              <a:rPr lang="en-US" b="0" baseline="-25000" dirty="0"/>
              <a:t>3</a:t>
            </a:r>
            <a:r>
              <a:rPr lang="en-US" b="0" dirty="0"/>
              <a:t>=29, x</a:t>
            </a:r>
            <a:r>
              <a:rPr lang="en-US" b="0" baseline="-25000" dirty="0"/>
              <a:t>4</a:t>
            </a:r>
            <a:r>
              <a:rPr lang="en-US" b="0" dirty="0"/>
              <a:t>=31 </a:t>
            </a:r>
            <a:r>
              <a:rPr lang="en-US" b="0" dirty="0" err="1"/>
              <a:t>thì</a:t>
            </a:r>
            <a:r>
              <a:rPr lang="en-US" b="0" dirty="0"/>
              <a:t> </a:t>
            </a:r>
            <a:r>
              <a:rPr lang="en-US" b="0" dirty="0" err="1"/>
              <a:t>giá</a:t>
            </a:r>
            <a:r>
              <a:rPr lang="en-US" b="0" dirty="0"/>
              <a:t> </a:t>
            </a:r>
            <a:r>
              <a:rPr lang="en-US" b="0" dirty="0" err="1"/>
              <a:t>trị</a:t>
            </a:r>
            <a:r>
              <a:rPr lang="en-US" b="0" dirty="0"/>
              <a:t> </a:t>
            </a:r>
            <a:r>
              <a:rPr lang="en-US" b="0" dirty="0" err="1"/>
              <a:t>ước</a:t>
            </a:r>
            <a:r>
              <a:rPr lang="en-US" b="0" dirty="0"/>
              <a:t> </a:t>
            </a:r>
            <a:r>
              <a:rPr lang="en-US" b="0" dirty="0" err="1"/>
              <a:t>lượng</a:t>
            </a:r>
            <a:r>
              <a:rPr lang="en-US" b="0" dirty="0"/>
              <a:t> </a:t>
            </a:r>
            <a:r>
              <a:rPr lang="en-US" b="0" dirty="0" err="1"/>
              <a:t>điểm</a:t>
            </a:r>
            <a:r>
              <a:rPr lang="en-US" b="0" dirty="0"/>
              <a:t> </a:t>
            </a:r>
            <a:r>
              <a:rPr lang="en-US" b="0" dirty="0" err="1"/>
              <a:t>của</a:t>
            </a:r>
            <a:r>
              <a:rPr lang="en-US" b="0" dirty="0"/>
              <a:t> </a:t>
            </a:r>
            <a:r>
              <a:rPr lang="el-GR" b="0" dirty="0"/>
              <a:t>μ</a:t>
            </a:r>
            <a:r>
              <a:rPr lang="en-US" b="0" dirty="0"/>
              <a:t> </a:t>
            </a:r>
            <a:r>
              <a:rPr lang="en-US" b="0" dirty="0" err="1"/>
              <a:t>là</a:t>
            </a:r>
            <a:r>
              <a:rPr lang="en-US" b="0" dirty="0"/>
              <a:t>: </a:t>
            </a:r>
          </a:p>
          <a:p>
            <a:pPr marL="365760" indent="-256032" eaLnBrk="1" fontAlgn="auto" hangingPunct="1">
              <a:spcAft>
                <a:spcPts val="0"/>
              </a:spcAft>
              <a:buClr>
                <a:schemeClr val="accent3"/>
              </a:buClr>
              <a:buFont typeface="Georgia"/>
              <a:buNone/>
              <a:defRPr/>
            </a:pPr>
            <a:endParaRPr lang="en-US" b="0" dirty="0"/>
          </a:p>
          <a:p>
            <a:pPr marL="365760" indent="-256032" eaLnBrk="1" fontAlgn="auto" hangingPunct="1">
              <a:spcAft>
                <a:spcPts val="0"/>
              </a:spcAft>
              <a:buClr>
                <a:schemeClr val="accent3"/>
              </a:buClr>
              <a:buFont typeface="Georgia"/>
              <a:buNone/>
              <a:defRPr/>
            </a:pPr>
            <a:endParaRPr lang="en-US" b="0" dirty="0"/>
          </a:p>
          <a:p>
            <a:pPr marL="365760" indent="-256032" eaLnBrk="1" fontAlgn="auto" hangingPunct="1">
              <a:spcAft>
                <a:spcPts val="0"/>
              </a:spcAft>
              <a:buClr>
                <a:schemeClr val="accent3"/>
              </a:buClr>
              <a:buFont typeface="Georgia"/>
              <a:buNone/>
              <a:defRPr/>
            </a:pPr>
            <a:r>
              <a:rPr lang="en-US" b="0" dirty="0"/>
              <a:t>	</a:t>
            </a:r>
          </a:p>
          <a:p>
            <a:pPr marL="365760" indent="-256032" eaLnBrk="1" fontAlgn="auto" hangingPunct="1">
              <a:spcAft>
                <a:spcPts val="0"/>
              </a:spcAft>
              <a:buClr>
                <a:schemeClr val="accent3"/>
              </a:buClr>
              <a:buFont typeface="Georgia"/>
              <a:buChar char="•"/>
              <a:defRPr/>
            </a:pPr>
            <a:endParaRPr lang="en-US" b="0" dirty="0"/>
          </a:p>
        </p:txBody>
      </p:sp>
      <p:graphicFrame>
        <p:nvGraphicFramePr>
          <p:cNvPr id="19463" name="Object 3"/>
          <p:cNvGraphicFramePr>
            <a:graphicFrameLocks noChangeAspect="1"/>
          </p:cNvGraphicFramePr>
          <p:nvPr>
            <p:extLst>
              <p:ext uri="{D42A27DB-BD31-4B8C-83A1-F6EECF244321}">
                <p14:modId xmlns:p14="http://schemas.microsoft.com/office/powerpoint/2010/main" val="3650672028"/>
              </p:ext>
            </p:extLst>
          </p:nvPr>
        </p:nvGraphicFramePr>
        <p:xfrm>
          <a:off x="3200400" y="1600200"/>
          <a:ext cx="609600" cy="473075"/>
        </p:xfrm>
        <a:graphic>
          <a:graphicData uri="http://schemas.openxmlformats.org/presentationml/2006/ole">
            <mc:AlternateContent xmlns:mc="http://schemas.openxmlformats.org/markup-compatibility/2006">
              <mc:Choice xmlns:v="urn:schemas-microsoft-com:vml" Requires="v">
                <p:oleObj name="Equation" r:id="rId2" imgW="177569" imgH="202936" progId="Equation.3">
                  <p:embed/>
                </p:oleObj>
              </mc:Choice>
              <mc:Fallback>
                <p:oleObj name="Equation" r:id="rId2" imgW="177569" imgH="202936" progId="Equation.3">
                  <p:embed/>
                  <p:pic>
                    <p:nvPicPr>
                      <p:cNvPr id="1946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600200"/>
                        <a:ext cx="6096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4" name="Object 2"/>
          <p:cNvGraphicFramePr>
            <a:graphicFrameLocks noChangeAspect="1"/>
          </p:cNvGraphicFramePr>
          <p:nvPr>
            <p:extLst>
              <p:ext uri="{D42A27DB-BD31-4B8C-83A1-F6EECF244321}">
                <p14:modId xmlns:p14="http://schemas.microsoft.com/office/powerpoint/2010/main" val="2171526361"/>
              </p:ext>
            </p:extLst>
          </p:nvPr>
        </p:nvGraphicFramePr>
        <p:xfrm>
          <a:off x="4975225" y="2939914"/>
          <a:ext cx="434975" cy="503238"/>
        </p:xfrm>
        <a:graphic>
          <a:graphicData uri="http://schemas.openxmlformats.org/presentationml/2006/ole">
            <mc:AlternateContent xmlns:mc="http://schemas.openxmlformats.org/markup-compatibility/2006">
              <mc:Choice xmlns:v="urn:schemas-microsoft-com:vml" Requires="v">
                <p:oleObj name="Equation" r:id="rId4" imgW="126780" imgH="215526" progId="Equation.3">
                  <p:embed/>
                </p:oleObj>
              </mc:Choice>
              <mc:Fallback>
                <p:oleObj name="Equation" r:id="rId4" imgW="126780" imgH="215526" progId="Equation.3">
                  <p:embed/>
                  <p:pic>
                    <p:nvPicPr>
                      <p:cNvPr id="1946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5225" y="2939914"/>
                        <a:ext cx="4349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5" name="Object 5"/>
          <p:cNvGraphicFramePr>
            <a:graphicFrameLocks noChangeAspect="1"/>
          </p:cNvGraphicFramePr>
          <p:nvPr/>
        </p:nvGraphicFramePr>
        <p:xfrm>
          <a:off x="2971800" y="5410200"/>
          <a:ext cx="5105400" cy="763588"/>
        </p:xfrm>
        <a:graphic>
          <a:graphicData uri="http://schemas.openxmlformats.org/presentationml/2006/ole">
            <mc:AlternateContent xmlns:mc="http://schemas.openxmlformats.org/markup-compatibility/2006">
              <mc:Choice xmlns:v="urn:schemas-microsoft-com:vml" Requires="v">
                <p:oleObj name="Equation" r:id="rId6" imgW="1790700" imgH="393700" progId="Equation.3">
                  <p:embed/>
                </p:oleObj>
              </mc:Choice>
              <mc:Fallback>
                <p:oleObj name="Equation" r:id="rId6" imgW="1790700" imgH="393700" progId="Equation.3">
                  <p:embed/>
                  <p:pic>
                    <p:nvPicPr>
                      <p:cNvPr id="19465"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1800" y="5410200"/>
                        <a:ext cx="510540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8989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927100" y="525462"/>
            <a:ext cx="7226300" cy="8461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r>
              <a:rPr lang="vi-VN" altLang="en-US" b="1" dirty="0"/>
              <a:t>Ví dụ ước lượng điểm</a:t>
            </a:r>
            <a:endParaRPr lang="en-US" altLang="en-US" b="1" dirty="0"/>
          </a:p>
        </p:txBody>
      </p:sp>
      <p:sp>
        <p:nvSpPr>
          <p:cNvPr id="23" name="Rectangle 22"/>
          <p:cNvSpPr/>
          <p:nvPr/>
        </p:nvSpPr>
        <p:spPr>
          <a:xfrm>
            <a:off x="1399585" y="1524000"/>
            <a:ext cx="3048000" cy="3048000"/>
          </a:xfrm>
          <a:prstGeom prst="rect">
            <a:avLst/>
          </a:prstGeom>
          <a:solidFill>
            <a:srgbClr val="AE0000"/>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24" name="Rectangle 23"/>
          <p:cNvSpPr/>
          <p:nvPr/>
        </p:nvSpPr>
        <p:spPr>
          <a:xfrm>
            <a:off x="2618785" y="1828800"/>
            <a:ext cx="1066800" cy="1066800"/>
          </a:xfrm>
          <a:prstGeom prst="rect">
            <a:avLst/>
          </a:prstGeom>
          <a:solidFill>
            <a:srgbClr val="E5E9F7">
              <a:lumMod val="50000"/>
            </a:srgbClr>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25" name="Rectangle 24"/>
          <p:cNvSpPr/>
          <p:nvPr/>
        </p:nvSpPr>
        <p:spPr>
          <a:xfrm>
            <a:off x="6123985" y="1905000"/>
            <a:ext cx="1905000" cy="1066800"/>
          </a:xfrm>
          <a:prstGeom prst="rect">
            <a:avLst/>
          </a:prstGeom>
          <a:solidFill>
            <a:srgbClr val="E5E9F7">
              <a:lumMod val="50000"/>
            </a:srgbClr>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26" name="TextBox 9"/>
          <p:cNvSpPr txBox="1">
            <a:spLocks noChangeArrowheads="1"/>
          </p:cNvSpPr>
          <p:nvPr/>
        </p:nvSpPr>
        <p:spPr bwMode="auto">
          <a:xfrm>
            <a:off x="1856785" y="3505200"/>
            <a:ext cx="281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white"/>
                </a:solidFill>
                <a:latin typeface="Palatino Linotype" pitchFamily="18" charset="0"/>
              </a:rPr>
              <a:t>Quần thể</a:t>
            </a:r>
          </a:p>
        </p:txBody>
      </p:sp>
      <p:sp>
        <p:nvSpPr>
          <p:cNvPr id="27" name="TextBox 10"/>
          <p:cNvSpPr txBox="1">
            <a:spLocks noChangeArrowheads="1"/>
          </p:cNvSpPr>
          <p:nvPr/>
        </p:nvSpPr>
        <p:spPr bwMode="auto">
          <a:xfrm>
            <a:off x="5865223" y="3135313"/>
            <a:ext cx="2286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dirty="0" err="1">
                <a:solidFill>
                  <a:prstClr val="black"/>
                </a:solidFill>
                <a:latin typeface="Palatino Linotype" pitchFamily="18" charset="0"/>
              </a:rPr>
              <a:t>Trung</a:t>
            </a:r>
            <a:r>
              <a:rPr lang="en-US" sz="1800" b="0" dirty="0">
                <a:solidFill>
                  <a:prstClr val="black"/>
                </a:solidFill>
                <a:latin typeface="Palatino Linotype" pitchFamily="18" charset="0"/>
              </a:rPr>
              <a:t> </a:t>
            </a:r>
            <a:r>
              <a:rPr lang="en-US" sz="1800" b="0" dirty="0" err="1">
                <a:solidFill>
                  <a:prstClr val="black"/>
                </a:solidFill>
                <a:latin typeface="Palatino Linotype" pitchFamily="18" charset="0"/>
              </a:rPr>
              <a:t>bình</a:t>
            </a:r>
            <a:r>
              <a:rPr lang="en-US" sz="1800" b="0" dirty="0">
                <a:solidFill>
                  <a:prstClr val="black"/>
                </a:solidFill>
                <a:latin typeface="Palatino Linotype" pitchFamily="18" charset="0"/>
              </a:rPr>
              <a:t> </a:t>
            </a:r>
            <a:r>
              <a:rPr lang="en-US" sz="1800" b="0" dirty="0" err="1">
                <a:solidFill>
                  <a:prstClr val="black"/>
                </a:solidFill>
                <a:latin typeface="Palatino Linotype" pitchFamily="18" charset="0"/>
              </a:rPr>
              <a:t>mẫu</a:t>
            </a:r>
            <a:r>
              <a:rPr lang="en-US" sz="1800" b="0" dirty="0">
                <a:solidFill>
                  <a:prstClr val="black"/>
                </a:solidFill>
                <a:latin typeface="Palatino Linotype" pitchFamily="18" charset="0"/>
              </a:rPr>
              <a:t>  28.75</a:t>
            </a:r>
          </a:p>
        </p:txBody>
      </p:sp>
      <p:sp>
        <p:nvSpPr>
          <p:cNvPr id="28" name="TextBox 11"/>
          <p:cNvSpPr txBox="1">
            <a:spLocks noChangeArrowheads="1"/>
          </p:cNvSpPr>
          <p:nvPr/>
        </p:nvSpPr>
        <p:spPr bwMode="auto">
          <a:xfrm>
            <a:off x="2161585" y="4789488"/>
            <a:ext cx="2819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black"/>
                </a:solidFill>
                <a:latin typeface="Palatino Linotype" pitchFamily="18" charset="0"/>
              </a:rPr>
              <a:t>Kỳ vọng ~ 28.75</a:t>
            </a:r>
          </a:p>
        </p:txBody>
      </p:sp>
      <p:sp>
        <p:nvSpPr>
          <p:cNvPr id="29" name="TextBox 12"/>
          <p:cNvSpPr txBox="1">
            <a:spLocks noChangeArrowheads="1"/>
          </p:cNvSpPr>
          <p:nvPr/>
        </p:nvSpPr>
        <p:spPr bwMode="auto">
          <a:xfrm>
            <a:off x="6276385" y="2209800"/>
            <a:ext cx="152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dirty="0" err="1">
                <a:solidFill>
                  <a:prstClr val="white"/>
                </a:solidFill>
                <a:latin typeface="Palatino Linotype" pitchFamily="18" charset="0"/>
              </a:rPr>
              <a:t>Mẫu</a:t>
            </a:r>
            <a:r>
              <a:rPr lang="en-US" sz="1800" b="0" dirty="0">
                <a:solidFill>
                  <a:prstClr val="white"/>
                </a:solidFill>
                <a:latin typeface="Palatino Linotype" pitchFamily="18" charset="0"/>
              </a:rPr>
              <a:t> {25,30,29,31}</a:t>
            </a:r>
          </a:p>
        </p:txBody>
      </p:sp>
      <p:sp>
        <p:nvSpPr>
          <p:cNvPr id="40" name="Down Arrow 39"/>
          <p:cNvSpPr/>
          <p:nvPr/>
        </p:nvSpPr>
        <p:spPr>
          <a:xfrm rot="2668314">
            <a:off x="4850810" y="3875088"/>
            <a:ext cx="685800" cy="1219200"/>
          </a:xfrm>
          <a:prstGeom prst="downArrow">
            <a:avLst/>
          </a:prstGeom>
          <a:solidFill>
            <a:srgbClr val="AE0000"/>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41" name="Right Arrow 40"/>
          <p:cNvSpPr/>
          <p:nvPr/>
        </p:nvSpPr>
        <p:spPr>
          <a:xfrm>
            <a:off x="4752385" y="1981200"/>
            <a:ext cx="1295400" cy="990600"/>
          </a:xfrm>
          <a:prstGeom prst="rightArrow">
            <a:avLst/>
          </a:prstGeom>
          <a:solidFill>
            <a:srgbClr val="AE0000"/>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42" name="TextBox 17"/>
          <p:cNvSpPr txBox="1">
            <a:spLocks noChangeArrowheads="1"/>
          </p:cNvSpPr>
          <p:nvPr/>
        </p:nvSpPr>
        <p:spPr bwMode="auto">
          <a:xfrm>
            <a:off x="5468348" y="4419600"/>
            <a:ext cx="1849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black"/>
                </a:solidFill>
                <a:latin typeface="Palatino Linotype" pitchFamily="18" charset="0"/>
              </a:rPr>
              <a:t>Ước lượng</a:t>
            </a:r>
          </a:p>
        </p:txBody>
      </p:sp>
    </p:spTree>
    <p:extLst>
      <p:ext uri="{BB962C8B-B14F-4D97-AF65-F5344CB8AC3E}">
        <p14:creationId xmlns:p14="http://schemas.microsoft.com/office/powerpoint/2010/main" val="48464696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927100" y="525462"/>
            <a:ext cx="7226300" cy="8461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r>
              <a:rPr lang="vi-VN" altLang="en-US" b="1" dirty="0"/>
              <a:t>Ví dụ ước lượng </a:t>
            </a:r>
            <a:r>
              <a:rPr lang="en-US" altLang="en-US" b="1" dirty="0" err="1"/>
              <a:t>khoảng</a:t>
            </a:r>
            <a:endParaRPr lang="en-US" altLang="en-US" b="1" dirty="0"/>
          </a:p>
        </p:txBody>
      </p:sp>
      <p:sp>
        <p:nvSpPr>
          <p:cNvPr id="30" name="Rectangle 29"/>
          <p:cNvSpPr/>
          <p:nvPr/>
        </p:nvSpPr>
        <p:spPr>
          <a:xfrm>
            <a:off x="1401762" y="1524000"/>
            <a:ext cx="3048000" cy="3048000"/>
          </a:xfrm>
          <a:prstGeom prst="rect">
            <a:avLst/>
          </a:prstGeom>
          <a:solidFill>
            <a:srgbClr val="AE0000"/>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1" name="Rectangle 30"/>
          <p:cNvSpPr/>
          <p:nvPr/>
        </p:nvSpPr>
        <p:spPr>
          <a:xfrm>
            <a:off x="2620962" y="1828800"/>
            <a:ext cx="1066800" cy="1066800"/>
          </a:xfrm>
          <a:prstGeom prst="rect">
            <a:avLst/>
          </a:prstGeom>
          <a:solidFill>
            <a:srgbClr val="E5E9F7">
              <a:lumMod val="50000"/>
            </a:srgbClr>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2" name="Rectangle 31"/>
          <p:cNvSpPr/>
          <p:nvPr/>
        </p:nvSpPr>
        <p:spPr>
          <a:xfrm>
            <a:off x="6126162" y="1905000"/>
            <a:ext cx="1905000" cy="1066800"/>
          </a:xfrm>
          <a:prstGeom prst="rect">
            <a:avLst/>
          </a:prstGeom>
          <a:solidFill>
            <a:srgbClr val="E5E9F7">
              <a:lumMod val="50000"/>
            </a:srgbClr>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3" name="TextBox 9"/>
          <p:cNvSpPr txBox="1">
            <a:spLocks noChangeArrowheads="1"/>
          </p:cNvSpPr>
          <p:nvPr/>
        </p:nvSpPr>
        <p:spPr bwMode="auto">
          <a:xfrm>
            <a:off x="1858962" y="3505200"/>
            <a:ext cx="281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white"/>
                </a:solidFill>
                <a:latin typeface="Palatino Linotype" pitchFamily="18" charset="0"/>
              </a:rPr>
              <a:t>Quần thể</a:t>
            </a:r>
          </a:p>
        </p:txBody>
      </p:sp>
      <p:sp>
        <p:nvSpPr>
          <p:cNvPr id="34" name="TextBox 10"/>
          <p:cNvSpPr txBox="1">
            <a:spLocks noChangeArrowheads="1"/>
          </p:cNvSpPr>
          <p:nvPr/>
        </p:nvSpPr>
        <p:spPr bwMode="auto">
          <a:xfrm>
            <a:off x="5867400" y="3135313"/>
            <a:ext cx="2286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black"/>
                </a:solidFill>
                <a:latin typeface="Palatino Linotype" pitchFamily="18" charset="0"/>
              </a:rPr>
              <a:t>Trung bình mẫu 28.75</a:t>
            </a:r>
          </a:p>
        </p:txBody>
      </p:sp>
      <p:sp>
        <p:nvSpPr>
          <p:cNvPr id="35" name="TextBox 11"/>
          <p:cNvSpPr txBox="1">
            <a:spLocks noChangeArrowheads="1"/>
          </p:cNvSpPr>
          <p:nvPr/>
        </p:nvSpPr>
        <p:spPr bwMode="auto">
          <a:xfrm>
            <a:off x="1630362" y="4786313"/>
            <a:ext cx="2819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black"/>
                </a:solidFill>
                <a:latin typeface="Palatino Linotype" pitchFamily="18" charset="0"/>
              </a:rPr>
              <a:t>Kỳ vọng thuộc [28, 29.5]</a:t>
            </a:r>
          </a:p>
        </p:txBody>
      </p:sp>
      <p:sp>
        <p:nvSpPr>
          <p:cNvPr id="36" name="TextBox 12"/>
          <p:cNvSpPr txBox="1">
            <a:spLocks noChangeArrowheads="1"/>
          </p:cNvSpPr>
          <p:nvPr/>
        </p:nvSpPr>
        <p:spPr bwMode="auto">
          <a:xfrm>
            <a:off x="6278562" y="2209800"/>
            <a:ext cx="152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white"/>
                </a:solidFill>
                <a:latin typeface="Palatino Linotype" pitchFamily="18" charset="0"/>
              </a:rPr>
              <a:t>Mẫu {25,30,29,31}</a:t>
            </a:r>
          </a:p>
        </p:txBody>
      </p:sp>
      <p:sp>
        <p:nvSpPr>
          <p:cNvPr id="37" name="Down Arrow 36"/>
          <p:cNvSpPr/>
          <p:nvPr/>
        </p:nvSpPr>
        <p:spPr>
          <a:xfrm rot="2668314">
            <a:off x="4852987" y="3875088"/>
            <a:ext cx="685800" cy="1219200"/>
          </a:xfrm>
          <a:prstGeom prst="downArrow">
            <a:avLst/>
          </a:prstGeom>
          <a:solidFill>
            <a:srgbClr val="AE0000"/>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8" name="Right Arrow 37"/>
          <p:cNvSpPr/>
          <p:nvPr/>
        </p:nvSpPr>
        <p:spPr>
          <a:xfrm>
            <a:off x="4754562" y="1981200"/>
            <a:ext cx="1295400" cy="990600"/>
          </a:xfrm>
          <a:prstGeom prst="rightArrow">
            <a:avLst/>
          </a:prstGeom>
          <a:solidFill>
            <a:srgbClr val="AE0000"/>
          </a:solidFill>
          <a:ln w="19050" cap="flat" cmpd="sng" algn="ctr">
            <a:solidFill>
              <a:srgbClr val="AE00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alatino Linotype"/>
              <a:ea typeface="+mn-ea"/>
              <a:cs typeface="+mn-cs"/>
            </a:endParaRPr>
          </a:p>
        </p:txBody>
      </p:sp>
      <p:sp>
        <p:nvSpPr>
          <p:cNvPr id="39" name="TextBox 17"/>
          <p:cNvSpPr txBox="1">
            <a:spLocks noChangeArrowheads="1"/>
          </p:cNvSpPr>
          <p:nvPr/>
        </p:nvSpPr>
        <p:spPr bwMode="auto">
          <a:xfrm>
            <a:off x="5470525" y="4419600"/>
            <a:ext cx="1849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800" b="0">
                <a:solidFill>
                  <a:prstClr val="black"/>
                </a:solidFill>
                <a:latin typeface="Palatino Linotype" pitchFamily="18" charset="0"/>
              </a:rPr>
              <a:t>Ước lượng</a:t>
            </a:r>
          </a:p>
        </p:txBody>
      </p:sp>
    </p:spTree>
    <p:extLst>
      <p:ext uri="{BB962C8B-B14F-4D97-AF65-F5344CB8AC3E}">
        <p14:creationId xmlns:p14="http://schemas.microsoft.com/office/powerpoint/2010/main" val="378086188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120650" y="457200"/>
            <a:ext cx="8901113" cy="1143000"/>
          </a:xfrm>
          <a:ln>
            <a:miter lim="800000"/>
            <a:headEnd/>
            <a:tailEnd/>
          </a:ln>
        </p:spPr>
        <p:txBody>
          <a:bodyPr vert="horz" wrap="square" lIns="90488" tIns="44450" rIns="90488" bIns="44450" numCol="1" anchor="t" anchorCtr="0" compatLnSpc="1">
            <a:prstTxWarp prst="textNoShape">
              <a:avLst/>
            </a:prstTxWarp>
          </a:bodyPr>
          <a:lstStyle/>
          <a:p>
            <a:pPr>
              <a:defRPr/>
            </a:pPr>
            <a:r>
              <a:rPr lang="en-US" b="1" dirty="0" err="1">
                <a:solidFill>
                  <a:schemeClr val="accent6">
                    <a:lumMod val="75000"/>
                  </a:schemeClr>
                </a:solidFill>
              </a:rPr>
              <a:t>Chương</a:t>
            </a:r>
            <a:r>
              <a:rPr lang="en-US" b="1" dirty="0">
                <a:solidFill>
                  <a:schemeClr val="accent6">
                    <a:lumMod val="75000"/>
                  </a:schemeClr>
                </a:solidFill>
              </a:rPr>
              <a:t> 7</a:t>
            </a:r>
            <a:br>
              <a:rPr lang="en-US" b="1" dirty="0">
                <a:solidFill>
                  <a:schemeClr val="accent6">
                    <a:lumMod val="75000"/>
                  </a:schemeClr>
                </a:solidFill>
              </a:rPr>
            </a:br>
            <a:r>
              <a:rPr lang="en-US" b="1" dirty="0" err="1">
                <a:solidFill>
                  <a:schemeClr val="accent6">
                    <a:lumMod val="75000"/>
                  </a:schemeClr>
                </a:solidFill>
              </a:rPr>
              <a:t>Ước</a:t>
            </a:r>
            <a:r>
              <a:rPr lang="en-US" b="1" dirty="0">
                <a:solidFill>
                  <a:schemeClr val="accent6">
                    <a:lumMod val="75000"/>
                  </a:schemeClr>
                </a:solidFill>
              </a:rPr>
              <a:t> </a:t>
            </a:r>
            <a:r>
              <a:rPr lang="en-US" b="1" dirty="0" err="1">
                <a:solidFill>
                  <a:schemeClr val="accent6">
                    <a:lumMod val="75000"/>
                  </a:schemeClr>
                </a:solidFill>
              </a:rPr>
              <a:t>lượng</a:t>
            </a:r>
            <a:r>
              <a:rPr lang="en-US" b="1" dirty="0">
                <a:solidFill>
                  <a:schemeClr val="accent6">
                    <a:lumMod val="75000"/>
                  </a:schemeClr>
                </a:solidFill>
              </a:rPr>
              <a:t> </a:t>
            </a:r>
            <a:r>
              <a:rPr lang="en-US" b="1" dirty="0" err="1">
                <a:solidFill>
                  <a:schemeClr val="accent6">
                    <a:lumMod val="75000"/>
                  </a:schemeClr>
                </a:solidFill>
              </a:rPr>
              <a:t>và</a:t>
            </a:r>
            <a:r>
              <a:rPr lang="en-US" b="1" dirty="0">
                <a:solidFill>
                  <a:schemeClr val="accent6">
                    <a:lumMod val="75000"/>
                  </a:schemeClr>
                </a:solidFill>
              </a:rPr>
              <a:t> </a:t>
            </a:r>
            <a:r>
              <a:rPr lang="en-US" b="1" dirty="0" err="1">
                <a:solidFill>
                  <a:schemeClr val="accent6">
                    <a:lumMod val="75000"/>
                  </a:schemeClr>
                </a:solidFill>
              </a:rPr>
              <a:t>kích</a:t>
            </a:r>
            <a:r>
              <a:rPr lang="en-US" b="1" dirty="0">
                <a:solidFill>
                  <a:schemeClr val="accent6">
                    <a:lumMod val="75000"/>
                  </a:schemeClr>
                </a:solidFill>
              </a:rPr>
              <a:t> </a:t>
            </a:r>
            <a:r>
              <a:rPr lang="en-US" b="1" dirty="0" err="1">
                <a:solidFill>
                  <a:schemeClr val="accent6">
                    <a:lumMod val="75000"/>
                  </a:schemeClr>
                </a:solidFill>
              </a:rPr>
              <a:t>thước</a:t>
            </a:r>
            <a:r>
              <a:rPr lang="en-US" b="1" dirty="0">
                <a:solidFill>
                  <a:schemeClr val="accent6">
                    <a:lumMod val="75000"/>
                  </a:schemeClr>
                </a:solidFill>
              </a:rPr>
              <a:t> </a:t>
            </a:r>
            <a:r>
              <a:rPr lang="en-US" b="1" dirty="0" err="1">
                <a:solidFill>
                  <a:schemeClr val="accent6">
                    <a:lumMod val="75000"/>
                  </a:schemeClr>
                </a:solidFill>
              </a:rPr>
              <a:t>mẫu</a:t>
            </a:r>
            <a:endParaRPr lang="en-US" b="1" dirty="0">
              <a:solidFill>
                <a:schemeClr val="accent6">
                  <a:lumMod val="75000"/>
                </a:schemeClr>
              </a:solidFill>
            </a:endParaRPr>
          </a:p>
        </p:txBody>
      </p:sp>
      <p:sp>
        <p:nvSpPr>
          <p:cNvPr id="4099" name="Text Box 6"/>
          <p:cNvSpPr txBox="1">
            <a:spLocks noChangeArrowheads="1"/>
          </p:cNvSpPr>
          <p:nvPr/>
        </p:nvSpPr>
        <p:spPr bwMode="auto">
          <a:xfrm>
            <a:off x="609600" y="2249488"/>
            <a:ext cx="8305800" cy="157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50000"/>
              </a:spcBef>
              <a:defRPr/>
            </a:pPr>
            <a:r>
              <a:rPr lang="en-US" altLang="en-US" sz="2600" b="0" dirty="0">
                <a:latin typeface="+mn-lt"/>
                <a:ea typeface="+mj-ea"/>
                <a:cs typeface="+mj-cs"/>
              </a:rPr>
              <a:t>7-1  </a:t>
            </a:r>
            <a:r>
              <a:rPr lang="en-US" altLang="en-US" sz="2600" b="0" dirty="0" err="1">
                <a:latin typeface="+mn-lt"/>
                <a:ea typeface="+mj-ea"/>
                <a:cs typeface="+mj-cs"/>
              </a:rPr>
              <a:t>Giới</a:t>
            </a:r>
            <a:r>
              <a:rPr lang="en-US" altLang="en-US" sz="2600" b="0" dirty="0">
                <a:latin typeface="+mn-lt"/>
                <a:ea typeface="+mj-ea"/>
                <a:cs typeface="+mj-cs"/>
              </a:rPr>
              <a:t> </a:t>
            </a:r>
            <a:r>
              <a:rPr lang="en-US" altLang="en-US" sz="2600" b="0" dirty="0" err="1">
                <a:latin typeface="+mn-lt"/>
                <a:ea typeface="+mj-ea"/>
                <a:cs typeface="+mj-cs"/>
              </a:rPr>
              <a:t>thiệu</a:t>
            </a:r>
            <a:endParaRPr lang="en-US" altLang="en-US" sz="2600" b="0" dirty="0">
              <a:latin typeface="+mn-lt"/>
              <a:ea typeface="+mj-ea"/>
              <a:cs typeface="+mj-cs"/>
            </a:endParaRPr>
          </a:p>
          <a:p>
            <a:pPr>
              <a:lnSpc>
                <a:spcPct val="90000"/>
              </a:lnSpc>
              <a:spcBef>
                <a:spcPct val="50000"/>
              </a:spcBef>
              <a:defRPr/>
            </a:pPr>
            <a:r>
              <a:rPr lang="en-US" altLang="en-US" sz="2600" dirty="0">
                <a:solidFill>
                  <a:schemeClr val="accent6">
                    <a:lumMod val="75000"/>
                  </a:schemeClr>
                </a:solidFill>
                <a:latin typeface="+mn-lt"/>
                <a:ea typeface="+mj-ea"/>
                <a:cs typeface="+mj-cs"/>
              </a:rPr>
              <a:t>7-2  </a:t>
            </a:r>
            <a:r>
              <a:rPr lang="en-US" altLang="en-US" sz="2600" dirty="0" err="1">
                <a:solidFill>
                  <a:schemeClr val="accent6">
                    <a:lumMod val="75000"/>
                  </a:schemeClr>
                </a:solidFill>
                <a:latin typeface="+mn-lt"/>
                <a:ea typeface="+mj-ea"/>
                <a:cs typeface="+mj-cs"/>
              </a:rPr>
              <a:t>Ước</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lượng</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trung</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bình</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quần</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thể</a:t>
            </a:r>
            <a:endParaRPr lang="en-US" altLang="en-US" sz="2600" dirty="0">
              <a:solidFill>
                <a:schemeClr val="accent6">
                  <a:lumMod val="75000"/>
                </a:schemeClr>
              </a:solidFill>
              <a:latin typeface="+mn-lt"/>
              <a:ea typeface="+mj-ea"/>
              <a:cs typeface="+mj-cs"/>
            </a:endParaRPr>
          </a:p>
          <a:p>
            <a:pPr>
              <a:lnSpc>
                <a:spcPct val="90000"/>
              </a:lnSpc>
              <a:spcBef>
                <a:spcPct val="50000"/>
              </a:spcBef>
              <a:defRPr/>
            </a:pPr>
            <a:r>
              <a:rPr lang="en-US" altLang="en-US" sz="2600" b="0" dirty="0"/>
              <a:t>7-3  </a:t>
            </a:r>
            <a:r>
              <a:rPr lang="en-US" altLang="en-US" sz="2600" b="0" dirty="0" err="1"/>
              <a:t>Ước</a:t>
            </a:r>
            <a:r>
              <a:rPr lang="en-US" altLang="en-US" sz="2600" b="0" dirty="0"/>
              <a:t> </a:t>
            </a:r>
            <a:r>
              <a:rPr lang="en-US" altLang="en-US" sz="2600" b="0" dirty="0" err="1"/>
              <a:t>lượng</a:t>
            </a:r>
            <a:r>
              <a:rPr lang="en-US" altLang="en-US" sz="2600" b="0" dirty="0"/>
              <a:t> </a:t>
            </a:r>
            <a:r>
              <a:rPr lang="en-US" altLang="en-US" sz="2600" b="0" dirty="0" err="1"/>
              <a:t>tỉ</a:t>
            </a:r>
            <a:r>
              <a:rPr lang="en-US" altLang="en-US" sz="2600" b="0" dirty="0"/>
              <a:t> </a:t>
            </a:r>
            <a:r>
              <a:rPr lang="en-US" altLang="en-US" sz="2600" b="0" dirty="0" err="1"/>
              <a:t>lệ</a:t>
            </a:r>
            <a:r>
              <a:rPr lang="en-US" altLang="en-US" sz="2600" b="0" dirty="0"/>
              <a:t> </a:t>
            </a:r>
            <a:r>
              <a:rPr lang="en-US" altLang="en-US" sz="2600" b="0" dirty="0" err="1"/>
              <a:t>quần</a:t>
            </a:r>
            <a:r>
              <a:rPr lang="en-US" altLang="en-US" sz="2600" b="0" dirty="0"/>
              <a:t> </a:t>
            </a:r>
            <a:r>
              <a:rPr lang="en-US" altLang="en-US" sz="2600" b="0" dirty="0" err="1"/>
              <a:t>thể</a:t>
            </a:r>
            <a:endParaRPr lang="en-US" altLang="en-US" sz="2600" b="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bwMode="auto">
          <a:xfrm>
            <a:off x="685800" y="460375"/>
            <a:ext cx="7848600" cy="835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t>Khái</a:t>
            </a:r>
            <a:r>
              <a:rPr lang="en-US" altLang="en-US" dirty="0"/>
              <a:t> </a:t>
            </a:r>
            <a:r>
              <a:rPr lang="en-US" altLang="en-US" dirty="0" err="1"/>
              <a:t>niệm</a:t>
            </a:r>
            <a:r>
              <a:rPr lang="en-US" altLang="en-US" dirty="0"/>
              <a:t> </a:t>
            </a:r>
            <a:r>
              <a:rPr lang="en-US" altLang="en-US" dirty="0" err="1"/>
              <a:t>chính</a:t>
            </a:r>
            <a:endParaRPr lang="en-US" altLang="en-US" dirty="0"/>
          </a:p>
        </p:txBody>
      </p:sp>
      <p:sp>
        <p:nvSpPr>
          <p:cNvPr id="24579" name="Text Box 3"/>
          <p:cNvSpPr txBox="1">
            <a:spLocks noChangeArrowheads="1"/>
          </p:cNvSpPr>
          <p:nvPr/>
        </p:nvSpPr>
        <p:spPr bwMode="auto">
          <a:xfrm>
            <a:off x="0" y="1370013"/>
            <a:ext cx="9144000" cy="2850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514350" indent="-514350">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50000"/>
              </a:spcBef>
              <a:buFontTx/>
              <a:buAutoNum type="arabicPeriod"/>
            </a:pPr>
            <a:r>
              <a:rPr lang="en-US" altLang="en-US" sz="2800" b="0" dirty="0"/>
              <a:t>G</a:t>
            </a:r>
            <a:r>
              <a:rPr lang="vi-VN" altLang="en-US" sz="2800" b="0" dirty="0"/>
              <a:t>iá trị trung bình </a:t>
            </a:r>
            <a:r>
              <a:rPr lang="en-US" altLang="en-US" sz="2800" b="0" dirty="0"/>
              <a:t>    </a:t>
            </a:r>
            <a:r>
              <a:rPr lang="vi-VN" altLang="en-US" sz="2800" b="0" dirty="0"/>
              <a:t>của mẫu là </a:t>
            </a:r>
            <a:r>
              <a:rPr lang="vi-VN" altLang="en-US" sz="2800" b="0" dirty="0">
                <a:solidFill>
                  <a:srgbClr val="FF0000"/>
                </a:solidFill>
              </a:rPr>
              <a:t>ước lượng điểm </a:t>
            </a:r>
            <a:r>
              <a:rPr lang="vi-VN" altLang="en-US" sz="2800" b="0" dirty="0"/>
              <a:t>tốt nhất của trung bình </a:t>
            </a:r>
            <a:r>
              <a:rPr lang="en-US" altLang="en-US" sz="2800" b="0" dirty="0" err="1"/>
              <a:t>quần</a:t>
            </a:r>
            <a:r>
              <a:rPr lang="en-US" altLang="en-US" sz="2800" b="0" dirty="0"/>
              <a:t> </a:t>
            </a:r>
            <a:r>
              <a:rPr lang="en-US" altLang="en-US" sz="2800" b="0" dirty="0" err="1"/>
              <a:t>thể</a:t>
            </a:r>
            <a:r>
              <a:rPr lang="en-US" altLang="en-US" sz="2800" b="0" dirty="0"/>
              <a:t> </a:t>
            </a:r>
            <a:r>
              <a:rPr lang="el-GR" altLang="en-US" sz="2800" b="0" dirty="0"/>
              <a:t>μ.</a:t>
            </a:r>
            <a:endParaRPr lang="en-US" altLang="en-US" sz="2800" b="0" dirty="0"/>
          </a:p>
          <a:p>
            <a:pPr>
              <a:lnSpc>
                <a:spcPct val="90000"/>
              </a:lnSpc>
              <a:spcBef>
                <a:spcPct val="50000"/>
              </a:spcBef>
              <a:buFontTx/>
              <a:buAutoNum type="arabicPeriod"/>
            </a:pPr>
            <a:r>
              <a:rPr lang="en-US" altLang="en-US" sz="2800" b="0" dirty="0"/>
              <a:t>S</a:t>
            </a:r>
            <a:r>
              <a:rPr lang="vi-VN" altLang="en-US" sz="2800" b="0" dirty="0"/>
              <a:t>ử dụng dữ liệu mẫu để xây dựng một </a:t>
            </a:r>
            <a:r>
              <a:rPr lang="vi-VN" altLang="en-US" sz="2800" b="0" dirty="0">
                <a:solidFill>
                  <a:srgbClr val="FF0000"/>
                </a:solidFill>
              </a:rPr>
              <a:t>khoảng </a:t>
            </a:r>
            <a:r>
              <a:rPr lang="en-US" altLang="en-US" sz="2800" b="0" dirty="0" err="1">
                <a:solidFill>
                  <a:srgbClr val="FF0000"/>
                </a:solidFill>
              </a:rPr>
              <a:t>ước</a:t>
            </a:r>
            <a:r>
              <a:rPr lang="en-US" altLang="en-US" sz="2800" b="0" dirty="0">
                <a:solidFill>
                  <a:srgbClr val="FF0000"/>
                </a:solidFill>
              </a:rPr>
              <a:t> </a:t>
            </a:r>
            <a:r>
              <a:rPr lang="vi-VN" altLang="en-US" sz="2800" b="0" dirty="0">
                <a:solidFill>
                  <a:srgbClr val="FF0000"/>
                </a:solidFill>
              </a:rPr>
              <a:t> </a:t>
            </a:r>
            <a:r>
              <a:rPr lang="en-US" altLang="en-US" sz="2800" b="0" dirty="0" err="1">
                <a:solidFill>
                  <a:srgbClr val="FF0000"/>
                </a:solidFill>
              </a:rPr>
              <a:t>lượng</a:t>
            </a:r>
            <a:r>
              <a:rPr lang="en-US" altLang="en-US" sz="2800" b="0" dirty="0">
                <a:solidFill>
                  <a:srgbClr val="FF0000"/>
                </a:solidFill>
              </a:rPr>
              <a:t> </a:t>
            </a:r>
            <a:r>
              <a:rPr lang="en-US" altLang="en-US" sz="2800" b="0" dirty="0" err="1"/>
              <a:t>cho</a:t>
            </a:r>
            <a:r>
              <a:rPr lang="en-US" altLang="en-US" sz="2800" b="0" dirty="0"/>
              <a:t> </a:t>
            </a:r>
            <a:r>
              <a:rPr lang="vi-VN" altLang="en-US" sz="2800" b="0" dirty="0"/>
              <a:t>giá trị trung bình </a:t>
            </a:r>
            <a:r>
              <a:rPr lang="en-US" altLang="en-US" sz="2800" b="0" dirty="0" err="1"/>
              <a:t>quần</a:t>
            </a:r>
            <a:r>
              <a:rPr lang="en-US" altLang="en-US" sz="2800" b="0" dirty="0"/>
              <a:t> </a:t>
            </a:r>
            <a:r>
              <a:rPr lang="en-US" altLang="en-US" sz="2800" b="0" dirty="0" err="1"/>
              <a:t>thể</a:t>
            </a:r>
            <a:r>
              <a:rPr lang="en-US" altLang="en-US" sz="2800" b="0" dirty="0"/>
              <a:t>.</a:t>
            </a:r>
          </a:p>
          <a:p>
            <a:pPr>
              <a:lnSpc>
                <a:spcPct val="90000"/>
              </a:lnSpc>
              <a:spcBef>
                <a:spcPct val="50000"/>
              </a:spcBef>
              <a:buFontTx/>
              <a:buAutoNum type="arabicPeriod"/>
            </a:pPr>
            <a:r>
              <a:rPr lang="en-US" altLang="en-US" sz="2800" b="0" dirty="0"/>
              <a:t>X</a:t>
            </a:r>
            <a:r>
              <a:rPr lang="vi-VN" altLang="en-US" sz="2800" b="0" dirty="0"/>
              <a:t>ác định kích thước mẫu cần thiết để ước </a:t>
            </a:r>
            <a:r>
              <a:rPr lang="en-US" altLang="en-US" sz="2800" b="0" dirty="0" err="1"/>
              <a:t>lượng</a:t>
            </a:r>
            <a:r>
              <a:rPr lang="en-US" altLang="en-US" sz="2800" b="0" dirty="0"/>
              <a:t> </a:t>
            </a:r>
            <a:r>
              <a:rPr lang="vi-VN" altLang="en-US" sz="2800" b="0" dirty="0"/>
              <a:t>trung bình </a:t>
            </a:r>
            <a:r>
              <a:rPr lang="en-US" altLang="en-US" sz="2800" b="0" dirty="0" err="1"/>
              <a:t>quần</a:t>
            </a:r>
            <a:r>
              <a:rPr lang="en-US" altLang="en-US" sz="2800" b="0" dirty="0"/>
              <a:t> </a:t>
            </a:r>
            <a:r>
              <a:rPr lang="en-US" altLang="en-US" sz="2800" b="0" dirty="0" err="1"/>
              <a:t>thể</a:t>
            </a:r>
            <a:r>
              <a:rPr lang="vi-VN" altLang="en-US" sz="2800" b="0" dirty="0"/>
              <a:t>.</a:t>
            </a:r>
            <a:endParaRPr lang="en-US" altLang="en-US" sz="2800" b="0" dirty="0"/>
          </a:p>
        </p:txBody>
      </p:sp>
      <p:graphicFrame>
        <p:nvGraphicFramePr>
          <p:cNvPr id="24580" name="Object 4"/>
          <p:cNvGraphicFramePr>
            <a:graphicFrameLocks noChangeAspect="1"/>
          </p:cNvGraphicFramePr>
          <p:nvPr>
            <p:extLst>
              <p:ext uri="{D42A27DB-BD31-4B8C-83A1-F6EECF244321}">
                <p14:modId xmlns:p14="http://schemas.microsoft.com/office/powerpoint/2010/main" val="3269450323"/>
              </p:ext>
            </p:extLst>
          </p:nvPr>
        </p:nvGraphicFramePr>
        <p:xfrm>
          <a:off x="3352800" y="1434737"/>
          <a:ext cx="254000" cy="317500"/>
        </p:xfrm>
        <a:graphic>
          <a:graphicData uri="http://schemas.openxmlformats.org/presentationml/2006/ole">
            <mc:AlternateContent xmlns:mc="http://schemas.openxmlformats.org/markup-compatibility/2006">
              <mc:Choice xmlns:v="urn:schemas-microsoft-com:vml" Requires="v">
                <p:oleObj name="Equation" r:id="rId3" imgW="254000" imgH="317500" progId="Equation.DSMT4">
                  <p:embed/>
                </p:oleObj>
              </mc:Choice>
              <mc:Fallback>
                <p:oleObj name="Equation" r:id="rId3" imgW="254000" imgH="3175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1434737"/>
                        <a:ext cx="254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type="body" idx="4294967295"/>
          </p:nvPr>
        </p:nvSpPr>
        <p:spPr bwMode="auto">
          <a:xfrm>
            <a:off x="706438" y="2103438"/>
            <a:ext cx="8437562" cy="24765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457200" indent="-457200">
              <a:buFont typeface="Wingdings" panose="05000000000000000000" pitchFamily="2" charset="2"/>
              <a:buNone/>
            </a:pPr>
            <a:r>
              <a:rPr lang="en-US" altLang="en-US" sz="3200" b="0" dirty="0"/>
              <a:t>	</a:t>
            </a:r>
            <a:r>
              <a:rPr lang="en-US" altLang="en-US" sz="3200" b="0" dirty="0" err="1"/>
              <a:t>Trung</a:t>
            </a:r>
            <a:r>
              <a:rPr lang="en-US" altLang="en-US" sz="3200" b="0" dirty="0"/>
              <a:t> </a:t>
            </a:r>
            <a:r>
              <a:rPr lang="en-US" altLang="en-US" sz="3200" b="0" dirty="0" err="1"/>
              <a:t>bình</a:t>
            </a:r>
            <a:r>
              <a:rPr lang="en-US" altLang="en-US" sz="3200" b="0" dirty="0"/>
              <a:t> </a:t>
            </a:r>
            <a:r>
              <a:rPr lang="en-US" altLang="en-US" sz="3200" b="0" dirty="0" err="1"/>
              <a:t>mẫu</a:t>
            </a:r>
            <a:r>
              <a:rPr lang="en-US" altLang="en-US" sz="3200" b="0" dirty="0"/>
              <a:t>      </a:t>
            </a:r>
            <a:r>
              <a:rPr lang="vi-VN" altLang="en-US" sz="2800" b="0" kern="1200" dirty="0">
                <a:solidFill>
                  <a:srgbClr val="000000"/>
                </a:solidFill>
                <a:latin typeface="Arial" panose="020B0604020202020204" pitchFamily="34" charset="0"/>
              </a:rPr>
              <a:t>là </a:t>
            </a:r>
            <a:r>
              <a:rPr lang="vi-VN" altLang="en-US" sz="2800" b="0" kern="1200" dirty="0">
                <a:solidFill>
                  <a:srgbClr val="FF0000"/>
                </a:solidFill>
                <a:latin typeface="Arial" panose="020B0604020202020204" pitchFamily="34" charset="0"/>
              </a:rPr>
              <a:t>ước lượng điểm </a:t>
            </a:r>
            <a:r>
              <a:rPr lang="vi-VN" altLang="en-US" sz="2800" b="0" kern="1200" dirty="0">
                <a:solidFill>
                  <a:srgbClr val="000000"/>
                </a:solidFill>
                <a:latin typeface="Arial" panose="020B0604020202020204" pitchFamily="34" charset="0"/>
              </a:rPr>
              <a:t>tốt nhất của trung bình </a:t>
            </a:r>
            <a:r>
              <a:rPr lang="en-US" altLang="en-US" sz="2800" b="0" kern="1200" dirty="0" err="1">
                <a:solidFill>
                  <a:srgbClr val="000000"/>
                </a:solidFill>
                <a:latin typeface="Arial" panose="020B0604020202020204" pitchFamily="34" charset="0"/>
              </a:rPr>
              <a:t>quần</a:t>
            </a:r>
            <a:r>
              <a:rPr lang="en-US" altLang="en-US" sz="2800" b="0" kern="1200" dirty="0">
                <a:solidFill>
                  <a:srgbClr val="000000"/>
                </a:solidFill>
                <a:latin typeface="Arial" panose="020B0604020202020204" pitchFamily="34" charset="0"/>
              </a:rPr>
              <a:t> </a:t>
            </a:r>
            <a:r>
              <a:rPr lang="en-US" altLang="en-US" sz="2800" b="0" kern="1200" dirty="0" err="1">
                <a:solidFill>
                  <a:srgbClr val="000000"/>
                </a:solidFill>
                <a:latin typeface="Arial" panose="020B0604020202020204" pitchFamily="34" charset="0"/>
              </a:rPr>
              <a:t>thể</a:t>
            </a:r>
            <a:r>
              <a:rPr lang="en-US" altLang="en-US" sz="2800" b="0" kern="1200" dirty="0">
                <a:solidFill>
                  <a:srgbClr val="000000"/>
                </a:solidFill>
                <a:latin typeface="Arial" panose="020B0604020202020204" pitchFamily="34" charset="0"/>
              </a:rPr>
              <a:t> </a:t>
            </a:r>
            <a:r>
              <a:rPr lang="el-GR" altLang="en-US" sz="2800" b="0" kern="1200" dirty="0">
                <a:solidFill>
                  <a:srgbClr val="000000"/>
                </a:solidFill>
                <a:latin typeface="Arial" panose="020B0604020202020204" pitchFamily="34" charset="0"/>
              </a:rPr>
              <a:t>μ</a:t>
            </a:r>
            <a:r>
              <a:rPr lang="en-US" altLang="en-US" sz="3200" b="0" dirty="0"/>
              <a:t>.  </a:t>
            </a:r>
          </a:p>
        </p:txBody>
      </p:sp>
      <p:graphicFrame>
        <p:nvGraphicFramePr>
          <p:cNvPr id="5" name="Object 4"/>
          <p:cNvGraphicFramePr>
            <a:graphicFrameLocks noChangeAspect="1"/>
          </p:cNvGraphicFramePr>
          <p:nvPr>
            <p:extLst>
              <p:ext uri="{D42A27DB-BD31-4B8C-83A1-F6EECF244321}">
                <p14:modId xmlns:p14="http://schemas.microsoft.com/office/powerpoint/2010/main" val="2461122668"/>
              </p:ext>
            </p:extLst>
          </p:nvPr>
        </p:nvGraphicFramePr>
        <p:xfrm>
          <a:off x="4114800" y="2196737"/>
          <a:ext cx="254000" cy="317500"/>
        </p:xfrm>
        <a:graphic>
          <a:graphicData uri="http://schemas.openxmlformats.org/presentationml/2006/ole">
            <mc:AlternateContent xmlns:mc="http://schemas.openxmlformats.org/markup-compatibility/2006">
              <mc:Choice xmlns:v="urn:schemas-microsoft-com:vml" Requires="v">
                <p:oleObj name="Equation" r:id="rId3" imgW="254000" imgH="317500" progId="Equation.DSMT4">
                  <p:embed/>
                </p:oleObj>
              </mc:Choice>
              <mc:Fallback>
                <p:oleObj name="Equation" r:id="rId3" imgW="254000" imgH="317500" progId="Equation.DSMT4">
                  <p:embed/>
                  <p:pic>
                    <p:nvPicPr>
                      <p:cNvPr id="2458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196737"/>
                        <a:ext cx="254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2"/>
          <p:cNvSpPr txBox="1">
            <a:spLocks noChangeArrowheads="1"/>
          </p:cNvSpPr>
          <p:nvPr/>
        </p:nvSpPr>
        <p:spPr bwMode="auto">
          <a:xfrm>
            <a:off x="661988" y="536575"/>
            <a:ext cx="7848600" cy="835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lnSpc>
                <a:spcPct val="90000"/>
              </a:lnSpc>
              <a:spcBef>
                <a:spcPct val="0"/>
              </a:spcBef>
              <a:spcAft>
                <a:spcPct val="0"/>
              </a:spcAft>
              <a:defRPr sz="3600" b="1">
                <a:solidFill>
                  <a:srgbClr val="008000"/>
                </a:solidFill>
                <a:latin typeface="+mj-lt"/>
                <a:ea typeface="+mj-ea"/>
                <a:cs typeface="+mj-cs"/>
              </a:defRPr>
            </a:lvl1pPr>
            <a:lvl2pPr algn="ctr" rtl="0" eaLnBrk="0" fontAlgn="base" hangingPunct="0">
              <a:lnSpc>
                <a:spcPct val="90000"/>
              </a:lnSpc>
              <a:spcBef>
                <a:spcPct val="0"/>
              </a:spcBef>
              <a:spcAft>
                <a:spcPct val="0"/>
              </a:spcAft>
              <a:defRPr sz="3600" b="1">
                <a:solidFill>
                  <a:srgbClr val="008000"/>
                </a:solidFill>
                <a:latin typeface="Arial" charset="0"/>
              </a:defRPr>
            </a:lvl2pPr>
            <a:lvl3pPr algn="ctr" rtl="0" eaLnBrk="0" fontAlgn="base" hangingPunct="0">
              <a:lnSpc>
                <a:spcPct val="90000"/>
              </a:lnSpc>
              <a:spcBef>
                <a:spcPct val="0"/>
              </a:spcBef>
              <a:spcAft>
                <a:spcPct val="0"/>
              </a:spcAft>
              <a:defRPr sz="3600" b="1">
                <a:solidFill>
                  <a:srgbClr val="008000"/>
                </a:solidFill>
                <a:latin typeface="Arial" charset="0"/>
              </a:defRPr>
            </a:lvl3pPr>
            <a:lvl4pPr algn="ctr" rtl="0" eaLnBrk="0" fontAlgn="base" hangingPunct="0">
              <a:lnSpc>
                <a:spcPct val="90000"/>
              </a:lnSpc>
              <a:spcBef>
                <a:spcPct val="0"/>
              </a:spcBef>
              <a:spcAft>
                <a:spcPct val="0"/>
              </a:spcAft>
              <a:defRPr sz="3600" b="1">
                <a:solidFill>
                  <a:srgbClr val="008000"/>
                </a:solidFill>
                <a:latin typeface="Arial" charset="0"/>
              </a:defRPr>
            </a:lvl4pPr>
            <a:lvl5pPr algn="ctr" rtl="0" eaLnBrk="0" fontAlgn="base" hangingPunct="0">
              <a:lnSpc>
                <a:spcPct val="90000"/>
              </a:lnSpc>
              <a:spcBef>
                <a:spcPct val="0"/>
              </a:spcBef>
              <a:spcAft>
                <a:spcPct val="0"/>
              </a:spcAft>
              <a:defRPr sz="3600" b="1">
                <a:solidFill>
                  <a:srgbClr val="008000"/>
                </a:solidFill>
                <a:latin typeface="Arial" charset="0"/>
              </a:defRPr>
            </a:lvl5pPr>
            <a:lvl6pPr marL="457200" algn="ctr" rtl="0" eaLnBrk="0" fontAlgn="base" hangingPunct="0">
              <a:lnSpc>
                <a:spcPct val="90000"/>
              </a:lnSpc>
              <a:spcBef>
                <a:spcPct val="0"/>
              </a:spcBef>
              <a:spcAft>
                <a:spcPct val="0"/>
              </a:spcAft>
              <a:defRPr sz="3600" b="1">
                <a:solidFill>
                  <a:srgbClr val="008000"/>
                </a:solidFill>
                <a:latin typeface="Arial" charset="0"/>
              </a:defRPr>
            </a:lvl6pPr>
            <a:lvl7pPr marL="914400" algn="ctr" rtl="0" eaLnBrk="0" fontAlgn="base" hangingPunct="0">
              <a:lnSpc>
                <a:spcPct val="90000"/>
              </a:lnSpc>
              <a:spcBef>
                <a:spcPct val="0"/>
              </a:spcBef>
              <a:spcAft>
                <a:spcPct val="0"/>
              </a:spcAft>
              <a:defRPr sz="3600" b="1">
                <a:solidFill>
                  <a:srgbClr val="008000"/>
                </a:solidFill>
                <a:latin typeface="Arial" charset="0"/>
              </a:defRPr>
            </a:lvl7pPr>
            <a:lvl8pPr marL="1371600" algn="ctr" rtl="0" eaLnBrk="0" fontAlgn="base" hangingPunct="0">
              <a:lnSpc>
                <a:spcPct val="90000"/>
              </a:lnSpc>
              <a:spcBef>
                <a:spcPct val="0"/>
              </a:spcBef>
              <a:spcAft>
                <a:spcPct val="0"/>
              </a:spcAft>
              <a:defRPr sz="3600" b="1">
                <a:solidFill>
                  <a:srgbClr val="008000"/>
                </a:solidFill>
                <a:latin typeface="Arial" charset="0"/>
              </a:defRPr>
            </a:lvl8pPr>
            <a:lvl9pPr marL="1828800" algn="ctr" rtl="0" eaLnBrk="0" fontAlgn="base" hangingPunct="0">
              <a:lnSpc>
                <a:spcPct val="90000"/>
              </a:lnSpc>
              <a:spcBef>
                <a:spcPct val="0"/>
              </a:spcBef>
              <a:spcAft>
                <a:spcPct val="0"/>
              </a:spcAft>
              <a:defRPr sz="3600" b="1">
                <a:solidFill>
                  <a:srgbClr val="008000"/>
                </a:solidFill>
                <a:latin typeface="Arial" charset="0"/>
              </a:defRPr>
            </a:lvl9pPr>
          </a:lstStyle>
          <a:p>
            <a:r>
              <a:rPr lang="en-US" altLang="en-US" kern="0"/>
              <a:t>Khái niệm chính</a:t>
            </a:r>
            <a:endParaRPr lang="en-US" altLang="en-US" kern="0" dirty="0"/>
          </a:p>
        </p:txBody>
      </p:sp>
    </p:spTree>
    <p:extLst>
      <p:ext uri="{BB962C8B-B14F-4D97-AF65-F5344CB8AC3E}">
        <p14:creationId xmlns:p14="http://schemas.microsoft.com/office/powerpoint/2010/main" val="211252462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2"/>
          <p:cNvSpPr>
            <a:spLocks noGrp="1" noChangeArrowheads="1"/>
          </p:cNvSpPr>
          <p:nvPr>
            <p:ph type="title" idx="4294967295"/>
          </p:nvPr>
        </p:nvSpPr>
        <p:spPr bwMode="auto">
          <a:xfrm>
            <a:off x="387350" y="457200"/>
            <a:ext cx="875665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dirty="0"/>
              <a:t>Khoảng ước </a:t>
            </a:r>
            <a:r>
              <a:rPr lang="en-US" altLang="en-US" dirty="0" err="1"/>
              <a:t>lượng</a:t>
            </a:r>
            <a:r>
              <a:rPr lang="vi-VN" altLang="en-US" dirty="0"/>
              <a:t> </a:t>
            </a:r>
            <a:r>
              <a:rPr lang="en-US" altLang="en-US" dirty="0" err="1"/>
              <a:t>cho</a:t>
            </a:r>
            <a:r>
              <a:rPr lang="en-US" altLang="en-US" dirty="0"/>
              <a:t> </a:t>
            </a:r>
            <a:r>
              <a:rPr lang="en-US" altLang="en-US" dirty="0" err="1"/>
              <a:t>trung</a:t>
            </a:r>
            <a:r>
              <a:rPr lang="en-US" altLang="en-US" dirty="0"/>
              <a:t> </a:t>
            </a:r>
            <a:r>
              <a:rPr lang="en-US" altLang="en-US" dirty="0" err="1"/>
              <a:t>bình</a:t>
            </a:r>
            <a:r>
              <a:rPr lang="vi-VN" altLang="en-US" dirty="0"/>
              <a:t> </a:t>
            </a:r>
            <a:r>
              <a:rPr lang="el-GR" altLang="en-US" dirty="0"/>
              <a:t>μ</a:t>
            </a:r>
            <a:endParaRPr lang="el-GR" altLang="en-US" i="1" dirty="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 Box 3"/>
              <p:cNvSpPr txBox="1">
                <a:spLocks noChangeArrowheads="1"/>
              </p:cNvSpPr>
              <p:nvPr/>
            </p:nvSpPr>
            <p:spPr bwMode="auto">
              <a:xfrm>
                <a:off x="0" y="1370013"/>
                <a:ext cx="9144000" cy="388414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type="none" w="sm" len="sm"/>
                    <a:tailEnd type="none" w="sm" len="sm"/>
                  </a14:hiddenLine>
                </a:ext>
              </a:extLst>
            </p:spPr>
            <p:txBody>
              <a:bodyPr wrap="square">
                <a:spAutoFit/>
              </a:bodyPr>
              <a:lstStyle>
                <a:lvl1pPr marL="514350" indent="-514350">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marL="457200" indent="-457200">
                  <a:lnSpc>
                    <a:spcPct val="90000"/>
                  </a:lnSpc>
                  <a:spcBef>
                    <a:spcPct val="50000"/>
                  </a:spcBef>
                  <a:buFont typeface="Arial" panose="020B0604020202020204" pitchFamily="34" charset="0"/>
                  <a:buChar char="•"/>
                </a:pPr>
                <a:r>
                  <a:rPr lang="en-US" altLang="en-US" sz="2800" b="0" dirty="0"/>
                  <a:t>Khoảng </a:t>
                </a:r>
                <a:r>
                  <a:rPr lang="en-US" altLang="en-US" sz="2800" b="0" dirty="0" err="1"/>
                  <a:t>ước</a:t>
                </a:r>
                <a:r>
                  <a:rPr lang="en-US" altLang="en-US" sz="2800" b="0" dirty="0"/>
                  <a:t> </a:t>
                </a:r>
                <a:r>
                  <a:rPr lang="en-US" altLang="en-US" sz="2800" b="0" dirty="0" err="1"/>
                  <a:t>lượng</a:t>
                </a:r>
                <a:r>
                  <a:rPr lang="en-US" altLang="en-US" sz="2800" b="0" dirty="0"/>
                  <a:t> </a:t>
                </a:r>
                <a:r>
                  <a:rPr lang="en-US" altLang="en-US" sz="2800" b="0" dirty="0" err="1"/>
                  <a:t>cho</a:t>
                </a:r>
                <a:r>
                  <a:rPr lang="en-US" altLang="en-US" sz="2800" b="0" dirty="0"/>
                  <a:t> </a:t>
                </a:r>
                <a:r>
                  <a:rPr lang="en-US" altLang="en-US" sz="2800" b="0" dirty="0" err="1"/>
                  <a:t>trung</a:t>
                </a:r>
                <a:r>
                  <a:rPr lang="en-US" altLang="en-US" sz="2800" b="0" dirty="0"/>
                  <a:t> </a:t>
                </a:r>
                <a:r>
                  <a:rPr lang="en-US" altLang="en-US" sz="2800" b="0" dirty="0" err="1"/>
                  <a:t>bình</a:t>
                </a:r>
                <a:r>
                  <a:rPr lang="en-US" altLang="en-US" sz="2800" b="0" dirty="0"/>
                  <a:t> </a:t>
                </a:r>
                <a:r>
                  <a:rPr lang="el-GR" altLang="en-US" sz="2800" b="0" dirty="0"/>
                  <a:t>μ</a:t>
                </a:r>
                <a:r>
                  <a:rPr lang="en-US" altLang="en-US" sz="2800" b="0" dirty="0"/>
                  <a:t> </a:t>
                </a:r>
                <a:r>
                  <a:rPr lang="en-US" altLang="en-US" sz="2800" b="0" dirty="0" err="1"/>
                  <a:t>của</a:t>
                </a:r>
                <a:r>
                  <a:rPr lang="en-US" altLang="en-US" sz="2800" b="0" dirty="0"/>
                  <a:t> </a:t>
                </a:r>
                <a:r>
                  <a:rPr lang="en-US" altLang="en-US" sz="2800" b="0" dirty="0" err="1"/>
                  <a:t>quần</a:t>
                </a:r>
                <a:r>
                  <a:rPr lang="en-US" altLang="en-US" sz="2800" b="0" dirty="0"/>
                  <a:t> </a:t>
                </a:r>
                <a:r>
                  <a:rPr lang="en-US" altLang="en-US" sz="2800" b="0" dirty="0" err="1"/>
                  <a:t>thể</a:t>
                </a:r>
                <a:r>
                  <a:rPr lang="en-US" altLang="en-US" sz="2800" b="0" dirty="0"/>
                  <a:t> </a:t>
                </a:r>
                <a:r>
                  <a:rPr lang="en-US" altLang="en-US" sz="2800" b="0" dirty="0" err="1"/>
                  <a:t>là</a:t>
                </a:r>
                <a:r>
                  <a:rPr lang="en-US" altLang="en-US" sz="2800" b="0" dirty="0"/>
                  <a:t>: </a:t>
                </a:r>
                <a14:m>
                  <m:oMath xmlns:m="http://schemas.openxmlformats.org/officeDocument/2006/math">
                    <m:acc>
                      <m:accPr>
                        <m:chr m:val="̅"/>
                        <m:ctrlPr>
                          <a:rPr lang="en-US" altLang="en-US" sz="2800" b="0" i="1" smtClean="0">
                            <a:latin typeface="Cambria Math" panose="02040503050406030204" pitchFamily="18" charset="0"/>
                          </a:rPr>
                        </m:ctrlPr>
                      </m:accPr>
                      <m:e>
                        <m:r>
                          <a:rPr lang="en-US" altLang="en-US" sz="2800" b="0" i="1" smtClean="0">
                            <a:latin typeface="Cambria Math" panose="02040503050406030204" pitchFamily="18" charset="0"/>
                          </a:rPr>
                          <m:t>𝑋</m:t>
                        </m:r>
                      </m:e>
                    </m:acc>
                    <m:r>
                      <a:rPr lang="en-US" altLang="en-US" sz="2800" b="0" i="1" smtClean="0">
                        <a:latin typeface="Cambria Math" panose="02040503050406030204" pitchFamily="18" charset="0"/>
                        <a:ea typeface="Cambria Math" panose="02040503050406030204" pitchFamily="18" charset="0"/>
                      </a:rPr>
                      <m:t>±</m:t>
                    </m:r>
                    <m:r>
                      <a:rPr lang="en-US" altLang="en-US" sz="2800" b="0" i="1" smtClean="0">
                        <a:latin typeface="Cambria Math" panose="02040503050406030204" pitchFamily="18" charset="0"/>
                        <a:ea typeface="Cambria Math" panose="02040503050406030204" pitchFamily="18" charset="0"/>
                      </a:rPr>
                      <m:t>𝐸</m:t>
                    </m:r>
                    <m:r>
                      <a:rPr lang="en-US" altLang="en-US" sz="2800" b="0" i="1" smtClean="0">
                        <a:latin typeface="Cambria Math" panose="02040503050406030204" pitchFamily="18" charset="0"/>
                      </a:rPr>
                      <m:t>  </m:t>
                    </m:r>
                  </m:oMath>
                </a14:m>
                <a:r>
                  <a:rPr lang="en-US" altLang="en-US" sz="2800" b="0" dirty="0"/>
                  <a:t>hay</a:t>
                </a:r>
              </a:p>
              <a:p>
                <a:pPr marL="1543050" lvl="4" indent="0">
                  <a:lnSpc>
                    <a:spcPct val="90000"/>
                  </a:lnSpc>
                  <a:spcBef>
                    <a:spcPct val="50000"/>
                  </a:spcBef>
                </a:pPr>
                <a:r>
                  <a:rPr lang="en-US" altLang="en-US" sz="2800" b="0" dirty="0">
                    <a:latin typeface="+mn-lt"/>
                  </a:rPr>
                  <a:t>    	 </a:t>
                </a:r>
                <a14:m>
                  <m:oMath xmlns:m="http://schemas.openxmlformats.org/officeDocument/2006/math">
                    <m:acc>
                      <m:accPr>
                        <m:chr m:val="̅"/>
                        <m:ctrlPr>
                          <a:rPr lang="en-US" altLang="en-US" sz="2800" b="0" i="1" smtClean="0">
                            <a:solidFill>
                              <a:srgbClr val="FF0000"/>
                            </a:solidFill>
                            <a:latin typeface="Cambria Math" panose="02040503050406030204" pitchFamily="18" charset="0"/>
                          </a:rPr>
                        </m:ctrlPr>
                      </m:accPr>
                      <m:e>
                        <m:r>
                          <a:rPr lang="en-US" altLang="en-US" sz="2800" b="0" i="1" smtClean="0">
                            <a:solidFill>
                              <a:srgbClr val="FF0000"/>
                            </a:solidFill>
                            <a:latin typeface="Cambria Math" panose="02040503050406030204" pitchFamily="18" charset="0"/>
                          </a:rPr>
                          <m:t>𝑋</m:t>
                        </m:r>
                      </m:e>
                    </m:acc>
                    <m:r>
                      <a:rPr lang="en-US" altLang="en-US" sz="2800" b="0" i="1" smtClean="0">
                        <a:solidFill>
                          <a:srgbClr val="FF0000"/>
                        </a:solidFill>
                        <a:latin typeface="Cambria Math" panose="02040503050406030204" pitchFamily="18" charset="0"/>
                      </a:rPr>
                      <m:t> −</m:t>
                    </m:r>
                    <m:r>
                      <a:rPr lang="en-US" altLang="en-US" sz="2800" b="0" i="1" smtClean="0">
                        <a:solidFill>
                          <a:srgbClr val="FF0000"/>
                        </a:solidFill>
                        <a:latin typeface="Cambria Math" panose="02040503050406030204" pitchFamily="18" charset="0"/>
                      </a:rPr>
                      <m:t>𝐸</m:t>
                    </m:r>
                    <m:r>
                      <a:rPr lang="en-US" altLang="en-US" sz="2800" b="0" i="1" smtClean="0">
                        <a:solidFill>
                          <a:srgbClr val="FF0000"/>
                        </a:solidFill>
                        <a:latin typeface="Cambria Math" panose="02040503050406030204" pitchFamily="18" charset="0"/>
                      </a:rPr>
                      <m:t>&lt;µ&lt;</m:t>
                    </m:r>
                  </m:oMath>
                </a14:m>
                <a:r>
                  <a:rPr lang="en-US" altLang="en-US" sz="2800" b="0" dirty="0">
                    <a:solidFill>
                      <a:srgbClr val="FF0000"/>
                    </a:solidFill>
                    <a:latin typeface="+mn-lt"/>
                  </a:rPr>
                  <a:t>  </a:t>
                </a:r>
                <a14:m>
                  <m:oMath xmlns:m="http://schemas.openxmlformats.org/officeDocument/2006/math">
                    <m:acc>
                      <m:accPr>
                        <m:chr m:val="̅"/>
                        <m:ctrlPr>
                          <a:rPr lang="en-US" altLang="en-US" sz="2800" b="0" i="1" smtClean="0">
                            <a:solidFill>
                              <a:srgbClr val="FF0000"/>
                            </a:solidFill>
                            <a:latin typeface="Cambria Math" panose="02040503050406030204" pitchFamily="18" charset="0"/>
                          </a:rPr>
                        </m:ctrlPr>
                      </m:accPr>
                      <m:e>
                        <m:r>
                          <a:rPr lang="en-US" altLang="en-US" sz="2800" b="0" i="1" smtClean="0">
                            <a:solidFill>
                              <a:srgbClr val="FF0000"/>
                            </a:solidFill>
                            <a:latin typeface="Cambria Math" panose="02040503050406030204" pitchFamily="18" charset="0"/>
                          </a:rPr>
                          <m:t>𝑋</m:t>
                        </m:r>
                      </m:e>
                    </m:acc>
                    <m:r>
                      <a:rPr lang="en-US" altLang="en-US" sz="2800" b="0" i="1" smtClean="0">
                        <a:solidFill>
                          <a:srgbClr val="FF0000"/>
                        </a:solidFill>
                        <a:latin typeface="Cambria Math" panose="02040503050406030204" pitchFamily="18" charset="0"/>
                      </a:rPr>
                      <m:t>+</m:t>
                    </m:r>
                    <m:r>
                      <a:rPr lang="en-US" altLang="en-US" sz="2800" b="0" i="1" smtClean="0">
                        <a:solidFill>
                          <a:srgbClr val="FF0000"/>
                        </a:solidFill>
                        <a:latin typeface="Cambria Math" panose="02040503050406030204" pitchFamily="18" charset="0"/>
                      </a:rPr>
                      <m:t>𝐸</m:t>
                    </m:r>
                  </m:oMath>
                </a14:m>
                <a:r>
                  <a:rPr lang="en-US" altLang="en-US" sz="2800" b="0" dirty="0">
                    <a:solidFill>
                      <a:srgbClr val="FF0000"/>
                    </a:solidFill>
                    <a:latin typeface="+mn-lt"/>
                  </a:rPr>
                  <a:t> </a:t>
                </a:r>
              </a:p>
              <a:p>
                <a:pPr marL="1543050" lvl="4" indent="0">
                  <a:lnSpc>
                    <a:spcPct val="90000"/>
                  </a:lnSpc>
                  <a:spcBef>
                    <a:spcPct val="50000"/>
                  </a:spcBef>
                </a:pPr>
                <a:r>
                  <a:rPr lang="en-US" altLang="en-US" sz="2800" b="0" dirty="0">
                    <a:latin typeface="+mn-lt"/>
                  </a:rPr>
                  <a:t>(</a:t>
                </a:r>
                <a:r>
                  <a:rPr lang="en-US" altLang="en-US" sz="2800" b="0" dirty="0" err="1">
                    <a:latin typeface="+mn-lt"/>
                  </a:rPr>
                  <a:t>trong</a:t>
                </a:r>
                <a:r>
                  <a:rPr lang="en-US" altLang="en-US" sz="2800" b="0" dirty="0">
                    <a:latin typeface="+mn-lt"/>
                  </a:rPr>
                  <a:t> </a:t>
                </a:r>
                <a:r>
                  <a:rPr lang="en-US" altLang="en-US" sz="2800" b="0" dirty="0" err="1">
                    <a:latin typeface="+mn-lt"/>
                  </a:rPr>
                  <a:t>đó</a:t>
                </a:r>
                <a:r>
                  <a:rPr lang="en-US" altLang="en-US" sz="2800" b="0" dirty="0">
                    <a:latin typeface="+mn-lt"/>
                  </a:rPr>
                  <a:t> </a:t>
                </a:r>
                <a14:m>
                  <m:oMath xmlns:m="http://schemas.openxmlformats.org/officeDocument/2006/math">
                    <m:acc>
                      <m:accPr>
                        <m:chr m:val="̅"/>
                        <m:ctrlPr>
                          <a:rPr lang="en-US" altLang="en-US" sz="2800" b="0" i="1" smtClean="0">
                            <a:latin typeface="Cambria Math" panose="02040503050406030204" pitchFamily="18" charset="0"/>
                          </a:rPr>
                        </m:ctrlPr>
                      </m:accPr>
                      <m:e>
                        <m:r>
                          <a:rPr lang="en-US" altLang="en-US" sz="2800" b="0" i="1" smtClean="0">
                            <a:latin typeface="Cambria Math" panose="02040503050406030204" pitchFamily="18" charset="0"/>
                          </a:rPr>
                          <m:t>𝑋</m:t>
                        </m:r>
                      </m:e>
                    </m:acc>
                  </m:oMath>
                </a14:m>
                <a:r>
                  <a:rPr lang="en-US" altLang="en-US" sz="2800" b="0" dirty="0">
                    <a:latin typeface="+mn-lt"/>
                  </a:rPr>
                  <a:t> </a:t>
                </a:r>
                <a:r>
                  <a:rPr lang="en-US" altLang="en-US" sz="2800" b="0" dirty="0" err="1">
                    <a:latin typeface="+mn-lt"/>
                  </a:rPr>
                  <a:t>là</a:t>
                </a:r>
                <a:r>
                  <a:rPr lang="en-US" altLang="en-US" sz="2800" b="0" dirty="0">
                    <a:latin typeface="+mn-lt"/>
                  </a:rPr>
                  <a:t> </a:t>
                </a:r>
                <a:r>
                  <a:rPr lang="en-US" altLang="en-US" sz="2800" b="0" dirty="0" err="1">
                    <a:latin typeface="+mn-lt"/>
                  </a:rPr>
                  <a:t>trung</a:t>
                </a:r>
                <a:r>
                  <a:rPr lang="en-US" altLang="en-US" sz="2800" b="0" dirty="0">
                    <a:latin typeface="+mn-lt"/>
                  </a:rPr>
                  <a:t> </a:t>
                </a:r>
                <a:r>
                  <a:rPr lang="en-US" altLang="en-US" sz="2800" b="0" dirty="0" err="1">
                    <a:latin typeface="+mn-lt"/>
                  </a:rPr>
                  <a:t>bình</a:t>
                </a:r>
                <a:r>
                  <a:rPr lang="en-US" altLang="en-US" sz="2800" b="0" dirty="0">
                    <a:latin typeface="+mn-lt"/>
                  </a:rPr>
                  <a:t> </a:t>
                </a:r>
                <a:r>
                  <a:rPr lang="en-US" altLang="en-US" sz="2800" b="0" dirty="0" err="1">
                    <a:latin typeface="+mn-lt"/>
                  </a:rPr>
                  <a:t>của</a:t>
                </a:r>
                <a:r>
                  <a:rPr lang="en-US" altLang="en-US" sz="2800" b="0" dirty="0">
                    <a:latin typeface="+mn-lt"/>
                  </a:rPr>
                  <a:t> </a:t>
                </a:r>
              </a:p>
              <a:p>
                <a:pPr marL="1543050" lvl="4" indent="0">
                  <a:lnSpc>
                    <a:spcPct val="90000"/>
                  </a:lnSpc>
                  <a:spcBef>
                    <a:spcPct val="50000"/>
                  </a:spcBef>
                </a:pPr>
                <a:r>
                  <a:rPr lang="en-US" altLang="en-US" sz="2800" b="0" dirty="0" err="1">
                    <a:latin typeface="+mn-lt"/>
                  </a:rPr>
                  <a:t>tập</a:t>
                </a:r>
                <a:r>
                  <a:rPr lang="en-US" altLang="en-US" sz="2800" b="0" dirty="0">
                    <a:latin typeface="+mn-lt"/>
                  </a:rPr>
                  <a:t> </a:t>
                </a:r>
                <a:r>
                  <a:rPr lang="en-US" altLang="en-US" sz="2800" b="0" dirty="0" err="1">
                    <a:latin typeface="+mn-lt"/>
                  </a:rPr>
                  <a:t>mẫu</a:t>
                </a:r>
                <a:r>
                  <a:rPr lang="en-US" altLang="en-US" sz="2800" b="0" dirty="0">
                    <a:latin typeface="+mn-lt"/>
                  </a:rPr>
                  <a:t> </a:t>
                </a:r>
                <a:r>
                  <a:rPr lang="en-US" altLang="en-US" sz="2800" b="0" dirty="0" err="1">
                    <a:latin typeface="+mn-lt"/>
                  </a:rPr>
                  <a:t>có</a:t>
                </a:r>
                <a:r>
                  <a:rPr lang="en-US" altLang="en-US" sz="2800" b="0" dirty="0">
                    <a:latin typeface="+mn-lt"/>
                  </a:rPr>
                  <a:t> </a:t>
                </a:r>
                <a:r>
                  <a:rPr lang="en-US" altLang="en-US" sz="2800" b="0" dirty="0" err="1">
                    <a:latin typeface="+mn-lt"/>
                  </a:rPr>
                  <a:t>kích</a:t>
                </a:r>
                <a:r>
                  <a:rPr lang="en-US" altLang="en-US" sz="2800" b="0" dirty="0">
                    <a:latin typeface="+mn-lt"/>
                  </a:rPr>
                  <a:t> </a:t>
                </a:r>
                <a:r>
                  <a:rPr lang="en-US" altLang="en-US" sz="2800" b="0" dirty="0" err="1">
                    <a:latin typeface="+mn-lt"/>
                  </a:rPr>
                  <a:t>thước</a:t>
                </a:r>
                <a:r>
                  <a:rPr lang="en-US" altLang="en-US" sz="2800" b="0" dirty="0">
                    <a:latin typeface="+mn-lt"/>
                  </a:rPr>
                  <a:t> n, </a:t>
                </a:r>
              </a:p>
              <a:p>
                <a:pPr marL="1543050" lvl="4" indent="0">
                  <a:lnSpc>
                    <a:spcPct val="90000"/>
                  </a:lnSpc>
                  <a:spcBef>
                    <a:spcPct val="50000"/>
                  </a:spcBef>
                </a:pPr>
                <a:r>
                  <a:rPr lang="en-US" altLang="en-US" sz="2800" b="0" dirty="0">
                    <a:latin typeface="+mn-lt"/>
                  </a:rPr>
                  <a:t>E </a:t>
                </a:r>
                <a:r>
                  <a:rPr lang="en-US" altLang="en-US" sz="2800" b="0" dirty="0" err="1">
                    <a:latin typeface="+mn-lt"/>
                  </a:rPr>
                  <a:t>gọi</a:t>
                </a:r>
                <a:r>
                  <a:rPr lang="en-US" altLang="en-US" sz="2800" b="0" dirty="0">
                    <a:latin typeface="+mn-lt"/>
                  </a:rPr>
                  <a:t> </a:t>
                </a:r>
                <a:r>
                  <a:rPr lang="en-US" altLang="en-US" sz="2800" b="0" dirty="0" err="1">
                    <a:latin typeface="+mn-lt"/>
                  </a:rPr>
                  <a:t>là</a:t>
                </a:r>
                <a:r>
                  <a:rPr lang="en-US" altLang="en-US" sz="2800" b="0" dirty="0">
                    <a:latin typeface="+mn-lt"/>
                  </a:rPr>
                  <a:t> </a:t>
                </a:r>
                <a:r>
                  <a:rPr lang="en-US" altLang="en-US" sz="2800" b="0" dirty="0" err="1">
                    <a:latin typeface="+mn-lt"/>
                  </a:rPr>
                  <a:t>biên</a:t>
                </a:r>
                <a:r>
                  <a:rPr lang="en-US" altLang="en-US" sz="2800" b="0" dirty="0">
                    <a:latin typeface="+mn-lt"/>
                  </a:rPr>
                  <a:t> </a:t>
                </a:r>
                <a:r>
                  <a:rPr lang="en-US" altLang="en-US" sz="2800" b="0" dirty="0" err="1">
                    <a:latin typeface="+mn-lt"/>
                  </a:rPr>
                  <a:t>độ</a:t>
                </a:r>
                <a:r>
                  <a:rPr lang="en-US" altLang="en-US" sz="2800" b="0" dirty="0">
                    <a:latin typeface="+mn-lt"/>
                  </a:rPr>
                  <a:t> </a:t>
                </a:r>
                <a:r>
                  <a:rPr lang="en-US" altLang="en-US" sz="2800" b="0" dirty="0" err="1">
                    <a:latin typeface="+mn-lt"/>
                  </a:rPr>
                  <a:t>lỗi</a:t>
                </a:r>
                <a:r>
                  <a:rPr lang="en-US" altLang="en-US" sz="2800" b="0" dirty="0">
                    <a:latin typeface="+mn-lt"/>
                  </a:rPr>
                  <a:t>) </a:t>
                </a:r>
                <a:r>
                  <a:rPr lang="el-GR" altLang="en-US" sz="2800" b="0" dirty="0">
                    <a:latin typeface="+mn-lt"/>
                  </a:rPr>
                  <a:t>.</a:t>
                </a:r>
                <a:endParaRPr lang="en-US" altLang="en-US" sz="2800" b="0" dirty="0">
                  <a:latin typeface="+mn-lt"/>
                </a:endParaRPr>
              </a:p>
              <a:p>
                <a:pPr marL="457200" indent="-457200">
                  <a:lnSpc>
                    <a:spcPct val="90000"/>
                  </a:lnSpc>
                  <a:spcBef>
                    <a:spcPct val="50000"/>
                  </a:spcBef>
                  <a:buFont typeface="Arial" panose="020B0604020202020204" pitchFamily="34" charset="0"/>
                  <a:buChar char="•"/>
                </a:pPr>
                <a:r>
                  <a:rPr lang="en-US" altLang="en-US" sz="2800" b="0" dirty="0" err="1"/>
                  <a:t>Vấn</a:t>
                </a:r>
                <a:r>
                  <a:rPr lang="en-US" altLang="en-US" sz="2800" b="0" dirty="0"/>
                  <a:t> </a:t>
                </a:r>
                <a:r>
                  <a:rPr lang="en-US" altLang="en-US" sz="2800" b="0" dirty="0" err="1"/>
                  <a:t>đề</a:t>
                </a:r>
                <a:r>
                  <a:rPr lang="en-US" altLang="en-US" sz="2800" b="0" dirty="0"/>
                  <a:t> </a:t>
                </a:r>
                <a:r>
                  <a:rPr lang="en-US" altLang="en-US" sz="2800" b="0" dirty="0" err="1"/>
                  <a:t>là</a:t>
                </a:r>
                <a:r>
                  <a:rPr lang="en-US" altLang="en-US" sz="2800" b="0" dirty="0"/>
                  <a:t>: E </a:t>
                </a:r>
                <a:r>
                  <a:rPr lang="en-US" altLang="en-US" sz="2800" b="0" dirty="0" err="1"/>
                  <a:t>được</a:t>
                </a:r>
                <a:r>
                  <a:rPr lang="en-US" altLang="en-US" sz="2800" b="0" dirty="0"/>
                  <a:t> </a:t>
                </a:r>
                <a:r>
                  <a:rPr lang="en-US" altLang="en-US" sz="2800" b="0" dirty="0" err="1"/>
                  <a:t>tính</a:t>
                </a:r>
                <a:r>
                  <a:rPr lang="en-US" altLang="en-US" sz="2800" b="0" dirty="0"/>
                  <a:t> </a:t>
                </a:r>
                <a:r>
                  <a:rPr lang="en-US" altLang="en-US" sz="2800" b="0" dirty="0" err="1"/>
                  <a:t>như</a:t>
                </a:r>
                <a:r>
                  <a:rPr lang="en-US" altLang="en-US" sz="2800" b="0" dirty="0"/>
                  <a:t> </a:t>
                </a:r>
                <a:r>
                  <a:rPr lang="en-US" altLang="en-US" sz="2800" b="0" dirty="0" err="1"/>
                  <a:t>thế</a:t>
                </a:r>
                <a:r>
                  <a:rPr lang="en-US" altLang="en-US" sz="2800" b="0" dirty="0"/>
                  <a:t> </a:t>
                </a:r>
                <a:r>
                  <a:rPr lang="en-US" altLang="en-US" sz="2800" b="0" dirty="0" err="1"/>
                  <a:t>nào</a:t>
                </a:r>
                <a:r>
                  <a:rPr lang="en-US" altLang="en-US" sz="2800" b="0" dirty="0"/>
                  <a:t>?</a:t>
                </a:r>
              </a:p>
            </p:txBody>
          </p:sp>
        </mc:Choice>
        <mc:Fallback xmlns="">
          <p:sp>
            <p:nvSpPr>
              <p:cNvPr id="9" name="Text Box 3"/>
              <p:cNvSpPr txBox="1">
                <a:spLocks noRot="1" noChangeAspect="1" noMove="1" noResize="1" noEditPoints="1" noAdjustHandles="1" noChangeArrowheads="1" noChangeShapeType="1" noTextEdit="1"/>
              </p:cNvSpPr>
              <p:nvPr/>
            </p:nvSpPr>
            <p:spPr bwMode="auto">
              <a:xfrm>
                <a:off x="0" y="1370013"/>
                <a:ext cx="9144000" cy="3884140"/>
              </a:xfrm>
              <a:prstGeom prst="rect">
                <a:avLst/>
              </a:prstGeom>
              <a:blipFill>
                <a:blip r:embed="rId3"/>
                <a:stretch>
                  <a:fillRect l="-1200" t="-2826" r="-600" b="-34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noFill/>
                  </a:rPr>
                  <a:t> </a:t>
                </a:r>
              </a:p>
            </p:txBody>
          </p:sp>
        </mc:Fallback>
      </mc:AlternateContent>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2"/>
          <p:cNvSpPr>
            <a:spLocks noGrp="1" noChangeArrowheads="1"/>
          </p:cNvSpPr>
          <p:nvPr>
            <p:ph type="title" idx="4294967295"/>
          </p:nvPr>
        </p:nvSpPr>
        <p:spPr bwMode="auto">
          <a:xfrm>
            <a:off x="387350" y="457200"/>
            <a:ext cx="875665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dirty="0"/>
              <a:t>Khoảng ước </a:t>
            </a:r>
            <a:r>
              <a:rPr lang="en-US" altLang="en-US" dirty="0" err="1"/>
              <a:t>lượng</a:t>
            </a:r>
            <a:r>
              <a:rPr lang="vi-VN" altLang="en-US" dirty="0"/>
              <a:t> </a:t>
            </a:r>
            <a:r>
              <a:rPr lang="en-US" altLang="en-US" dirty="0" err="1"/>
              <a:t>cho</a:t>
            </a:r>
            <a:r>
              <a:rPr lang="en-US" altLang="en-US" dirty="0"/>
              <a:t> </a:t>
            </a:r>
            <a:r>
              <a:rPr lang="en-US" altLang="en-US" dirty="0" err="1"/>
              <a:t>trung</a:t>
            </a:r>
            <a:r>
              <a:rPr lang="en-US" altLang="en-US" dirty="0"/>
              <a:t> </a:t>
            </a:r>
            <a:r>
              <a:rPr lang="en-US" altLang="en-US" dirty="0" err="1"/>
              <a:t>bình</a:t>
            </a:r>
            <a:r>
              <a:rPr lang="vi-VN" altLang="en-US" dirty="0"/>
              <a:t> </a:t>
            </a:r>
            <a:r>
              <a:rPr lang="el-GR" altLang="en-US" dirty="0"/>
              <a:t>μ</a:t>
            </a:r>
            <a:endParaRPr lang="el-GR" altLang="en-US" i="1" dirty="0">
              <a:cs typeface="Arial" panose="020B0604020202020204" pitchFamily="34" charset="0"/>
            </a:endParaRPr>
          </a:p>
        </p:txBody>
      </p:sp>
      <p:sp>
        <p:nvSpPr>
          <p:cNvPr id="9" name="Text Box 3"/>
          <p:cNvSpPr txBox="1">
            <a:spLocks noChangeArrowheads="1"/>
          </p:cNvSpPr>
          <p:nvPr/>
        </p:nvSpPr>
        <p:spPr bwMode="auto">
          <a:xfrm>
            <a:off x="0" y="1370013"/>
            <a:ext cx="9144000"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514350" indent="-514350">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marL="457200" indent="-457200">
              <a:lnSpc>
                <a:spcPct val="90000"/>
              </a:lnSpc>
              <a:spcBef>
                <a:spcPct val="50000"/>
              </a:spcBef>
              <a:buFont typeface="Arial" panose="020B0604020202020204" pitchFamily="34" charset="0"/>
              <a:buChar char="•"/>
            </a:pPr>
            <a:r>
              <a:rPr lang="en-US" altLang="en-US" sz="2800" b="0" dirty="0"/>
              <a:t>E </a:t>
            </a:r>
            <a:r>
              <a:rPr lang="en-US" altLang="en-US" sz="2800" b="0" dirty="0" err="1"/>
              <a:t>được</a:t>
            </a:r>
            <a:r>
              <a:rPr lang="en-US" altLang="en-US" sz="2800" b="0" dirty="0"/>
              <a:t> </a:t>
            </a:r>
            <a:r>
              <a:rPr lang="en-US" altLang="en-US" sz="2800" b="0" dirty="0" err="1"/>
              <a:t>tính</a:t>
            </a:r>
            <a:r>
              <a:rPr lang="en-US" altLang="en-US" sz="2800" b="0" dirty="0"/>
              <a:t> </a:t>
            </a:r>
            <a:r>
              <a:rPr lang="en-US" altLang="en-US" sz="2800" b="0" dirty="0" err="1"/>
              <a:t>dựa</a:t>
            </a:r>
            <a:r>
              <a:rPr lang="en-US" altLang="en-US" sz="2800" b="0" dirty="0"/>
              <a:t> </a:t>
            </a:r>
            <a:r>
              <a:rPr lang="en-US" altLang="en-US" sz="2800" b="0" dirty="0" err="1"/>
              <a:t>vào</a:t>
            </a:r>
            <a:r>
              <a:rPr lang="en-US" altLang="en-US" sz="2800" b="0" dirty="0"/>
              <a:t> </a:t>
            </a:r>
            <a:r>
              <a:rPr lang="en-US" altLang="en-US" sz="2800" b="0" dirty="0" err="1"/>
              <a:t>định</a:t>
            </a:r>
            <a:r>
              <a:rPr lang="en-US" altLang="en-US" sz="2800" b="0" dirty="0"/>
              <a:t> </a:t>
            </a:r>
            <a:r>
              <a:rPr lang="en-US" altLang="en-US" sz="2800" b="0" dirty="0" err="1"/>
              <a:t>lý</a:t>
            </a:r>
            <a:r>
              <a:rPr lang="en-US" altLang="en-US" sz="2800" b="0" dirty="0"/>
              <a:t> </a:t>
            </a:r>
            <a:r>
              <a:rPr lang="en-US" altLang="en-US" sz="2800" b="0" dirty="0" err="1"/>
              <a:t>giới</a:t>
            </a:r>
            <a:r>
              <a:rPr lang="en-US" altLang="en-US" sz="2800" b="0" dirty="0"/>
              <a:t> </a:t>
            </a:r>
            <a:r>
              <a:rPr lang="en-US" altLang="en-US" sz="2800" b="0" dirty="0" err="1"/>
              <a:t>hạn</a:t>
            </a:r>
            <a:r>
              <a:rPr lang="en-US" altLang="en-US" sz="2800" b="0" dirty="0"/>
              <a:t> </a:t>
            </a:r>
            <a:r>
              <a:rPr lang="en-US" altLang="en-US" sz="2800" b="0" dirty="0" err="1"/>
              <a:t>trung</a:t>
            </a:r>
            <a:r>
              <a:rPr lang="en-US" altLang="en-US" sz="2800" b="0" dirty="0"/>
              <a:t> </a:t>
            </a:r>
            <a:r>
              <a:rPr lang="en-US" altLang="en-US" sz="2800" b="0" dirty="0" err="1"/>
              <a:t>tâm</a:t>
            </a:r>
            <a:r>
              <a:rPr lang="en-US" altLang="en-US" sz="2800" b="0" dirty="0"/>
              <a:t>.</a:t>
            </a:r>
          </a:p>
          <a:p>
            <a:pPr marL="457200" indent="-457200">
              <a:lnSpc>
                <a:spcPct val="90000"/>
              </a:lnSpc>
              <a:spcBef>
                <a:spcPct val="50000"/>
              </a:spcBef>
              <a:buFont typeface="Arial" panose="020B0604020202020204" pitchFamily="34" charset="0"/>
              <a:buChar char="•"/>
            </a:pPr>
            <a:r>
              <a:rPr lang="vi-VN" altLang="en-US" sz="2800" b="0" dirty="0">
                <a:solidFill>
                  <a:srgbClr val="FF0000"/>
                </a:solidFill>
              </a:rPr>
              <a:t>Định lý giới hạn trung tâm: </a:t>
            </a:r>
            <a:r>
              <a:rPr lang="en-US" altLang="en-US" sz="2800" b="0" dirty="0"/>
              <a:t>k</a:t>
            </a:r>
            <a:r>
              <a:rPr lang="vi-VN" altLang="en-US" sz="2800" b="0" dirty="0"/>
              <a:t>hi ta lấy mẫu ngẫu nhiên, kích thước tập mẫu càng lớn thì phân phối xác suất của đặc trưng trung bình của tập mẫu càng gần với phân phối chuẩn. </a:t>
            </a:r>
          </a:p>
          <a:p>
            <a:pPr marL="457200" indent="-457200">
              <a:lnSpc>
                <a:spcPct val="90000"/>
              </a:lnSpc>
              <a:spcBef>
                <a:spcPct val="50000"/>
              </a:spcBef>
              <a:buFont typeface="Arial" panose="020B0604020202020204" pitchFamily="34" charset="0"/>
              <a:buChar char="•"/>
            </a:pPr>
            <a:endParaRPr lang="vi-VN" altLang="en-US" sz="2800" b="0" dirty="0"/>
          </a:p>
          <a:p>
            <a:pPr marL="457200" indent="-457200">
              <a:lnSpc>
                <a:spcPct val="90000"/>
              </a:lnSpc>
              <a:spcBef>
                <a:spcPct val="50000"/>
              </a:spcBef>
              <a:buFont typeface="Arial" panose="020B0604020202020204" pitchFamily="34" charset="0"/>
              <a:buChar char="•"/>
            </a:pPr>
            <a:endParaRPr lang="en-US" altLang="en-US" sz="2800" b="0" dirty="0"/>
          </a:p>
        </p:txBody>
      </p:sp>
    </p:spTree>
    <p:extLst>
      <p:ext uri="{BB962C8B-B14F-4D97-AF65-F5344CB8AC3E}">
        <p14:creationId xmlns:p14="http://schemas.microsoft.com/office/powerpoint/2010/main" val="211621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2"/>
          <p:cNvSpPr>
            <a:spLocks noGrp="1" noChangeArrowheads="1"/>
          </p:cNvSpPr>
          <p:nvPr>
            <p:ph type="title" idx="4294967295"/>
          </p:nvPr>
        </p:nvSpPr>
        <p:spPr bwMode="auto">
          <a:xfrm>
            <a:off x="387350" y="457200"/>
            <a:ext cx="875665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dirty="0"/>
              <a:t>Khoảng ước </a:t>
            </a:r>
            <a:r>
              <a:rPr lang="en-US" altLang="en-US" dirty="0" err="1"/>
              <a:t>lượng</a:t>
            </a:r>
            <a:r>
              <a:rPr lang="vi-VN" altLang="en-US" dirty="0"/>
              <a:t> </a:t>
            </a:r>
            <a:r>
              <a:rPr lang="en-US" altLang="en-US" dirty="0" err="1"/>
              <a:t>cho</a:t>
            </a:r>
            <a:r>
              <a:rPr lang="en-US" altLang="en-US" dirty="0"/>
              <a:t> </a:t>
            </a:r>
            <a:r>
              <a:rPr lang="en-US" altLang="en-US" dirty="0" err="1"/>
              <a:t>trung</a:t>
            </a:r>
            <a:r>
              <a:rPr lang="en-US" altLang="en-US" dirty="0"/>
              <a:t> </a:t>
            </a:r>
            <a:r>
              <a:rPr lang="en-US" altLang="en-US" dirty="0" err="1"/>
              <a:t>bình</a:t>
            </a:r>
            <a:r>
              <a:rPr lang="vi-VN" altLang="en-US" dirty="0"/>
              <a:t> </a:t>
            </a:r>
            <a:r>
              <a:rPr lang="el-GR" altLang="en-US" dirty="0"/>
              <a:t>μ</a:t>
            </a:r>
            <a:endParaRPr lang="el-GR" altLang="en-US" i="1" dirty="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 Box 3"/>
              <p:cNvSpPr txBox="1">
                <a:spLocks noChangeArrowheads="1"/>
              </p:cNvSpPr>
              <p:nvPr/>
            </p:nvSpPr>
            <p:spPr bwMode="auto">
              <a:xfrm>
                <a:off x="0" y="1066800"/>
                <a:ext cx="9144000" cy="271747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type="none" w="sm" len="sm"/>
                    <a:tailEnd type="none" w="sm" len="sm"/>
                  </a14:hiddenLine>
                </a:ext>
              </a:extLst>
            </p:spPr>
            <p:txBody>
              <a:bodyPr wrap="square">
                <a:spAutoFit/>
              </a:bodyPr>
              <a:lstStyle>
                <a:lvl1pPr marL="514350" indent="-514350">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marL="457200" indent="-457200">
                  <a:lnSpc>
                    <a:spcPct val="90000"/>
                  </a:lnSpc>
                  <a:spcBef>
                    <a:spcPct val="50000"/>
                  </a:spcBef>
                  <a:buFont typeface="Arial" panose="020B0604020202020204" pitchFamily="34" charset="0"/>
                  <a:buChar char="•"/>
                </a:pPr>
                <a:r>
                  <a:rPr lang="en-US" altLang="en-US" sz="2800" b="0" dirty="0">
                    <a:latin typeface="+mn-lt"/>
                  </a:rPr>
                  <a:t>Theo </a:t>
                </a:r>
                <a:r>
                  <a:rPr lang="en-US" altLang="en-US" sz="2800" b="0" dirty="0" err="1">
                    <a:latin typeface="+mn-lt"/>
                  </a:rPr>
                  <a:t>định</a:t>
                </a:r>
                <a:r>
                  <a:rPr lang="en-US" altLang="en-US" sz="2800" b="0" dirty="0">
                    <a:latin typeface="+mn-lt"/>
                  </a:rPr>
                  <a:t> </a:t>
                </a:r>
                <a:r>
                  <a:rPr lang="en-US" altLang="en-US" sz="2800" b="0" dirty="0" err="1">
                    <a:latin typeface="+mn-lt"/>
                  </a:rPr>
                  <a:t>lý</a:t>
                </a:r>
                <a:r>
                  <a:rPr lang="en-US" altLang="en-US" sz="2800" b="0" dirty="0">
                    <a:latin typeface="+mn-lt"/>
                  </a:rPr>
                  <a:t> </a:t>
                </a:r>
                <a:r>
                  <a:rPr lang="en-US" altLang="en-US" sz="2800" b="0" dirty="0" err="1">
                    <a:latin typeface="+mn-lt"/>
                  </a:rPr>
                  <a:t>giới</a:t>
                </a:r>
                <a:r>
                  <a:rPr lang="en-US" altLang="en-US" sz="2800" b="0" dirty="0">
                    <a:latin typeface="+mn-lt"/>
                  </a:rPr>
                  <a:t> </a:t>
                </a:r>
                <a:r>
                  <a:rPr lang="en-US" altLang="en-US" sz="2800" b="0" dirty="0" err="1">
                    <a:latin typeface="+mn-lt"/>
                  </a:rPr>
                  <a:t>hạn</a:t>
                </a:r>
                <a:r>
                  <a:rPr lang="en-US" altLang="en-US" sz="2800" b="0" dirty="0">
                    <a:latin typeface="+mn-lt"/>
                  </a:rPr>
                  <a:t> </a:t>
                </a:r>
                <a:r>
                  <a:rPr lang="en-US" altLang="en-US" sz="2800" b="0" dirty="0" err="1">
                    <a:latin typeface="+mn-lt"/>
                  </a:rPr>
                  <a:t>trung</a:t>
                </a:r>
                <a:r>
                  <a:rPr lang="en-US" altLang="en-US" sz="2800" b="0" dirty="0">
                    <a:latin typeface="+mn-lt"/>
                  </a:rPr>
                  <a:t> </a:t>
                </a:r>
                <a:r>
                  <a:rPr lang="en-US" altLang="en-US" sz="2800" b="0" dirty="0" err="1">
                    <a:latin typeface="+mn-lt"/>
                  </a:rPr>
                  <a:t>tâm</a:t>
                </a:r>
                <a:r>
                  <a:rPr lang="en-US" altLang="en-US" sz="2800" b="0" dirty="0">
                    <a:latin typeface="+mn-lt"/>
                  </a:rPr>
                  <a:t>, </a:t>
                </a:r>
                <a:r>
                  <a:rPr lang="en-US" altLang="en-US" sz="2800" b="0" dirty="0" err="1">
                    <a:latin typeface="+mn-lt"/>
                  </a:rPr>
                  <a:t>nếu</a:t>
                </a:r>
                <a:r>
                  <a:rPr lang="en-US" altLang="en-US" sz="2800" b="0" dirty="0">
                    <a:latin typeface="+mn-lt"/>
                  </a:rPr>
                  <a:t> n </a:t>
                </a:r>
                <a:r>
                  <a:rPr lang="en-US" altLang="en-US" sz="2800" b="0" dirty="0" err="1">
                    <a:latin typeface="+mn-lt"/>
                  </a:rPr>
                  <a:t>đủ</a:t>
                </a:r>
                <a:r>
                  <a:rPr lang="en-US" altLang="en-US" sz="2800" b="0" dirty="0">
                    <a:latin typeface="+mn-lt"/>
                  </a:rPr>
                  <a:t> </a:t>
                </a:r>
                <a:r>
                  <a:rPr lang="en-US" altLang="en-US" sz="2800" b="0" dirty="0" err="1">
                    <a:latin typeface="+mn-lt"/>
                  </a:rPr>
                  <a:t>lớn</a:t>
                </a:r>
                <a:r>
                  <a:rPr lang="en-US" altLang="en-US" sz="2800" b="0" dirty="0">
                    <a:latin typeface="+mn-lt"/>
                  </a:rPr>
                  <a:t>, </a:t>
                </a:r>
                <a14:m>
                  <m:oMath xmlns:m="http://schemas.openxmlformats.org/officeDocument/2006/math">
                    <m:acc>
                      <m:accPr>
                        <m:chr m:val="̅"/>
                        <m:ctrlPr>
                          <a:rPr lang="en-US" altLang="en-US" sz="2800" b="0" i="1" smtClean="0">
                            <a:latin typeface="Cambria Math" panose="02040503050406030204" pitchFamily="18" charset="0"/>
                          </a:rPr>
                        </m:ctrlPr>
                      </m:accPr>
                      <m:e>
                        <m:r>
                          <a:rPr lang="en-US" altLang="en-US" sz="2800" b="0" i="1" smtClean="0">
                            <a:latin typeface="Cambria Math" panose="02040503050406030204" pitchFamily="18" charset="0"/>
                          </a:rPr>
                          <m:t>𝑋</m:t>
                        </m:r>
                        <m:r>
                          <a:rPr lang="en-US" altLang="en-US" sz="2800" b="0" i="1" smtClean="0">
                            <a:latin typeface="Cambria Math" panose="02040503050406030204" pitchFamily="18" charset="0"/>
                          </a:rPr>
                          <m:t> </m:t>
                        </m:r>
                      </m:e>
                    </m:acc>
                  </m:oMath>
                </a14:m>
                <a:r>
                  <a:rPr lang="en-US" altLang="en-US" sz="2800" b="0" dirty="0">
                    <a:latin typeface="+mn-lt"/>
                  </a:rPr>
                  <a:t> </a:t>
                </a:r>
                <a:r>
                  <a:rPr lang="en-US" altLang="en-US" sz="2800" b="0" dirty="0" err="1">
                    <a:latin typeface="+mn-lt"/>
                  </a:rPr>
                  <a:t>có</a:t>
                </a:r>
                <a:r>
                  <a:rPr lang="en-US" altLang="en-US" sz="2800" b="0" dirty="0">
                    <a:latin typeface="+mn-lt"/>
                  </a:rPr>
                  <a:t> </a:t>
                </a:r>
                <a:r>
                  <a:rPr lang="en-US" altLang="en-US" sz="2800" b="0" dirty="0" err="1">
                    <a:latin typeface="+mn-lt"/>
                  </a:rPr>
                  <a:t>phân</a:t>
                </a:r>
                <a:r>
                  <a:rPr lang="en-US" altLang="en-US" sz="2800" b="0" dirty="0">
                    <a:latin typeface="+mn-lt"/>
                  </a:rPr>
                  <a:t> </a:t>
                </a:r>
                <a:r>
                  <a:rPr lang="en-US" altLang="en-US" sz="2800" b="0" dirty="0" err="1">
                    <a:latin typeface="+mn-lt"/>
                  </a:rPr>
                  <a:t>phối</a:t>
                </a:r>
                <a:r>
                  <a:rPr lang="en-US" altLang="en-US" sz="2800" b="0" dirty="0">
                    <a:latin typeface="+mn-lt"/>
                  </a:rPr>
                  <a:t> </a:t>
                </a:r>
                <a:r>
                  <a:rPr lang="en-US" altLang="en-US" sz="2800" b="0" dirty="0" err="1">
                    <a:latin typeface="+mn-lt"/>
                  </a:rPr>
                  <a:t>chuẩn</a:t>
                </a:r>
                <a:r>
                  <a:rPr lang="en-US" altLang="en-US" sz="2800" b="0" dirty="0">
                    <a:latin typeface="+mn-lt"/>
                  </a:rPr>
                  <a:t> </a:t>
                </a:r>
                <a:r>
                  <a:rPr lang="en-US" altLang="en-US" sz="2800" b="0" dirty="0" err="1">
                    <a:latin typeface="+mn-lt"/>
                  </a:rPr>
                  <a:t>với</a:t>
                </a:r>
                <a:r>
                  <a:rPr lang="en-US" altLang="en-US" sz="2800" b="0" dirty="0">
                    <a:latin typeface="+mn-lt"/>
                  </a:rPr>
                  <a:t> </a:t>
                </a:r>
                <a:r>
                  <a:rPr lang="en-US" altLang="en-US" sz="2800" b="0" dirty="0" err="1">
                    <a:latin typeface="+mn-lt"/>
                  </a:rPr>
                  <a:t>kỳ</a:t>
                </a:r>
                <a:r>
                  <a:rPr lang="en-US" altLang="en-US" sz="2800" b="0" dirty="0">
                    <a:latin typeface="+mn-lt"/>
                  </a:rPr>
                  <a:t> </a:t>
                </a:r>
                <a:r>
                  <a:rPr lang="en-US" altLang="en-US" sz="2800" b="0" dirty="0" err="1">
                    <a:latin typeface="+mn-lt"/>
                  </a:rPr>
                  <a:t>vọng</a:t>
                </a:r>
                <a:r>
                  <a:rPr lang="en-US" altLang="en-US" sz="2800" b="0" dirty="0">
                    <a:latin typeface="+mn-lt"/>
                  </a:rPr>
                  <a:t> </a:t>
                </a:r>
                <a:r>
                  <a:rPr lang="en-US" altLang="en-US" sz="2800" b="0" dirty="0" err="1">
                    <a:latin typeface="+mn-lt"/>
                  </a:rPr>
                  <a:t>là</a:t>
                </a:r>
                <a:r>
                  <a:rPr lang="en-US" altLang="en-US" sz="2800" b="0" dirty="0">
                    <a:latin typeface="+mn-lt"/>
                  </a:rPr>
                  <a:t> µ, </a:t>
                </a:r>
                <a:r>
                  <a:rPr lang="en-US" altLang="en-US" sz="2800" b="0" dirty="0" err="1">
                    <a:latin typeface="+mn-lt"/>
                  </a:rPr>
                  <a:t>phương</a:t>
                </a:r>
                <a:r>
                  <a:rPr lang="en-US" altLang="en-US" sz="2800" b="0" dirty="0">
                    <a:latin typeface="+mn-lt"/>
                  </a:rPr>
                  <a:t> </a:t>
                </a:r>
                <a:r>
                  <a:rPr lang="en-US" altLang="en-US" sz="2800" b="0" dirty="0" err="1">
                    <a:latin typeface="+mn-lt"/>
                  </a:rPr>
                  <a:t>sai</a:t>
                </a:r>
                <a:r>
                  <a:rPr lang="en-US" altLang="en-US" sz="2800" b="0" dirty="0">
                    <a:latin typeface="+mn-lt"/>
                  </a:rPr>
                  <a:t> </a:t>
                </a:r>
                <a:r>
                  <a:rPr lang="en-US" altLang="en-US" sz="2800" b="0" dirty="0" err="1">
                    <a:latin typeface="+mn-lt"/>
                  </a:rPr>
                  <a:t>là</a:t>
                </a:r>
                <a:r>
                  <a:rPr lang="en-US" altLang="en-US" sz="2800" b="0" dirty="0">
                    <a:latin typeface="+mn-lt"/>
                  </a:rPr>
                  <a:t>  </a:t>
                </a:r>
                <a14:m>
                  <m:oMath xmlns:m="http://schemas.openxmlformats.org/officeDocument/2006/math">
                    <m:f>
                      <m:fPr>
                        <m:ctrlPr>
                          <a:rPr lang="en-US" altLang="en-US" sz="2800" b="0" i="1" smtClean="0">
                            <a:latin typeface="Cambria Math" panose="02040503050406030204" pitchFamily="18" charset="0"/>
                          </a:rPr>
                        </m:ctrlPr>
                      </m:fPr>
                      <m:num>
                        <m:sSup>
                          <m:sSupPr>
                            <m:ctrlPr>
                              <a:rPr lang="el-GR" altLang="en-US" sz="2800" b="0" i="1" smtClean="0">
                                <a:latin typeface="Cambria Math" panose="02040503050406030204" pitchFamily="18" charset="0"/>
                              </a:rPr>
                            </m:ctrlPr>
                          </m:sSupPr>
                          <m:e>
                            <m:r>
                              <m:rPr>
                                <m:sty m:val="p"/>
                              </m:rPr>
                              <a:rPr lang="el-GR" altLang="en-US" sz="2800" b="0" i="1" smtClean="0">
                                <a:latin typeface="Cambria Math" panose="02040503050406030204" pitchFamily="18" charset="0"/>
                              </a:rPr>
                              <m:t>σ</m:t>
                            </m:r>
                          </m:e>
                          <m:sup>
                            <m:r>
                              <a:rPr lang="en-US" altLang="en-US" sz="2800" b="0" i="1" smtClean="0">
                                <a:latin typeface="Cambria Math" panose="02040503050406030204" pitchFamily="18" charset="0"/>
                              </a:rPr>
                              <m:t>2</m:t>
                            </m:r>
                          </m:sup>
                        </m:sSup>
                      </m:num>
                      <m:den>
                        <m:r>
                          <m:rPr>
                            <m:sty m:val="p"/>
                          </m:rPr>
                          <a:rPr lang="en-US" altLang="en-US" sz="2800" b="0" i="0" smtClean="0">
                            <a:latin typeface="Cambria Math" panose="02040503050406030204" pitchFamily="18" charset="0"/>
                          </a:rPr>
                          <m:t>n</m:t>
                        </m:r>
                      </m:den>
                    </m:f>
                  </m:oMath>
                </a14:m>
                <a:endParaRPr lang="vi-VN" altLang="en-US" sz="2800" b="0" dirty="0">
                  <a:latin typeface="+mn-lt"/>
                </a:endParaRPr>
              </a:p>
              <a:p>
                <a:pPr marL="457200" indent="-457200">
                  <a:lnSpc>
                    <a:spcPct val="90000"/>
                  </a:lnSpc>
                  <a:spcBef>
                    <a:spcPct val="50000"/>
                  </a:spcBef>
                  <a:buFont typeface="Arial" panose="020B0604020202020204" pitchFamily="34" charset="0"/>
                  <a:buChar char="•"/>
                </a:pPr>
                <a:r>
                  <a:rPr lang="en-US" altLang="en-US" sz="2800" b="0" dirty="0" err="1">
                    <a:latin typeface="+mn-lt"/>
                  </a:rPr>
                  <a:t>Trong</a:t>
                </a:r>
                <a:r>
                  <a:rPr lang="en-US" altLang="en-US" sz="2800" b="0" dirty="0">
                    <a:latin typeface="+mn-lt"/>
                  </a:rPr>
                  <a:t> </a:t>
                </a:r>
                <a:r>
                  <a:rPr lang="en-US" altLang="en-US" sz="2800" b="0" dirty="0" err="1">
                    <a:latin typeface="+mn-lt"/>
                  </a:rPr>
                  <a:t>đó</a:t>
                </a:r>
                <a:r>
                  <a:rPr lang="en-US" altLang="en-US" sz="2800" b="0" dirty="0">
                    <a:latin typeface="+mn-lt"/>
                  </a:rPr>
                  <a:t> µ </a:t>
                </a:r>
                <a:r>
                  <a:rPr lang="en-US" altLang="en-US" sz="2800" b="0" dirty="0" err="1">
                    <a:latin typeface="+mn-lt"/>
                  </a:rPr>
                  <a:t>là</a:t>
                </a:r>
                <a:r>
                  <a:rPr lang="en-US" altLang="en-US" sz="2800" b="0" dirty="0">
                    <a:latin typeface="+mn-lt"/>
                  </a:rPr>
                  <a:t> </a:t>
                </a:r>
                <a:r>
                  <a:rPr lang="en-US" altLang="en-US" sz="2800" b="0" dirty="0" err="1">
                    <a:latin typeface="+mn-lt"/>
                  </a:rPr>
                  <a:t>trung</a:t>
                </a:r>
                <a:r>
                  <a:rPr lang="en-US" altLang="en-US" sz="2800" b="0" dirty="0">
                    <a:latin typeface="+mn-lt"/>
                  </a:rPr>
                  <a:t> </a:t>
                </a:r>
                <a:r>
                  <a:rPr lang="en-US" altLang="en-US" sz="2800" b="0" dirty="0" err="1">
                    <a:latin typeface="+mn-lt"/>
                  </a:rPr>
                  <a:t>bình</a:t>
                </a:r>
                <a:r>
                  <a:rPr lang="en-US" altLang="en-US" sz="2800" b="0" dirty="0">
                    <a:latin typeface="+mn-lt"/>
                  </a:rPr>
                  <a:t> </a:t>
                </a:r>
                <a:r>
                  <a:rPr lang="en-US" altLang="en-US" sz="2800" b="0" dirty="0" err="1">
                    <a:latin typeface="+mn-lt"/>
                  </a:rPr>
                  <a:t>của</a:t>
                </a:r>
                <a:r>
                  <a:rPr lang="en-US" altLang="en-US" sz="2800" b="0" dirty="0">
                    <a:latin typeface="+mn-lt"/>
                  </a:rPr>
                  <a:t> </a:t>
                </a:r>
                <a:r>
                  <a:rPr lang="en-US" altLang="en-US" sz="2800" b="0" dirty="0" err="1">
                    <a:latin typeface="+mn-lt"/>
                  </a:rPr>
                  <a:t>quần</a:t>
                </a:r>
                <a:r>
                  <a:rPr lang="en-US" altLang="en-US" sz="2800" b="0" dirty="0">
                    <a:latin typeface="+mn-lt"/>
                  </a:rPr>
                  <a:t> </a:t>
                </a:r>
                <a:r>
                  <a:rPr lang="en-US" altLang="en-US" sz="2800" b="0" dirty="0" err="1">
                    <a:latin typeface="+mn-lt"/>
                  </a:rPr>
                  <a:t>thể</a:t>
                </a:r>
                <a:r>
                  <a:rPr lang="en-US" altLang="en-US" sz="2800" b="0" dirty="0">
                    <a:latin typeface="+mn-lt"/>
                  </a:rPr>
                  <a:t> </a:t>
                </a:r>
                <a:r>
                  <a:rPr lang="en-US" altLang="en-US" sz="2800" b="0" dirty="0" err="1">
                    <a:latin typeface="+mn-lt"/>
                  </a:rPr>
                  <a:t>và</a:t>
                </a:r>
                <a:r>
                  <a:rPr lang="en-US" altLang="en-US" sz="2800" b="0" dirty="0">
                    <a:latin typeface="+mn-lt"/>
                  </a:rPr>
                  <a:t> </a:t>
                </a:r>
                <a14:m>
                  <m:oMath xmlns:m="http://schemas.openxmlformats.org/officeDocument/2006/math">
                    <m:sSup>
                      <m:sSupPr>
                        <m:ctrlPr>
                          <a:rPr lang="el-GR" altLang="en-US" sz="2800" b="0" i="1" smtClean="0">
                            <a:latin typeface="Cambria Math" panose="02040503050406030204" pitchFamily="18" charset="0"/>
                          </a:rPr>
                        </m:ctrlPr>
                      </m:sSupPr>
                      <m:e>
                        <m:r>
                          <m:rPr>
                            <m:sty m:val="p"/>
                          </m:rPr>
                          <a:rPr lang="el-GR" altLang="en-US" sz="2800" b="0" i="1" smtClean="0">
                            <a:latin typeface="Cambria Math" panose="02040503050406030204" pitchFamily="18" charset="0"/>
                          </a:rPr>
                          <m:t>σ</m:t>
                        </m:r>
                      </m:e>
                      <m:sup>
                        <m:r>
                          <a:rPr lang="en-US" altLang="en-US" sz="2800" b="0" i="1" smtClean="0">
                            <a:latin typeface="Cambria Math" panose="02040503050406030204" pitchFamily="18" charset="0"/>
                          </a:rPr>
                          <m:t>2</m:t>
                        </m:r>
                      </m:sup>
                    </m:sSup>
                  </m:oMath>
                </a14:m>
                <a:r>
                  <a:rPr lang="en-US" altLang="en-US" sz="2800" b="0" dirty="0">
                    <a:latin typeface="+mn-lt"/>
                  </a:rPr>
                  <a:t> </a:t>
                </a:r>
                <a:r>
                  <a:rPr lang="en-US" altLang="en-US" sz="2800" b="0" dirty="0" err="1">
                    <a:latin typeface="+mn-lt"/>
                  </a:rPr>
                  <a:t>là</a:t>
                </a:r>
                <a:r>
                  <a:rPr lang="en-US" altLang="en-US" sz="2800" b="0" dirty="0">
                    <a:latin typeface="+mn-lt"/>
                  </a:rPr>
                  <a:t> </a:t>
                </a:r>
                <a:r>
                  <a:rPr lang="en-US" altLang="en-US" sz="2800" b="0" dirty="0" err="1">
                    <a:latin typeface="+mn-lt"/>
                  </a:rPr>
                  <a:t>phương</a:t>
                </a:r>
                <a:r>
                  <a:rPr lang="en-US" altLang="en-US" sz="2800" b="0" dirty="0">
                    <a:latin typeface="+mn-lt"/>
                  </a:rPr>
                  <a:t> </a:t>
                </a:r>
                <a:r>
                  <a:rPr lang="en-US" altLang="en-US" sz="2800" b="0" dirty="0" err="1">
                    <a:latin typeface="+mn-lt"/>
                  </a:rPr>
                  <a:t>sai</a:t>
                </a:r>
                <a:r>
                  <a:rPr lang="en-US" altLang="en-US" sz="2800" b="0" dirty="0">
                    <a:latin typeface="+mn-lt"/>
                  </a:rPr>
                  <a:t> </a:t>
                </a:r>
                <a:r>
                  <a:rPr lang="en-US" altLang="en-US" sz="2800" b="0" dirty="0" err="1">
                    <a:latin typeface="+mn-lt"/>
                  </a:rPr>
                  <a:t>của</a:t>
                </a:r>
                <a:r>
                  <a:rPr lang="en-US" altLang="en-US" sz="2800" b="0" dirty="0">
                    <a:latin typeface="+mn-lt"/>
                  </a:rPr>
                  <a:t> </a:t>
                </a:r>
                <a:r>
                  <a:rPr lang="en-US" altLang="en-US" sz="2800" b="0" dirty="0" err="1">
                    <a:latin typeface="+mn-lt"/>
                  </a:rPr>
                  <a:t>quần</a:t>
                </a:r>
                <a:r>
                  <a:rPr lang="en-US" altLang="en-US" sz="2800" b="0" dirty="0">
                    <a:latin typeface="+mn-lt"/>
                  </a:rPr>
                  <a:t> </a:t>
                </a:r>
                <a:r>
                  <a:rPr lang="en-US" altLang="en-US" sz="2800" b="0" dirty="0" err="1">
                    <a:latin typeface="+mn-lt"/>
                  </a:rPr>
                  <a:t>thể</a:t>
                </a:r>
                <a:r>
                  <a:rPr lang="en-US" altLang="en-US" sz="2800" b="0" dirty="0">
                    <a:latin typeface="+mn-lt"/>
                  </a:rPr>
                  <a:t> </a:t>
                </a:r>
                <a:endParaRPr lang="vi-VN" altLang="en-US" sz="2800" b="0" dirty="0">
                  <a:latin typeface="+mn-lt"/>
                </a:endParaRPr>
              </a:p>
              <a:p>
                <a:pPr marL="457200" indent="-457200">
                  <a:lnSpc>
                    <a:spcPct val="90000"/>
                  </a:lnSpc>
                  <a:spcBef>
                    <a:spcPct val="50000"/>
                  </a:spcBef>
                  <a:buFont typeface="Arial" panose="020B0604020202020204" pitchFamily="34" charset="0"/>
                  <a:buChar char="•"/>
                </a:pPr>
                <a:endParaRPr lang="en-US" altLang="en-US" sz="2800" b="0" dirty="0">
                  <a:latin typeface="+mn-lt"/>
                </a:endParaRPr>
              </a:p>
            </p:txBody>
          </p:sp>
        </mc:Choice>
        <mc:Fallback xmlns="">
          <p:sp>
            <p:nvSpPr>
              <p:cNvPr id="9" name="Text Box 3"/>
              <p:cNvSpPr txBox="1">
                <a:spLocks noRot="1" noChangeAspect="1" noMove="1" noResize="1" noEditPoints="1" noAdjustHandles="1" noChangeArrowheads="1" noChangeShapeType="1" noTextEdit="1"/>
              </p:cNvSpPr>
              <p:nvPr/>
            </p:nvSpPr>
            <p:spPr bwMode="auto">
              <a:xfrm>
                <a:off x="0" y="1066800"/>
                <a:ext cx="9144000" cy="2717475"/>
              </a:xfrm>
              <a:prstGeom prst="rect">
                <a:avLst/>
              </a:prstGeom>
              <a:blipFill>
                <a:blip r:embed="rId3"/>
                <a:stretch>
                  <a:fillRect l="-1200" t="-38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noFill/>
                  </a:rPr>
                  <a:t> </a:t>
                </a:r>
              </a:p>
            </p:txBody>
          </p:sp>
        </mc:Fallback>
      </mc:AlternateContent>
      <p:pic>
        <p:nvPicPr>
          <p:cNvPr id="19" name="Picture 18"/>
          <p:cNvPicPr/>
          <p:nvPr/>
        </p:nvPicPr>
        <p:blipFill>
          <a:blip r:embed="rId4" cstate="print">
            <a:extLst>
              <a:ext uri="{28A0092B-C50C-407E-A947-70E740481C1C}">
                <a14:useLocalDpi xmlns:a14="http://schemas.microsoft.com/office/drawing/2010/main" val="0"/>
              </a:ext>
            </a:extLst>
          </a:blip>
          <a:stretch>
            <a:fillRect/>
          </a:stretch>
        </p:blipFill>
        <p:spPr>
          <a:xfrm>
            <a:off x="2075293" y="3113405"/>
            <a:ext cx="4554107" cy="3134995"/>
          </a:xfrm>
          <a:prstGeom prst="rect">
            <a:avLst/>
          </a:prstGeom>
        </p:spPr>
      </p:pic>
      <p:cxnSp>
        <p:nvCxnSpPr>
          <p:cNvPr id="11" name="Straight Connector 10"/>
          <p:cNvCxnSpPr/>
          <p:nvPr/>
        </p:nvCxnSpPr>
        <p:spPr bwMode="auto">
          <a:xfrm flipV="1">
            <a:off x="4280263" y="3550918"/>
            <a:ext cx="0" cy="2362200"/>
          </a:xfrm>
          <a:prstGeom prst="line">
            <a:avLst/>
          </a:prstGeom>
          <a:solidFill>
            <a:srgbClr val="144097"/>
          </a:solidFill>
          <a:ln w="127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4878978" y="4953000"/>
            <a:ext cx="0" cy="953589"/>
          </a:xfrm>
          <a:prstGeom prst="line">
            <a:avLst/>
          </a:prstGeom>
          <a:solidFill>
            <a:srgbClr val="144097"/>
          </a:solidFill>
          <a:ln w="12700" cap="flat" cmpd="sng" algn="ctr">
            <a:solidFill>
              <a:schemeClr val="tx1"/>
            </a:solidFill>
            <a:prstDash val="solid"/>
            <a:round/>
            <a:headEnd type="none" w="med" len="med"/>
            <a:tailEnd type="none" w="med" len="med"/>
          </a:ln>
          <a:effectLst/>
        </p:spPr>
      </p:cxnSp>
      <p:sp>
        <p:nvSpPr>
          <p:cNvPr id="22" name="TextBox 21"/>
          <p:cNvSpPr txBox="1"/>
          <p:nvPr/>
        </p:nvSpPr>
        <p:spPr>
          <a:xfrm>
            <a:off x="4145282" y="5939244"/>
            <a:ext cx="376644" cy="400110"/>
          </a:xfrm>
          <a:prstGeom prst="rect">
            <a:avLst/>
          </a:prstGeom>
          <a:noFill/>
        </p:spPr>
        <p:txBody>
          <a:bodyPr wrap="square" rtlCol="0">
            <a:spAutoFit/>
          </a:bodyPr>
          <a:lstStyle/>
          <a:p>
            <a:r>
              <a:rPr lang="en-US" dirty="0"/>
              <a:t>µ</a:t>
            </a:r>
          </a:p>
        </p:txBody>
      </p:sp>
      <p:sp>
        <p:nvSpPr>
          <p:cNvPr id="25" name="TextBox 24"/>
          <p:cNvSpPr txBox="1"/>
          <p:nvPr/>
        </p:nvSpPr>
        <p:spPr>
          <a:xfrm>
            <a:off x="3429000" y="5924490"/>
            <a:ext cx="609600" cy="400110"/>
          </a:xfrm>
          <a:prstGeom prst="rect">
            <a:avLst/>
          </a:prstGeom>
          <a:noFill/>
        </p:spPr>
        <p:txBody>
          <a:bodyPr wrap="square" rtlCol="0">
            <a:spAutoFit/>
          </a:bodyPr>
          <a:lstStyle/>
          <a:p>
            <a:r>
              <a:rPr lang="en-US" dirty="0"/>
              <a:t>µ-E</a:t>
            </a:r>
          </a:p>
        </p:txBody>
      </p:sp>
      <p:sp>
        <p:nvSpPr>
          <p:cNvPr id="26" name="TextBox 25"/>
          <p:cNvSpPr txBox="1"/>
          <p:nvPr/>
        </p:nvSpPr>
        <p:spPr>
          <a:xfrm>
            <a:off x="4724400" y="5928359"/>
            <a:ext cx="838200" cy="400110"/>
          </a:xfrm>
          <a:prstGeom prst="rect">
            <a:avLst/>
          </a:prstGeom>
          <a:noFill/>
        </p:spPr>
        <p:txBody>
          <a:bodyPr wrap="square" rtlCol="0">
            <a:spAutoFit/>
          </a:bodyPr>
          <a:lstStyle/>
          <a:p>
            <a:r>
              <a:rPr lang="en-US" dirty="0"/>
              <a:t>µ+E</a:t>
            </a:r>
          </a:p>
        </p:txBody>
      </p:sp>
      <p:cxnSp>
        <p:nvCxnSpPr>
          <p:cNvPr id="29" name="Straight Connector 28"/>
          <p:cNvCxnSpPr/>
          <p:nvPr/>
        </p:nvCxnSpPr>
        <p:spPr bwMode="auto">
          <a:xfrm>
            <a:off x="3681548" y="4953000"/>
            <a:ext cx="0" cy="953589"/>
          </a:xfrm>
          <a:prstGeom prst="line">
            <a:avLst/>
          </a:prstGeom>
          <a:solidFill>
            <a:srgbClr val="144097"/>
          </a:solidFill>
          <a:ln w="12700"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8" name="TextBox 27"/>
              <p:cNvSpPr txBox="1"/>
              <p:nvPr/>
            </p:nvSpPr>
            <p:spPr>
              <a:xfrm>
                <a:off x="304800" y="4191000"/>
                <a:ext cx="1905000" cy="735138"/>
              </a:xfrm>
              <a:prstGeom prst="rect">
                <a:avLst/>
              </a:prstGeom>
              <a:noFill/>
            </p:spPr>
            <p:txBody>
              <a:bodyPr wrap="square" rtlCol="0">
                <a:spAutoFit/>
              </a:bodyPr>
              <a:lstStyle/>
              <a:p>
                <a:r>
                  <a:rPr lang="en-US" dirty="0"/>
                  <a:t>Phân </a:t>
                </a:r>
                <a:r>
                  <a:rPr lang="en-US" dirty="0" err="1"/>
                  <a:t>phối</a:t>
                </a:r>
                <a:r>
                  <a:rPr lang="en-US" dirty="0"/>
                  <a:t> </a:t>
                </a:r>
                <a:r>
                  <a:rPr lang="en-US" dirty="0" err="1"/>
                  <a:t>chuẩn</a:t>
                </a:r>
                <a:r>
                  <a:rPr lang="en-US" dirty="0"/>
                  <a:t> </a:t>
                </a:r>
                <a:r>
                  <a:rPr lang="en-US" dirty="0" err="1"/>
                  <a:t>của</a:t>
                </a:r>
                <a:r>
                  <a:rPr lang="en-US" dirty="0"/>
                  <a:t> </a:t>
                </a:r>
                <a14:m>
                  <m:oMath xmlns:m="http://schemas.openxmlformats.org/officeDocument/2006/math">
                    <m:acc>
                      <m:accPr>
                        <m:chr m:val="̅"/>
                        <m:ctrlPr>
                          <a:rPr lang="en-US" i="1" smtClean="0">
                            <a:latin typeface="Cambria Math" panose="02040503050406030204" pitchFamily="18" charset="0"/>
                          </a:rPr>
                        </m:ctrlPr>
                      </m:accPr>
                      <m:e>
                        <m:r>
                          <a:rPr lang="en-US" b="1" i="1" smtClean="0">
                            <a:latin typeface="Cambria Math" panose="02040503050406030204" pitchFamily="18" charset="0"/>
                          </a:rPr>
                          <m:t>𝑿</m:t>
                        </m:r>
                      </m:e>
                    </m:acc>
                  </m:oMath>
                </a14:m>
                <a:endParaRPr 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304800" y="4191000"/>
                <a:ext cx="1905000" cy="735138"/>
              </a:xfrm>
              <a:prstGeom prst="rect">
                <a:avLst/>
              </a:prstGeom>
              <a:blipFill>
                <a:blip r:embed="rId5"/>
                <a:stretch>
                  <a:fillRect l="-3195" t="-4167" r="-7029" b="-10833"/>
                </a:stretch>
              </a:blipFill>
            </p:spPr>
            <p:txBody>
              <a:bodyPr/>
              <a:lstStyle/>
              <a:p>
                <a:r>
                  <a:rPr lang="en-US">
                    <a:noFill/>
                  </a:rPr>
                  <a:t> </a:t>
                </a:r>
              </a:p>
            </p:txBody>
          </p:sp>
        </mc:Fallback>
      </mc:AlternateContent>
      <p:sp>
        <p:nvSpPr>
          <p:cNvPr id="30" name="TextBox 29"/>
          <p:cNvSpPr txBox="1"/>
          <p:nvPr/>
        </p:nvSpPr>
        <p:spPr>
          <a:xfrm>
            <a:off x="5257800" y="5181600"/>
            <a:ext cx="762000" cy="400110"/>
          </a:xfrm>
          <a:prstGeom prst="rect">
            <a:avLst/>
          </a:prstGeom>
          <a:noFill/>
        </p:spPr>
        <p:txBody>
          <a:bodyPr wrap="square" rtlCol="0">
            <a:spAutoFit/>
          </a:bodyPr>
          <a:lstStyle/>
          <a:p>
            <a:r>
              <a:rPr lang="el-GR" dirty="0"/>
              <a:t>α</a:t>
            </a:r>
            <a:r>
              <a:rPr lang="en-US" dirty="0"/>
              <a:t>/2</a:t>
            </a:r>
          </a:p>
        </p:txBody>
      </p:sp>
      <p:sp>
        <p:nvSpPr>
          <p:cNvPr id="32" name="TextBox 31"/>
          <p:cNvSpPr txBox="1"/>
          <p:nvPr/>
        </p:nvSpPr>
        <p:spPr>
          <a:xfrm>
            <a:off x="2743200" y="5181600"/>
            <a:ext cx="762000" cy="400110"/>
          </a:xfrm>
          <a:prstGeom prst="rect">
            <a:avLst/>
          </a:prstGeom>
          <a:noFill/>
        </p:spPr>
        <p:txBody>
          <a:bodyPr wrap="square" rtlCol="0">
            <a:spAutoFit/>
          </a:bodyPr>
          <a:lstStyle/>
          <a:p>
            <a:r>
              <a:rPr lang="el-GR" dirty="0"/>
              <a:t>α</a:t>
            </a:r>
            <a:r>
              <a:rPr lang="en-US" dirty="0"/>
              <a:t>/2</a:t>
            </a:r>
          </a:p>
        </p:txBody>
      </p:sp>
      <p:sp>
        <p:nvSpPr>
          <p:cNvPr id="33" name="TextBox 32"/>
          <p:cNvSpPr txBox="1"/>
          <p:nvPr/>
        </p:nvSpPr>
        <p:spPr>
          <a:xfrm>
            <a:off x="3810000" y="4648200"/>
            <a:ext cx="762000" cy="400110"/>
          </a:xfrm>
          <a:prstGeom prst="rect">
            <a:avLst/>
          </a:prstGeom>
          <a:noFill/>
        </p:spPr>
        <p:txBody>
          <a:bodyPr wrap="square" rtlCol="0">
            <a:spAutoFit/>
          </a:bodyPr>
          <a:lstStyle/>
          <a:p>
            <a:r>
              <a:rPr lang="en-US" dirty="0"/>
              <a:t>1-</a:t>
            </a:r>
            <a:r>
              <a:rPr lang="el-GR" dirty="0"/>
              <a:t>α</a:t>
            </a:r>
            <a:endParaRPr lang="en-US" dirty="0"/>
          </a:p>
        </p:txBody>
      </p:sp>
      <p:cxnSp>
        <p:nvCxnSpPr>
          <p:cNvPr id="34" name="Straight Connector 33"/>
          <p:cNvCxnSpPr/>
          <p:nvPr/>
        </p:nvCxnSpPr>
        <p:spPr bwMode="auto">
          <a:xfrm>
            <a:off x="4051663" y="3899263"/>
            <a:ext cx="4572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auto">
          <a:xfrm>
            <a:off x="4038600" y="4038600"/>
            <a:ext cx="5334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auto">
          <a:xfrm>
            <a:off x="3962400" y="4191000"/>
            <a:ext cx="6858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auto">
          <a:xfrm>
            <a:off x="3886200" y="4343400"/>
            <a:ext cx="812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auto">
          <a:xfrm>
            <a:off x="3823063" y="4521926"/>
            <a:ext cx="9144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auto">
          <a:xfrm>
            <a:off x="3683726" y="5767252"/>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auto">
          <a:xfrm>
            <a:off x="3683726" y="5627915"/>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auto">
          <a:xfrm>
            <a:off x="3683726" y="5501641"/>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bwMode="auto">
          <a:xfrm>
            <a:off x="3681548" y="5373189"/>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bwMode="auto">
          <a:xfrm>
            <a:off x="3681548" y="5244737"/>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bwMode="auto">
          <a:xfrm>
            <a:off x="3694611" y="5105400"/>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bwMode="auto">
          <a:xfrm>
            <a:off x="3694611" y="4990011"/>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bwMode="auto">
          <a:xfrm>
            <a:off x="3733800" y="4876800"/>
            <a:ext cx="11430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bwMode="auto">
          <a:xfrm>
            <a:off x="3810000" y="4648200"/>
            <a:ext cx="9906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bwMode="auto">
          <a:xfrm>
            <a:off x="3810000" y="4761411"/>
            <a:ext cx="9906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38410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2"/>
          <p:cNvSpPr>
            <a:spLocks noGrp="1" noChangeArrowheads="1"/>
          </p:cNvSpPr>
          <p:nvPr>
            <p:ph type="title" idx="4294967295"/>
          </p:nvPr>
        </p:nvSpPr>
        <p:spPr bwMode="auto">
          <a:xfrm>
            <a:off x="387350" y="381000"/>
            <a:ext cx="875665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dirty="0"/>
              <a:t>Khoảng ước </a:t>
            </a:r>
            <a:r>
              <a:rPr lang="en-US" altLang="en-US" dirty="0" err="1"/>
              <a:t>lượng</a:t>
            </a:r>
            <a:r>
              <a:rPr lang="vi-VN" altLang="en-US" dirty="0"/>
              <a:t> </a:t>
            </a:r>
            <a:r>
              <a:rPr lang="en-US" altLang="en-US" dirty="0" err="1"/>
              <a:t>cho</a:t>
            </a:r>
            <a:r>
              <a:rPr lang="en-US" altLang="en-US" dirty="0"/>
              <a:t> </a:t>
            </a:r>
            <a:r>
              <a:rPr lang="en-US" altLang="en-US" dirty="0" err="1"/>
              <a:t>trung</a:t>
            </a:r>
            <a:r>
              <a:rPr lang="en-US" altLang="en-US" dirty="0"/>
              <a:t> </a:t>
            </a:r>
            <a:r>
              <a:rPr lang="en-US" altLang="en-US" dirty="0" err="1"/>
              <a:t>bình</a:t>
            </a:r>
            <a:r>
              <a:rPr lang="vi-VN" altLang="en-US" dirty="0"/>
              <a:t> </a:t>
            </a:r>
            <a:r>
              <a:rPr lang="el-GR" altLang="en-US" dirty="0"/>
              <a:t>μ</a:t>
            </a:r>
            <a:endParaRPr lang="el-GR" altLang="en-US" i="1" dirty="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 Box 3"/>
              <p:cNvSpPr txBox="1">
                <a:spLocks noChangeArrowheads="1"/>
              </p:cNvSpPr>
              <p:nvPr/>
            </p:nvSpPr>
            <p:spPr bwMode="auto">
              <a:xfrm>
                <a:off x="0" y="1066800"/>
                <a:ext cx="9144000" cy="6629507"/>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type="none" w="sm" len="sm"/>
                    <a:tailEnd type="none" w="sm" len="sm"/>
                  </a14:hiddenLine>
                </a:ext>
              </a:extLst>
            </p:spPr>
            <p:txBody>
              <a:bodyPr wrap="square">
                <a:spAutoFit/>
              </a:bodyPr>
              <a:lstStyle>
                <a:lvl1pPr marL="514350" indent="-514350">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marL="457200" indent="-457200">
                  <a:lnSpc>
                    <a:spcPct val="90000"/>
                  </a:lnSpc>
                  <a:spcBef>
                    <a:spcPct val="50000"/>
                  </a:spcBef>
                  <a:buFont typeface="Arial" panose="020B0604020202020204" pitchFamily="34" charset="0"/>
                  <a:buChar char="•"/>
                </a:pPr>
                <a:endParaRPr lang="en-US" altLang="en-US" sz="2400" b="0" dirty="0">
                  <a:latin typeface="+mn-lt"/>
                </a:endParaRPr>
              </a:p>
              <a:p>
                <a:pPr marL="457200" indent="-457200">
                  <a:lnSpc>
                    <a:spcPct val="90000"/>
                  </a:lnSpc>
                  <a:spcBef>
                    <a:spcPct val="50000"/>
                  </a:spcBef>
                  <a:buFont typeface="Arial" panose="020B0604020202020204" pitchFamily="34" charset="0"/>
                  <a:buChar char="•"/>
                </a:pPr>
                <a:endParaRPr lang="en-US" altLang="en-US" sz="2400" b="0" dirty="0">
                  <a:latin typeface="+mn-lt"/>
                </a:endParaRPr>
              </a:p>
              <a:p>
                <a:pPr marL="0" indent="0">
                  <a:lnSpc>
                    <a:spcPct val="90000"/>
                  </a:lnSpc>
                  <a:spcBef>
                    <a:spcPct val="50000"/>
                  </a:spcBef>
                </a:pPr>
                <a:endParaRPr lang="en-US" altLang="en-US" sz="2400" b="0" dirty="0">
                  <a:latin typeface="+mn-lt"/>
                </a:endParaRPr>
              </a:p>
              <a:p>
                <a:pPr marL="457200" indent="-457200">
                  <a:lnSpc>
                    <a:spcPct val="90000"/>
                  </a:lnSpc>
                  <a:spcBef>
                    <a:spcPct val="50000"/>
                  </a:spcBef>
                  <a:buFont typeface="Arial" panose="020B0604020202020204" pitchFamily="34" charset="0"/>
                  <a:buChar char="•"/>
                </a:pPr>
                <a:r>
                  <a:rPr lang="en-US" altLang="en-US" sz="2400" b="0" dirty="0">
                    <a:latin typeface="+mn-lt"/>
                  </a:rPr>
                  <a:t>P(µ-E&lt;</a:t>
                </a:r>
                <a14:m>
                  <m:oMath xmlns:m="http://schemas.openxmlformats.org/officeDocument/2006/math">
                    <m:acc>
                      <m:accPr>
                        <m:chr m:val="̅"/>
                        <m:ctrlPr>
                          <a:rPr lang="en-US" sz="2400" i="1" smtClean="0">
                            <a:latin typeface="Cambria Math" panose="02040503050406030204" pitchFamily="18" charset="0"/>
                          </a:rPr>
                        </m:ctrlPr>
                      </m:accPr>
                      <m:e>
                        <m:r>
                          <a:rPr lang="en-US" sz="2400" b="1" i="1" smtClean="0">
                            <a:latin typeface="Cambria Math" panose="02040503050406030204" pitchFamily="18" charset="0"/>
                          </a:rPr>
                          <m:t> </m:t>
                        </m:r>
                        <m:r>
                          <a:rPr lang="en-US" sz="2400" i="1">
                            <a:latin typeface="Cambria Math" panose="02040503050406030204" pitchFamily="18" charset="0"/>
                          </a:rPr>
                          <m:t>𝑿</m:t>
                        </m:r>
                      </m:e>
                    </m:acc>
                    <m:r>
                      <a:rPr lang="en-US" sz="2400" b="1" i="0" smtClean="0">
                        <a:latin typeface="Cambria Math" panose="02040503050406030204" pitchFamily="18" charset="0"/>
                      </a:rPr>
                      <m:t>&lt;</m:t>
                    </m:r>
                  </m:oMath>
                </a14:m>
                <a:r>
                  <a:rPr lang="en-US" altLang="en-US" sz="2400" b="0" dirty="0"/>
                  <a:t>µ+E</a:t>
                </a:r>
                <a:r>
                  <a:rPr lang="en-US" altLang="en-US" sz="2400" b="0" dirty="0">
                    <a:latin typeface="+mn-lt"/>
                  </a:rPr>
                  <a:t>)= 1-</a:t>
                </a:r>
                <a:r>
                  <a:rPr lang="el-GR" altLang="en-US" sz="2400" b="0" dirty="0">
                    <a:latin typeface="+mn-lt"/>
                  </a:rPr>
                  <a:t>α</a:t>
                </a:r>
                <a:endParaRPr lang="en-US" altLang="en-US" sz="2400" b="0" dirty="0">
                  <a:latin typeface="+mn-lt"/>
                </a:endParaRPr>
              </a:p>
              <a:p>
                <a:pPr marL="457200" indent="-457200">
                  <a:lnSpc>
                    <a:spcPct val="90000"/>
                  </a:lnSpc>
                  <a:spcBef>
                    <a:spcPct val="50000"/>
                  </a:spcBef>
                  <a:buFont typeface="Arial" panose="020B0604020202020204" pitchFamily="34" charset="0"/>
                  <a:buChar char="•"/>
                </a:pPr>
                <a:r>
                  <a:rPr lang="en-US" altLang="en-US" sz="2400" b="0" dirty="0"/>
                  <a:t>P(µ-E&lt;</a:t>
                </a:r>
                <a14:m>
                  <m:oMath xmlns:m="http://schemas.openxmlformats.org/officeDocument/2006/math">
                    <m:acc>
                      <m:accPr>
                        <m:chr m:val="̅"/>
                        <m:ctrlPr>
                          <a:rPr lang="en-US" sz="2400" i="1" smtClean="0">
                            <a:latin typeface="Cambria Math" panose="02040503050406030204" pitchFamily="18" charset="0"/>
                          </a:rPr>
                        </m:ctrlPr>
                      </m:accPr>
                      <m:e>
                        <m:r>
                          <a:rPr lang="en-US" sz="2400" b="1" i="1" smtClean="0">
                            <a:latin typeface="Cambria Math" panose="02040503050406030204" pitchFamily="18" charset="0"/>
                          </a:rPr>
                          <m:t> </m:t>
                        </m:r>
                        <m:r>
                          <a:rPr lang="en-US" sz="2400" i="1">
                            <a:latin typeface="Cambria Math" panose="02040503050406030204" pitchFamily="18" charset="0"/>
                          </a:rPr>
                          <m:t>𝑿</m:t>
                        </m:r>
                      </m:e>
                    </m:acc>
                    <m:r>
                      <a:rPr lang="en-US" sz="2400">
                        <a:latin typeface="Cambria Math" panose="02040503050406030204" pitchFamily="18" charset="0"/>
                      </a:rPr>
                      <m:t>&lt;</m:t>
                    </m:r>
                  </m:oMath>
                </a14:m>
                <a:r>
                  <a:rPr lang="en-US" altLang="en-US" sz="2400" b="0" dirty="0"/>
                  <a:t>µ+E)=P(</a:t>
                </a: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oMath>
                </a14:m>
                <a:r>
                  <a:rPr lang="en-US" altLang="en-US" sz="2400" b="0" dirty="0">
                    <a:latin typeface="+mn-lt"/>
                  </a:rPr>
                  <a:t>&lt;</a:t>
                </a:r>
                <a:r>
                  <a:rPr lang="en-US" altLang="en-US" sz="2400" b="0" dirty="0"/>
                  <a:t> µ+E)-P(</a:t>
                </a: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oMath>
                </a14:m>
                <a:r>
                  <a:rPr lang="en-US" altLang="en-US" sz="2400" b="0" dirty="0"/>
                  <a:t>&lt; µ-E)</a:t>
                </a:r>
              </a:p>
              <a:p>
                <a:pPr marL="457200" indent="-457200">
                  <a:lnSpc>
                    <a:spcPct val="90000"/>
                  </a:lnSpc>
                  <a:spcBef>
                    <a:spcPct val="50000"/>
                  </a:spcBef>
                  <a:buFont typeface="Arial" panose="020B0604020202020204" pitchFamily="34" charset="0"/>
                  <a:buChar char="•"/>
                </a:pPr>
                <a:r>
                  <a:rPr lang="en-US" altLang="en-US" sz="2400" b="0" dirty="0"/>
                  <a:t>=P(</a:t>
                </a: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r>
                      <a:rPr lang="en-US" sz="2400" b="0" i="0" smtClean="0">
                        <a:latin typeface="Cambria Math" panose="02040503050406030204" pitchFamily="18" charset="0"/>
                      </a:rPr>
                      <m:t>−</m:t>
                    </m:r>
                    <m:r>
                      <m:rPr>
                        <m:sty m:val="p"/>
                      </m:rPr>
                      <a:rPr lang="en-US" sz="2400" b="0" i="0" smtClean="0">
                        <a:latin typeface="Cambria Math" panose="02040503050406030204" pitchFamily="18" charset="0"/>
                      </a:rPr>
                      <m:t>E</m:t>
                    </m:r>
                    <m:r>
                      <a:rPr lang="en-US" sz="2400" b="0" i="0" smtClean="0">
                        <a:latin typeface="Cambria Math" panose="02040503050406030204" pitchFamily="18" charset="0"/>
                      </a:rPr>
                      <m:t>&lt;</m:t>
                    </m:r>
                    <m:r>
                      <m:rPr>
                        <m:nor/>
                      </m:rPr>
                      <a:rPr lang="en-US" altLang="en-US" sz="2400" b="0" dirty="0" smtClean="0"/>
                      <m:t>µ</m:t>
                    </m:r>
                  </m:oMath>
                </a14:m>
                <a:r>
                  <a:rPr lang="en-US" altLang="en-US" sz="2400" b="0" dirty="0">
                    <a:latin typeface="+mn-lt"/>
                  </a:rPr>
                  <a:t>)-</a:t>
                </a:r>
                <a:r>
                  <a:rPr lang="en-US" altLang="en-US" sz="2400" b="0" dirty="0"/>
                  <a:t>P(</a:t>
                </a: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r>
                      <a:rPr lang="en-US" sz="2400" b="0" i="0" smtClean="0">
                        <a:latin typeface="Cambria Math" panose="02040503050406030204" pitchFamily="18" charset="0"/>
                      </a:rPr>
                      <m:t>+</m:t>
                    </m:r>
                    <m:r>
                      <m:rPr>
                        <m:sty m:val="p"/>
                      </m:rPr>
                      <a:rPr lang="en-US" sz="2400" b="0" i="0" smtClean="0">
                        <a:latin typeface="Cambria Math" panose="02040503050406030204" pitchFamily="18" charset="0"/>
                      </a:rPr>
                      <m:t>E</m:t>
                    </m:r>
                    <m:r>
                      <a:rPr lang="en-US" sz="2400" b="0" i="0" smtClean="0">
                        <a:latin typeface="Cambria Math" panose="02040503050406030204" pitchFamily="18" charset="0"/>
                      </a:rPr>
                      <m:t>&lt;</m:t>
                    </m:r>
                    <m:r>
                      <m:rPr>
                        <m:nor/>
                      </m:rPr>
                      <a:rPr lang="en-US" altLang="en-US" sz="2400" b="0" dirty="0" smtClean="0"/>
                      <m:t>µ</m:t>
                    </m:r>
                  </m:oMath>
                </a14:m>
                <a:r>
                  <a:rPr lang="en-US" altLang="en-US" sz="2400" b="0" dirty="0"/>
                  <a:t>)</a:t>
                </a:r>
              </a:p>
              <a:p>
                <a:pPr marL="457200" indent="-457200">
                  <a:lnSpc>
                    <a:spcPct val="90000"/>
                  </a:lnSpc>
                  <a:spcBef>
                    <a:spcPct val="50000"/>
                  </a:spcBef>
                  <a:buFont typeface="Arial" panose="020B0604020202020204" pitchFamily="34" charset="0"/>
                  <a:buChar char="•"/>
                </a:pPr>
                <a:r>
                  <a:rPr lang="en-US" altLang="en-US" sz="2400" b="0" dirty="0"/>
                  <a:t>=1-P(</a:t>
                </a: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r>
                      <a:rPr lang="en-US" sz="2400" b="0" i="0" smtClean="0">
                        <a:latin typeface="Cambria Math" panose="02040503050406030204" pitchFamily="18" charset="0"/>
                      </a:rPr>
                      <m:t>−</m:t>
                    </m:r>
                    <m:r>
                      <m:rPr>
                        <m:nor/>
                      </m:rPr>
                      <a:rPr lang="en-US" sz="2400" b="0" i="0" smtClean="0">
                        <a:latin typeface="Cambria Math" panose="02040503050406030204" pitchFamily="18" charset="0"/>
                      </a:rPr>
                      <m:t>E</m:t>
                    </m:r>
                    <m:r>
                      <m:rPr>
                        <m:nor/>
                      </m:rPr>
                      <a:rPr lang="en-US" sz="2400" b="0" i="0" smtClean="0">
                        <a:latin typeface="Cambria Math" panose="02040503050406030204" pitchFamily="18" charset="0"/>
                      </a:rPr>
                      <m:t>&gt;</m:t>
                    </m:r>
                    <m:r>
                      <m:rPr>
                        <m:nor/>
                      </m:rPr>
                      <a:rPr lang="en-US" altLang="en-US" sz="2400" b="0" dirty="0" smtClean="0"/>
                      <m:t>µ</m:t>
                    </m:r>
                  </m:oMath>
                </a14:m>
                <a:r>
                  <a:rPr lang="en-US" altLang="en-US" sz="2400" b="0" dirty="0"/>
                  <a:t>)-(1-P(</a:t>
                </a: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r>
                      <a:rPr lang="en-US" sz="2400" b="0" i="0" smtClean="0">
                        <a:latin typeface="Cambria Math" panose="02040503050406030204" pitchFamily="18" charset="0"/>
                      </a:rPr>
                      <m:t>+</m:t>
                    </m:r>
                    <m:r>
                      <m:rPr>
                        <m:nor/>
                      </m:rPr>
                      <a:rPr lang="en-US" sz="2400" b="0" i="0" smtClean="0">
                        <a:latin typeface="Cambria Math" panose="02040503050406030204" pitchFamily="18" charset="0"/>
                      </a:rPr>
                      <m:t>E</m:t>
                    </m:r>
                    <m:r>
                      <m:rPr>
                        <m:nor/>
                      </m:rPr>
                      <a:rPr lang="en-US" sz="2400" b="0" i="0" smtClean="0">
                        <a:latin typeface="Cambria Math" panose="02040503050406030204" pitchFamily="18" charset="0"/>
                      </a:rPr>
                      <m:t>&gt;</m:t>
                    </m:r>
                    <m:r>
                      <m:rPr>
                        <m:nor/>
                      </m:rPr>
                      <a:rPr lang="en-US" altLang="en-US" sz="2400" b="0" dirty="0" smtClean="0"/>
                      <m:t>µ</m:t>
                    </m:r>
                  </m:oMath>
                </a14:m>
                <a:r>
                  <a:rPr lang="en-US" altLang="en-US" sz="2400" b="0" dirty="0"/>
                  <a:t>))</a:t>
                </a:r>
              </a:p>
              <a:p>
                <a:pPr marL="457200" indent="-457200">
                  <a:lnSpc>
                    <a:spcPct val="90000"/>
                  </a:lnSpc>
                  <a:spcBef>
                    <a:spcPct val="50000"/>
                  </a:spcBef>
                  <a:buFont typeface="Arial" panose="020B0604020202020204" pitchFamily="34" charset="0"/>
                  <a:buChar char="•"/>
                </a:pPr>
                <a:r>
                  <a:rPr lang="en-US" altLang="en-US" sz="2400" b="0" dirty="0"/>
                  <a:t>=P(</a:t>
                </a: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r>
                      <a:rPr lang="en-US" sz="2400" b="0" i="0" smtClean="0">
                        <a:latin typeface="Cambria Math" panose="02040503050406030204" pitchFamily="18" charset="0"/>
                      </a:rPr>
                      <m:t>+</m:t>
                    </m:r>
                    <m:r>
                      <m:rPr>
                        <m:nor/>
                      </m:rPr>
                      <a:rPr lang="en-US" sz="2400" b="0" i="0" smtClean="0">
                        <a:latin typeface="Cambria Math" panose="02040503050406030204" pitchFamily="18" charset="0"/>
                      </a:rPr>
                      <m:t>E</m:t>
                    </m:r>
                    <m:r>
                      <m:rPr>
                        <m:nor/>
                      </m:rPr>
                      <a:rPr lang="en-US" sz="2400" b="0" i="0" smtClean="0">
                        <a:latin typeface="Cambria Math" panose="02040503050406030204" pitchFamily="18" charset="0"/>
                      </a:rPr>
                      <m:t>&gt;</m:t>
                    </m:r>
                    <m:r>
                      <m:rPr>
                        <m:nor/>
                      </m:rPr>
                      <a:rPr lang="en-US" altLang="en-US" sz="2400" b="0" dirty="0" smtClean="0"/>
                      <m:t>µ</m:t>
                    </m:r>
                  </m:oMath>
                </a14:m>
                <a:r>
                  <a:rPr lang="en-US" altLang="en-US" sz="2400" b="0" dirty="0"/>
                  <a:t>)- P(</a:t>
                </a: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r>
                      <a:rPr lang="en-US" sz="2400" b="0" i="0" smtClean="0">
                        <a:latin typeface="Cambria Math" panose="02040503050406030204" pitchFamily="18" charset="0"/>
                      </a:rPr>
                      <m:t>+</m:t>
                    </m:r>
                    <m:r>
                      <m:rPr>
                        <m:sty m:val="p"/>
                      </m:rPr>
                      <a:rPr lang="en-US" sz="2400" b="0" i="0" smtClean="0">
                        <a:latin typeface="Cambria Math" panose="02040503050406030204" pitchFamily="18" charset="0"/>
                      </a:rPr>
                      <m:t>E</m:t>
                    </m:r>
                    <m:r>
                      <a:rPr lang="en-US" sz="2400" b="0" i="0" smtClean="0">
                        <a:latin typeface="Cambria Math" panose="02040503050406030204" pitchFamily="18" charset="0"/>
                      </a:rPr>
                      <m:t>&lt;</m:t>
                    </m:r>
                    <m:r>
                      <m:rPr>
                        <m:nor/>
                      </m:rPr>
                      <a:rPr lang="en-US" altLang="en-US" sz="2400" b="0" dirty="0" smtClean="0"/>
                      <m:t>µ</m:t>
                    </m:r>
                  </m:oMath>
                </a14:m>
                <a:r>
                  <a:rPr lang="en-US" altLang="en-US" sz="2400" b="0" dirty="0"/>
                  <a:t>)</a:t>
                </a:r>
              </a:p>
              <a:p>
                <a:pPr marL="457200" indent="-457200">
                  <a:lnSpc>
                    <a:spcPct val="90000"/>
                  </a:lnSpc>
                  <a:spcBef>
                    <a:spcPct val="50000"/>
                  </a:spcBef>
                  <a:buFont typeface="Arial" panose="020B0604020202020204" pitchFamily="34" charset="0"/>
                  <a:buChar char="•"/>
                </a:pPr>
                <a:r>
                  <a:rPr lang="en-US" altLang="en-US" sz="2400" b="0" dirty="0"/>
                  <a:t>=P(</a:t>
                </a:r>
                <a14:m>
                  <m:oMath xmlns:m="http://schemas.openxmlformats.org/officeDocument/2006/math">
                    <m:r>
                      <m:rPr>
                        <m:nor/>
                      </m:rPr>
                      <a:rPr lang="en-US" altLang="en-US" sz="2400" b="0" dirty="0" smtClean="0"/>
                      <m:t>µ</m:t>
                    </m:r>
                    <m:r>
                      <m:rPr>
                        <m:nor/>
                      </m:rPr>
                      <a:rPr lang="en-US" altLang="en-US" sz="2400" b="0" i="0" dirty="0" smtClean="0"/>
                      <m:t>&lt;</m:t>
                    </m:r>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r>
                      <a:rPr lang="en-US" sz="2400" b="0" i="0" smtClean="0">
                        <a:latin typeface="Cambria Math" panose="02040503050406030204" pitchFamily="18" charset="0"/>
                      </a:rPr>
                      <m:t>+</m:t>
                    </m:r>
                    <m:r>
                      <m:rPr>
                        <m:sty m:val="p"/>
                      </m:rPr>
                      <a:rPr lang="en-US" sz="2400" b="0" i="0" smtClean="0">
                        <a:latin typeface="Cambria Math" panose="02040503050406030204" pitchFamily="18" charset="0"/>
                      </a:rPr>
                      <m:t>E</m:t>
                    </m:r>
                  </m:oMath>
                </a14:m>
                <a:r>
                  <a:rPr lang="en-US" altLang="en-US" sz="2400" b="0" dirty="0"/>
                  <a:t>)- P(</a:t>
                </a:r>
                <a14:m>
                  <m:oMath xmlns:m="http://schemas.openxmlformats.org/officeDocument/2006/math">
                    <m:r>
                      <m:rPr>
                        <m:nor/>
                      </m:rPr>
                      <a:rPr lang="en-US" altLang="en-US" sz="2400" b="0" dirty="0" smtClean="0"/>
                      <m:t>µ</m:t>
                    </m:r>
                    <m:r>
                      <m:rPr>
                        <m:nor/>
                      </m:rPr>
                      <a:rPr lang="en-US" altLang="en-US" sz="2400" b="0" i="0" dirty="0" smtClean="0"/>
                      <m:t>&gt;</m:t>
                    </m:r>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𝑿</m:t>
                        </m:r>
                      </m:e>
                    </m:acc>
                    <m:r>
                      <a:rPr lang="en-US" sz="2400" b="0" i="0" smtClean="0">
                        <a:latin typeface="Cambria Math" panose="02040503050406030204" pitchFamily="18" charset="0"/>
                      </a:rPr>
                      <m:t>−</m:t>
                    </m:r>
                    <m:r>
                      <m:rPr>
                        <m:sty m:val="p"/>
                      </m:rPr>
                      <a:rPr lang="en-US" sz="2400" b="0" i="0" smtClean="0">
                        <a:latin typeface="Cambria Math" panose="02040503050406030204" pitchFamily="18" charset="0"/>
                      </a:rPr>
                      <m:t>E</m:t>
                    </m:r>
                  </m:oMath>
                </a14:m>
                <a:r>
                  <a:rPr lang="en-US" altLang="en-US" sz="2400" b="0" dirty="0"/>
                  <a:t>)</a:t>
                </a:r>
              </a:p>
              <a:p>
                <a:pPr marL="457200" indent="-457200">
                  <a:lnSpc>
                    <a:spcPct val="90000"/>
                  </a:lnSpc>
                  <a:spcBef>
                    <a:spcPct val="50000"/>
                  </a:spcBef>
                  <a:buFont typeface="Arial" panose="020B0604020202020204" pitchFamily="34" charset="0"/>
                  <a:buChar char="•"/>
                </a:pPr>
                <a:r>
                  <a:rPr lang="en-US" altLang="en-US" sz="2400" b="0" dirty="0" err="1"/>
                  <a:t>Suy</a:t>
                </a:r>
                <a:r>
                  <a:rPr lang="en-US" altLang="en-US" sz="2400" b="0" dirty="0"/>
                  <a:t> </a:t>
                </a:r>
                <a:r>
                  <a:rPr lang="en-US" altLang="en-US" sz="2400" b="0" dirty="0" err="1"/>
                  <a:t>ra</a:t>
                </a:r>
                <a:r>
                  <a:rPr lang="en-US" altLang="en-US" sz="2400" b="0" dirty="0"/>
                  <a:t>:  </a:t>
                </a:r>
                <a:r>
                  <a:rPr lang="en-US" altLang="en-US" sz="2400" dirty="0">
                    <a:solidFill>
                      <a:srgbClr val="FF0000"/>
                    </a:solidFill>
                  </a:rPr>
                  <a:t>P(</a:t>
                </a:r>
                <a14:m>
                  <m:oMath xmlns:m="http://schemas.openxmlformats.org/officeDocument/2006/math">
                    <m:acc>
                      <m:accPr>
                        <m:chr m:val="̅"/>
                        <m:ctrlPr>
                          <a:rPr lang="en-US" sz="2400" i="1" smtClean="0">
                            <a:solidFill>
                              <a:srgbClr val="FF0000"/>
                            </a:solidFill>
                            <a:latin typeface="Cambria Math" panose="02040503050406030204" pitchFamily="18" charset="0"/>
                          </a:rPr>
                        </m:ctrlPr>
                      </m:accPr>
                      <m:e>
                        <m:r>
                          <a:rPr lang="en-US" sz="2400" b="1" i="1">
                            <a:solidFill>
                              <a:srgbClr val="FF0000"/>
                            </a:solidFill>
                            <a:latin typeface="Cambria Math" panose="02040503050406030204" pitchFamily="18" charset="0"/>
                          </a:rPr>
                          <m:t>𝑿</m:t>
                        </m:r>
                      </m:e>
                    </m:acc>
                    <m:r>
                      <m:rPr>
                        <m:nor/>
                      </m:rPr>
                      <a:rPr lang="en-US" sz="2400" b="1" i="0" smtClean="0">
                        <a:solidFill>
                          <a:srgbClr val="FF0000"/>
                        </a:solidFill>
                        <a:latin typeface="Cambria Math" panose="02040503050406030204" pitchFamily="18" charset="0"/>
                      </a:rPr>
                      <m:t>−</m:t>
                    </m:r>
                    <m:r>
                      <m:rPr>
                        <m:nor/>
                      </m:rPr>
                      <a:rPr lang="en-US" sz="2400" b="1" i="0" smtClean="0">
                        <a:solidFill>
                          <a:srgbClr val="FF0000"/>
                        </a:solidFill>
                        <a:latin typeface="Cambria Math" panose="02040503050406030204" pitchFamily="18" charset="0"/>
                      </a:rPr>
                      <m:t>E</m:t>
                    </m:r>
                    <m:r>
                      <m:rPr>
                        <m:nor/>
                      </m:rPr>
                      <a:rPr lang="en-US" sz="2400" i="0" smtClean="0">
                        <a:solidFill>
                          <a:srgbClr val="FF0000"/>
                        </a:solidFill>
                        <a:latin typeface="Cambria Math" panose="02040503050406030204" pitchFamily="18" charset="0"/>
                      </a:rPr>
                      <m:t>&lt;</m:t>
                    </m:r>
                    <m:r>
                      <m:rPr>
                        <m:nor/>
                      </m:rPr>
                      <a:rPr lang="en-US" altLang="en-US" sz="2400" dirty="0" smtClean="0">
                        <a:solidFill>
                          <a:srgbClr val="FF0000"/>
                        </a:solidFill>
                      </a:rPr>
                      <m:t>µ</m:t>
                    </m:r>
                    <m:r>
                      <m:rPr>
                        <m:nor/>
                      </m:rPr>
                      <a:rPr lang="en-US" altLang="en-US" sz="2400" i="0" dirty="0" smtClean="0">
                        <a:solidFill>
                          <a:srgbClr val="FF0000"/>
                        </a:solidFill>
                      </a:rPr>
                      <m:t>&lt;</m:t>
                    </m:r>
                    <m:acc>
                      <m:accPr>
                        <m:chr m:val="̅"/>
                        <m:ctrlPr>
                          <a:rPr lang="en-US" sz="2400" i="1" smtClean="0">
                            <a:solidFill>
                              <a:srgbClr val="FF0000"/>
                            </a:solidFill>
                            <a:latin typeface="Cambria Math" panose="02040503050406030204" pitchFamily="18" charset="0"/>
                          </a:rPr>
                        </m:ctrlPr>
                      </m:accPr>
                      <m:e>
                        <m:r>
                          <a:rPr lang="en-US" sz="2400" b="1" i="1" smtClean="0">
                            <a:solidFill>
                              <a:srgbClr val="FF0000"/>
                            </a:solidFill>
                            <a:latin typeface="Cambria Math" panose="02040503050406030204" pitchFamily="18" charset="0"/>
                          </a:rPr>
                          <m:t>𝑿</m:t>
                        </m:r>
                      </m:e>
                    </m:acc>
                  </m:oMath>
                </a14:m>
                <a:r>
                  <a:rPr lang="en-US" altLang="en-US" sz="2400" dirty="0">
                    <a:solidFill>
                      <a:srgbClr val="FF0000"/>
                    </a:solidFill>
                  </a:rPr>
                  <a:t>+E)=1-</a:t>
                </a:r>
                <a:r>
                  <a:rPr lang="el-GR" altLang="en-US" sz="2400" dirty="0">
                    <a:solidFill>
                      <a:srgbClr val="FF0000"/>
                    </a:solidFill>
                  </a:rPr>
                  <a:t>α</a:t>
                </a:r>
                <a:endParaRPr lang="en-US" altLang="en-US" sz="2400" dirty="0">
                  <a:solidFill>
                    <a:srgbClr val="FF0000"/>
                  </a:solidFill>
                </a:endParaRPr>
              </a:p>
              <a:p>
                <a:pPr marL="457200" indent="-457200">
                  <a:lnSpc>
                    <a:spcPct val="90000"/>
                  </a:lnSpc>
                  <a:spcBef>
                    <a:spcPct val="50000"/>
                  </a:spcBef>
                  <a:buFont typeface="Arial" panose="020B0604020202020204" pitchFamily="34" charset="0"/>
                  <a:buChar char="•"/>
                </a:pPr>
                <a:endParaRPr lang="en-US" altLang="en-US" sz="2400" b="0" dirty="0"/>
              </a:p>
              <a:p>
                <a:pPr marL="457200" indent="-457200">
                  <a:lnSpc>
                    <a:spcPct val="90000"/>
                  </a:lnSpc>
                  <a:spcBef>
                    <a:spcPct val="50000"/>
                  </a:spcBef>
                  <a:buFont typeface="Arial" panose="020B0604020202020204" pitchFamily="34" charset="0"/>
                  <a:buChar char="•"/>
                </a:pPr>
                <a:endParaRPr lang="en-US" altLang="en-US" sz="2400" b="0" dirty="0"/>
              </a:p>
              <a:p>
                <a:pPr marL="457200" indent="-457200">
                  <a:lnSpc>
                    <a:spcPct val="90000"/>
                  </a:lnSpc>
                  <a:spcBef>
                    <a:spcPct val="50000"/>
                  </a:spcBef>
                  <a:buFont typeface="Arial" panose="020B0604020202020204" pitchFamily="34" charset="0"/>
                  <a:buChar char="•"/>
                </a:pPr>
                <a:endParaRPr lang="en-US" altLang="en-US" sz="2400" b="0" dirty="0">
                  <a:latin typeface="+mn-lt"/>
                </a:endParaRPr>
              </a:p>
            </p:txBody>
          </p:sp>
        </mc:Choice>
        <mc:Fallback xmlns="">
          <p:sp>
            <p:nvSpPr>
              <p:cNvPr id="9" name="Text Box 3"/>
              <p:cNvSpPr txBox="1">
                <a:spLocks noRot="1" noChangeAspect="1" noMove="1" noResize="1" noEditPoints="1" noAdjustHandles="1" noChangeArrowheads="1" noChangeShapeType="1" noTextEdit="1"/>
              </p:cNvSpPr>
              <p:nvPr/>
            </p:nvSpPr>
            <p:spPr bwMode="auto">
              <a:xfrm>
                <a:off x="0" y="1066800"/>
                <a:ext cx="9144000" cy="6629507"/>
              </a:xfrm>
              <a:prstGeom prst="rect">
                <a:avLst/>
              </a:prstGeom>
              <a:blipFill>
                <a:blip r:embed="rId3"/>
                <a:stretch>
                  <a:fillRect l="-8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noFill/>
                  </a:rPr>
                  <a:t> </a:t>
                </a:r>
              </a:p>
            </p:txBody>
          </p:sp>
        </mc:Fallback>
      </mc:AlternateContent>
      <p:grpSp>
        <p:nvGrpSpPr>
          <p:cNvPr id="2" name="Group 1"/>
          <p:cNvGrpSpPr/>
          <p:nvPr/>
        </p:nvGrpSpPr>
        <p:grpSpPr>
          <a:xfrm>
            <a:off x="2817223" y="838200"/>
            <a:ext cx="6324600" cy="2261884"/>
            <a:chOff x="304800" y="3113405"/>
            <a:chExt cx="6324600" cy="3419911"/>
          </a:xfrm>
        </p:grpSpPr>
        <p:pic>
          <p:nvPicPr>
            <p:cNvPr id="19" name="Picture 18"/>
            <p:cNvPicPr/>
            <p:nvPr/>
          </p:nvPicPr>
          <p:blipFill>
            <a:blip r:embed="rId4" cstate="print">
              <a:extLst>
                <a:ext uri="{28A0092B-C50C-407E-A947-70E740481C1C}">
                  <a14:useLocalDpi xmlns:a14="http://schemas.microsoft.com/office/drawing/2010/main" val="0"/>
                </a:ext>
              </a:extLst>
            </a:blip>
            <a:stretch>
              <a:fillRect/>
            </a:stretch>
          </p:blipFill>
          <p:spPr>
            <a:xfrm>
              <a:off x="2075293" y="3113405"/>
              <a:ext cx="4554107" cy="3134995"/>
            </a:xfrm>
            <a:prstGeom prst="rect">
              <a:avLst/>
            </a:prstGeom>
          </p:spPr>
        </p:pic>
        <p:cxnSp>
          <p:nvCxnSpPr>
            <p:cNvPr id="11" name="Straight Connector 10"/>
            <p:cNvCxnSpPr/>
            <p:nvPr/>
          </p:nvCxnSpPr>
          <p:spPr bwMode="auto">
            <a:xfrm flipV="1">
              <a:off x="4280263" y="3550918"/>
              <a:ext cx="0" cy="2362200"/>
            </a:xfrm>
            <a:prstGeom prst="line">
              <a:avLst/>
            </a:prstGeom>
            <a:solidFill>
              <a:srgbClr val="144097"/>
            </a:solidFill>
            <a:ln w="127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4878978" y="4953000"/>
              <a:ext cx="0" cy="953589"/>
            </a:xfrm>
            <a:prstGeom prst="line">
              <a:avLst/>
            </a:prstGeom>
            <a:solidFill>
              <a:srgbClr val="144097"/>
            </a:solidFill>
            <a:ln w="12700" cap="flat" cmpd="sng" algn="ctr">
              <a:solidFill>
                <a:schemeClr val="tx1"/>
              </a:solidFill>
              <a:prstDash val="solid"/>
              <a:round/>
              <a:headEnd type="none" w="med" len="med"/>
              <a:tailEnd type="none" w="med" len="med"/>
            </a:ln>
            <a:effectLst/>
          </p:spPr>
        </p:cxnSp>
        <p:sp>
          <p:nvSpPr>
            <p:cNvPr id="22" name="TextBox 21"/>
            <p:cNvSpPr txBox="1"/>
            <p:nvPr/>
          </p:nvSpPr>
          <p:spPr>
            <a:xfrm>
              <a:off x="4145282" y="5939244"/>
              <a:ext cx="376644" cy="400110"/>
            </a:xfrm>
            <a:prstGeom prst="rect">
              <a:avLst/>
            </a:prstGeom>
            <a:noFill/>
          </p:spPr>
          <p:txBody>
            <a:bodyPr wrap="square" rtlCol="0">
              <a:spAutoFit/>
            </a:bodyPr>
            <a:lstStyle/>
            <a:p>
              <a:r>
                <a:rPr lang="en-US" dirty="0"/>
                <a:t>µ</a:t>
              </a:r>
            </a:p>
          </p:txBody>
        </p:sp>
        <p:sp>
          <p:nvSpPr>
            <p:cNvPr id="25" name="TextBox 24"/>
            <p:cNvSpPr txBox="1"/>
            <p:nvPr/>
          </p:nvSpPr>
          <p:spPr>
            <a:xfrm>
              <a:off x="3429000" y="5924489"/>
              <a:ext cx="609600" cy="604956"/>
            </a:xfrm>
            <a:prstGeom prst="rect">
              <a:avLst/>
            </a:prstGeom>
            <a:noFill/>
          </p:spPr>
          <p:txBody>
            <a:bodyPr wrap="square" rtlCol="0">
              <a:spAutoFit/>
            </a:bodyPr>
            <a:lstStyle/>
            <a:p>
              <a:r>
                <a:rPr lang="en-US" dirty="0"/>
                <a:t>µ-E</a:t>
              </a:r>
            </a:p>
          </p:txBody>
        </p:sp>
        <p:sp>
          <p:nvSpPr>
            <p:cNvPr id="26" name="TextBox 25"/>
            <p:cNvSpPr txBox="1"/>
            <p:nvPr/>
          </p:nvSpPr>
          <p:spPr>
            <a:xfrm>
              <a:off x="4724400" y="5928360"/>
              <a:ext cx="838200" cy="604956"/>
            </a:xfrm>
            <a:prstGeom prst="rect">
              <a:avLst/>
            </a:prstGeom>
            <a:noFill/>
          </p:spPr>
          <p:txBody>
            <a:bodyPr wrap="square" rtlCol="0">
              <a:spAutoFit/>
            </a:bodyPr>
            <a:lstStyle/>
            <a:p>
              <a:r>
                <a:rPr lang="en-US" dirty="0"/>
                <a:t>µ+E</a:t>
              </a:r>
            </a:p>
          </p:txBody>
        </p:sp>
        <p:cxnSp>
          <p:nvCxnSpPr>
            <p:cNvPr id="29" name="Straight Connector 28"/>
            <p:cNvCxnSpPr/>
            <p:nvPr/>
          </p:nvCxnSpPr>
          <p:spPr bwMode="auto">
            <a:xfrm>
              <a:off x="3681548" y="4953000"/>
              <a:ext cx="0" cy="953589"/>
            </a:xfrm>
            <a:prstGeom prst="line">
              <a:avLst/>
            </a:prstGeom>
            <a:solidFill>
              <a:srgbClr val="144097"/>
            </a:solidFill>
            <a:ln w="12700"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8" name="TextBox 27"/>
                <p:cNvSpPr txBox="1"/>
                <p:nvPr/>
              </p:nvSpPr>
              <p:spPr>
                <a:xfrm>
                  <a:off x="304800" y="4191000"/>
                  <a:ext cx="1905000" cy="735138"/>
                </a:xfrm>
                <a:prstGeom prst="rect">
                  <a:avLst/>
                </a:prstGeom>
                <a:noFill/>
              </p:spPr>
              <p:txBody>
                <a:bodyPr wrap="square" rtlCol="0">
                  <a:spAutoFit/>
                </a:bodyPr>
                <a:lstStyle/>
                <a:p>
                  <a:r>
                    <a:rPr lang="en-US" dirty="0"/>
                    <a:t>Phân </a:t>
                  </a:r>
                  <a:r>
                    <a:rPr lang="en-US" dirty="0" err="1"/>
                    <a:t>phối</a:t>
                  </a:r>
                  <a:r>
                    <a:rPr lang="en-US" dirty="0"/>
                    <a:t> </a:t>
                  </a:r>
                  <a:r>
                    <a:rPr lang="en-US" dirty="0" err="1"/>
                    <a:t>chuẩn</a:t>
                  </a:r>
                  <a:r>
                    <a:rPr lang="en-US" dirty="0"/>
                    <a:t> </a:t>
                  </a:r>
                  <a:r>
                    <a:rPr lang="en-US" dirty="0" err="1"/>
                    <a:t>của</a:t>
                  </a:r>
                  <a:r>
                    <a:rPr lang="en-US" dirty="0"/>
                    <a:t> </a:t>
                  </a:r>
                  <a14:m>
                    <m:oMath xmlns:m="http://schemas.openxmlformats.org/officeDocument/2006/math">
                      <m:acc>
                        <m:accPr>
                          <m:chr m:val="̅"/>
                          <m:ctrlPr>
                            <a:rPr lang="en-US" i="1" smtClean="0">
                              <a:latin typeface="Cambria Math" panose="02040503050406030204" pitchFamily="18" charset="0"/>
                            </a:rPr>
                          </m:ctrlPr>
                        </m:accPr>
                        <m:e>
                          <m:r>
                            <a:rPr lang="en-US" b="1" i="1" smtClean="0">
                              <a:latin typeface="Cambria Math" panose="02040503050406030204" pitchFamily="18" charset="0"/>
                            </a:rPr>
                            <m:t>𝑿</m:t>
                          </m:r>
                        </m:e>
                      </m:acc>
                    </m:oMath>
                  </a14:m>
                  <a:endParaRPr 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304800" y="4191000"/>
                  <a:ext cx="1905000" cy="735138"/>
                </a:xfrm>
                <a:prstGeom prst="rect">
                  <a:avLst/>
                </a:prstGeom>
                <a:blipFill>
                  <a:blip r:embed="rId5"/>
                  <a:stretch>
                    <a:fillRect l="-3195" t="-5000" r="-7348" b="-67500"/>
                  </a:stretch>
                </a:blipFill>
              </p:spPr>
              <p:txBody>
                <a:bodyPr/>
                <a:lstStyle/>
                <a:p>
                  <a:r>
                    <a:rPr lang="en-US">
                      <a:noFill/>
                    </a:rPr>
                    <a:t> </a:t>
                  </a:r>
                </a:p>
              </p:txBody>
            </p:sp>
          </mc:Fallback>
        </mc:AlternateContent>
        <p:sp>
          <p:nvSpPr>
            <p:cNvPr id="30" name="TextBox 29"/>
            <p:cNvSpPr txBox="1"/>
            <p:nvPr/>
          </p:nvSpPr>
          <p:spPr>
            <a:xfrm>
              <a:off x="5257800" y="5181600"/>
              <a:ext cx="762000" cy="400110"/>
            </a:xfrm>
            <a:prstGeom prst="rect">
              <a:avLst/>
            </a:prstGeom>
            <a:noFill/>
          </p:spPr>
          <p:txBody>
            <a:bodyPr wrap="square" rtlCol="0">
              <a:spAutoFit/>
            </a:bodyPr>
            <a:lstStyle/>
            <a:p>
              <a:r>
                <a:rPr lang="el-GR" dirty="0"/>
                <a:t>α</a:t>
              </a:r>
              <a:r>
                <a:rPr lang="en-US" dirty="0"/>
                <a:t>/2</a:t>
              </a:r>
            </a:p>
          </p:txBody>
        </p:sp>
        <p:sp>
          <p:nvSpPr>
            <p:cNvPr id="32" name="TextBox 31"/>
            <p:cNvSpPr txBox="1"/>
            <p:nvPr/>
          </p:nvSpPr>
          <p:spPr>
            <a:xfrm>
              <a:off x="2743200" y="5181600"/>
              <a:ext cx="762000" cy="400110"/>
            </a:xfrm>
            <a:prstGeom prst="rect">
              <a:avLst/>
            </a:prstGeom>
            <a:noFill/>
          </p:spPr>
          <p:txBody>
            <a:bodyPr wrap="square" rtlCol="0">
              <a:spAutoFit/>
            </a:bodyPr>
            <a:lstStyle/>
            <a:p>
              <a:r>
                <a:rPr lang="el-GR" dirty="0"/>
                <a:t>α</a:t>
              </a:r>
              <a:r>
                <a:rPr lang="en-US" dirty="0"/>
                <a:t>/2</a:t>
              </a:r>
            </a:p>
          </p:txBody>
        </p:sp>
        <p:sp>
          <p:nvSpPr>
            <p:cNvPr id="33" name="TextBox 32"/>
            <p:cNvSpPr txBox="1"/>
            <p:nvPr/>
          </p:nvSpPr>
          <p:spPr>
            <a:xfrm>
              <a:off x="3810000" y="4648200"/>
              <a:ext cx="762000" cy="400110"/>
            </a:xfrm>
            <a:prstGeom prst="rect">
              <a:avLst/>
            </a:prstGeom>
            <a:noFill/>
          </p:spPr>
          <p:txBody>
            <a:bodyPr wrap="square" rtlCol="0">
              <a:spAutoFit/>
            </a:bodyPr>
            <a:lstStyle/>
            <a:p>
              <a:r>
                <a:rPr lang="en-US" dirty="0"/>
                <a:t>1-</a:t>
              </a:r>
              <a:r>
                <a:rPr lang="el-GR" dirty="0"/>
                <a:t>α</a:t>
              </a:r>
              <a:endParaRPr lang="en-US" dirty="0"/>
            </a:p>
          </p:txBody>
        </p:sp>
        <p:cxnSp>
          <p:nvCxnSpPr>
            <p:cNvPr id="34" name="Straight Connector 33"/>
            <p:cNvCxnSpPr/>
            <p:nvPr/>
          </p:nvCxnSpPr>
          <p:spPr bwMode="auto">
            <a:xfrm>
              <a:off x="4051663" y="3899263"/>
              <a:ext cx="4572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auto">
            <a:xfrm>
              <a:off x="4038600" y="4038600"/>
              <a:ext cx="5334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auto">
            <a:xfrm>
              <a:off x="3962400" y="4191000"/>
              <a:ext cx="6858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auto">
            <a:xfrm>
              <a:off x="3886200" y="4343400"/>
              <a:ext cx="812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auto">
            <a:xfrm>
              <a:off x="3823063" y="4521926"/>
              <a:ext cx="9144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auto">
            <a:xfrm>
              <a:off x="3683726" y="5767252"/>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auto">
            <a:xfrm>
              <a:off x="3683726" y="5627915"/>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auto">
            <a:xfrm>
              <a:off x="3683726" y="5501641"/>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bwMode="auto">
            <a:xfrm>
              <a:off x="3681548" y="5373189"/>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bwMode="auto">
            <a:xfrm>
              <a:off x="3681548" y="5244737"/>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bwMode="auto">
            <a:xfrm>
              <a:off x="3694611" y="5105400"/>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bwMode="auto">
            <a:xfrm>
              <a:off x="3694611" y="4990011"/>
              <a:ext cx="119307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bwMode="auto">
            <a:xfrm>
              <a:off x="3733800" y="4876800"/>
              <a:ext cx="11430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bwMode="auto">
            <a:xfrm>
              <a:off x="3810000" y="4648200"/>
              <a:ext cx="9906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bwMode="auto">
            <a:xfrm>
              <a:off x="3810000" y="4761411"/>
              <a:ext cx="9906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5530003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4294967295"/>
          </p:nvPr>
        </p:nvSpPr>
        <p:spPr bwMode="auto">
          <a:xfrm>
            <a:off x="1" y="1193800"/>
            <a:ext cx="9144000" cy="3048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0" indent="0">
              <a:buFont typeface="Wingdings" panose="05000000000000000000" pitchFamily="2" charset="2"/>
              <a:buNone/>
            </a:pPr>
            <a:r>
              <a:rPr lang="en-US" altLang="en-US" sz="2600" b="0" dirty="0" err="1">
                <a:solidFill>
                  <a:srgbClr val="FF0000"/>
                </a:solidFill>
              </a:rPr>
              <a:t>Độ</a:t>
            </a:r>
            <a:r>
              <a:rPr lang="vi-VN" altLang="en-US" sz="2600" b="0" dirty="0">
                <a:solidFill>
                  <a:srgbClr val="FF0000"/>
                </a:solidFill>
              </a:rPr>
              <a:t> tin cậy </a:t>
            </a:r>
            <a:r>
              <a:rPr lang="en-US" altLang="en-US" sz="2600" b="0" dirty="0">
                <a:solidFill>
                  <a:srgbClr val="FF0000"/>
                </a:solidFill>
              </a:rPr>
              <a:t>(confidence level) </a:t>
            </a:r>
            <a:r>
              <a:rPr lang="vi-VN" altLang="en-US" sz="2600" b="0" dirty="0"/>
              <a:t>là xác suất 1 - </a:t>
            </a:r>
            <a:r>
              <a:rPr lang="el-GR" altLang="en-US" sz="2600" b="0" dirty="0"/>
              <a:t>α (</a:t>
            </a:r>
            <a:r>
              <a:rPr lang="vi-VN" altLang="en-US" sz="2600" b="0" dirty="0"/>
              <a:t>thường được biểu thị bằng giá trị phần trăm tương đương) mà khoảng tin cậy thực sự chứa tham số </a:t>
            </a:r>
            <a:r>
              <a:rPr lang="en-US" altLang="en-US" sz="2600" b="0" dirty="0" err="1"/>
              <a:t>quần</a:t>
            </a:r>
            <a:r>
              <a:rPr lang="en-US" altLang="en-US" sz="2600" b="0" dirty="0"/>
              <a:t> </a:t>
            </a:r>
            <a:r>
              <a:rPr lang="en-US" altLang="en-US" sz="2600" b="0" dirty="0" err="1"/>
              <a:t>thể</a:t>
            </a:r>
            <a:r>
              <a:rPr lang="vi-VN" altLang="en-US" sz="2600" b="0" dirty="0"/>
              <a:t>, giả định rằng quá trình ước lượng được lặp lại một số lượng lớn lần.</a:t>
            </a:r>
            <a:r>
              <a:rPr lang="en-US" altLang="en-US" sz="2600" b="0" dirty="0"/>
              <a:t> </a:t>
            </a:r>
            <a:r>
              <a:rPr lang="en-US" altLang="en-US" sz="2600" b="0" dirty="0">
                <a:solidFill>
                  <a:srgbClr val="FF0000"/>
                </a:solidFill>
              </a:rPr>
              <a:t>Đ</a:t>
            </a:r>
            <a:r>
              <a:rPr lang="vi-VN" altLang="en-US" sz="2600" b="0" dirty="0">
                <a:solidFill>
                  <a:srgbClr val="FF0000"/>
                </a:solidFill>
              </a:rPr>
              <a:t>ộ tin cậy </a:t>
            </a:r>
            <a:r>
              <a:rPr lang="vi-VN" altLang="en-US" sz="2600" b="0" dirty="0"/>
              <a:t>cũng được gọi là</a:t>
            </a:r>
            <a:r>
              <a:rPr lang="en-US" altLang="en-US" sz="2600" b="0" dirty="0"/>
              <a:t> </a:t>
            </a:r>
            <a:r>
              <a:rPr lang="en-US" altLang="en-US" sz="2600" b="0" dirty="0" err="1"/>
              <a:t>bậc</a:t>
            </a:r>
            <a:r>
              <a:rPr lang="vi-VN" altLang="en-US" sz="2600" b="0" dirty="0"/>
              <a:t> tin cậy</a:t>
            </a:r>
            <a:r>
              <a:rPr lang="en-US" altLang="en-US" sz="2600" b="0" dirty="0"/>
              <a:t> (</a:t>
            </a:r>
            <a:r>
              <a:rPr lang="en-US" altLang="en-US" sz="2600" b="0" dirty="0">
                <a:solidFill>
                  <a:schemeClr val="hlink"/>
                </a:solidFill>
                <a:sym typeface="Symbol" panose="05050102010706020507" pitchFamily="18" charset="2"/>
              </a:rPr>
              <a:t>degree of confidence</a:t>
            </a:r>
            <a:r>
              <a:rPr lang="en-US" altLang="en-US" sz="2600" b="0" dirty="0"/>
              <a:t>)</a:t>
            </a:r>
            <a:r>
              <a:rPr lang="vi-VN" altLang="en-US" sz="2600" b="0" dirty="0"/>
              <a:t>, hoặc hệ số tin cậy</a:t>
            </a:r>
            <a:r>
              <a:rPr lang="en-US" altLang="en-US" sz="2600" b="0" dirty="0"/>
              <a:t> (</a:t>
            </a:r>
            <a:r>
              <a:rPr lang="en-US" altLang="en-US" sz="2600" b="0" dirty="0">
                <a:solidFill>
                  <a:schemeClr val="hlink"/>
                </a:solidFill>
                <a:sym typeface="Symbol" panose="05050102010706020507" pitchFamily="18" charset="2"/>
              </a:rPr>
              <a:t>confidence coefficient</a:t>
            </a:r>
            <a:r>
              <a:rPr lang="en-US" altLang="en-US" sz="2600" b="0" dirty="0"/>
              <a:t>)</a:t>
            </a:r>
            <a:r>
              <a:rPr lang="vi-VN" altLang="en-US" sz="2600" b="0" dirty="0"/>
              <a:t>.</a:t>
            </a:r>
            <a:endParaRPr lang="en-US" altLang="en-US" sz="2600" b="0" dirty="0"/>
          </a:p>
        </p:txBody>
      </p:sp>
      <p:sp>
        <p:nvSpPr>
          <p:cNvPr id="12292" name="Rectangle 6"/>
          <p:cNvSpPr>
            <a:spLocks noGrp="1" noChangeArrowheads="1"/>
          </p:cNvSpPr>
          <p:nvPr>
            <p:ph type="title" idx="4294967295"/>
          </p:nvPr>
        </p:nvSpPr>
        <p:spPr bwMode="auto">
          <a:xfrm>
            <a:off x="0" y="376237"/>
            <a:ext cx="9144000" cy="842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a:lnSpc>
                <a:spcPct val="125000"/>
              </a:lnSpc>
              <a:spcBef>
                <a:spcPct val="4000"/>
              </a:spcBef>
            </a:pPr>
            <a:r>
              <a:rPr lang="en-US" altLang="en-US" dirty="0" err="1"/>
              <a:t>Định</a:t>
            </a:r>
            <a:r>
              <a:rPr lang="en-US" altLang="en-US" dirty="0"/>
              <a:t> </a:t>
            </a:r>
            <a:r>
              <a:rPr lang="en-US" altLang="en-US" dirty="0" err="1"/>
              <a:t>nghĩa</a:t>
            </a:r>
            <a:endParaRPr lang="en-US" altLang="en-US" dirty="0">
              <a:solidFill>
                <a:schemeClr val="tx1"/>
              </a:solidFill>
            </a:endParaRPr>
          </a:p>
        </p:txBody>
      </p:sp>
      <p:sp>
        <p:nvSpPr>
          <p:cNvPr id="12291" name="Rectangle 4"/>
          <p:cNvSpPr>
            <a:spLocks noChangeArrowheads="1"/>
          </p:cNvSpPr>
          <p:nvPr/>
        </p:nvSpPr>
        <p:spPr bwMode="auto">
          <a:xfrm>
            <a:off x="533400" y="4978400"/>
            <a:ext cx="84597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70000"/>
              </a:lnSpc>
              <a:spcBef>
                <a:spcPct val="73000"/>
              </a:spcBef>
              <a:buFont typeface="Wingdings" panose="05000000000000000000" pitchFamily="2" charset="2"/>
              <a:buNone/>
            </a:pPr>
            <a:r>
              <a:rPr lang="en-US" altLang="en-US" sz="2800" b="0">
                <a:solidFill>
                  <a:schemeClr val="hlink"/>
                </a:solidFill>
              </a:rPr>
              <a:t>Các lựa chọn phổ biến nhất là 90%, 95%,  or   99%.</a:t>
            </a:r>
            <a:endParaRPr lang="en-US" altLang="en-US" sz="3200" b="0">
              <a:solidFill>
                <a:schemeClr val="hlink"/>
              </a:solidFill>
            </a:endParaRPr>
          </a:p>
          <a:p>
            <a:pPr>
              <a:lnSpc>
                <a:spcPct val="70000"/>
              </a:lnSpc>
              <a:spcBef>
                <a:spcPct val="73000"/>
              </a:spcBef>
              <a:buFont typeface="Wingdings" panose="05000000000000000000" pitchFamily="2" charset="2"/>
              <a:buNone/>
            </a:pPr>
            <a:r>
              <a:rPr lang="en-US" altLang="en-US" sz="2800" b="0"/>
              <a:t>	       (</a:t>
            </a:r>
            <a:r>
              <a:rPr lang="el-GR" altLang="en-US" sz="2800" b="0" i="1"/>
              <a:t>α</a:t>
            </a:r>
            <a:r>
              <a:rPr lang="en-US" altLang="en-US" sz="2800" b="0"/>
              <a:t> = 0.10), (</a:t>
            </a:r>
            <a:r>
              <a:rPr lang="el-GR" altLang="en-US" sz="2800" b="0" i="1"/>
              <a:t>α</a:t>
            </a:r>
            <a:r>
              <a:rPr lang="en-US" altLang="en-US" sz="2800" b="0"/>
              <a:t> = 0.05), (</a:t>
            </a:r>
            <a:r>
              <a:rPr lang="el-GR" altLang="en-US" sz="2800" b="0" i="1"/>
              <a:t>α</a:t>
            </a:r>
            <a:r>
              <a:rPr lang="en-US" altLang="en-US" sz="2800" b="0"/>
              <a:t> = 0.01)</a:t>
            </a:r>
          </a:p>
        </p:txBody>
      </p:sp>
    </p:spTree>
    <p:extLst>
      <p:ext uri="{BB962C8B-B14F-4D97-AF65-F5344CB8AC3E}">
        <p14:creationId xmlns:p14="http://schemas.microsoft.com/office/powerpoint/2010/main" val="190889243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4294967295"/>
          </p:nvPr>
        </p:nvSpPr>
        <p:spPr bwMode="auto">
          <a:xfrm>
            <a:off x="0" y="990600"/>
            <a:ext cx="9144000" cy="5638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fontScale="92500" lnSpcReduction="20000"/>
          </a:bodyPr>
          <a:lstStyle/>
          <a:p>
            <a:pPr marL="0" indent="0">
              <a:buFont typeface="Wingdings" panose="05000000000000000000" pitchFamily="2" charset="2"/>
              <a:buNone/>
            </a:pPr>
            <a:r>
              <a:rPr lang="en-US" altLang="en-US" b="0" dirty="0" err="1"/>
              <a:t>Chúng</a:t>
            </a:r>
            <a:r>
              <a:rPr lang="en-US" altLang="en-US" b="0" dirty="0"/>
              <a:t> ta </a:t>
            </a:r>
            <a:r>
              <a:rPr lang="en-US" altLang="en-US" b="0" dirty="0" err="1"/>
              <a:t>phải</a:t>
            </a:r>
            <a:r>
              <a:rPr lang="en-US" altLang="en-US" b="0" dirty="0"/>
              <a:t> </a:t>
            </a:r>
            <a:r>
              <a:rPr lang="en-US" altLang="en-US" b="0" dirty="0" err="1"/>
              <a:t>cẩn</a:t>
            </a:r>
            <a:r>
              <a:rPr lang="en-US" altLang="en-US" b="0" dirty="0"/>
              <a:t> </a:t>
            </a:r>
            <a:r>
              <a:rPr lang="en-US" altLang="en-US" b="0" dirty="0" err="1"/>
              <a:t>thận</a:t>
            </a:r>
            <a:r>
              <a:rPr lang="en-US" altLang="en-US" b="0" dirty="0"/>
              <a:t> </a:t>
            </a:r>
            <a:r>
              <a:rPr lang="en-US" altLang="en-US" b="0" dirty="0" err="1"/>
              <a:t>để</a:t>
            </a:r>
            <a:r>
              <a:rPr lang="en-US" altLang="en-US" b="0" dirty="0"/>
              <a:t> </a:t>
            </a:r>
            <a:r>
              <a:rPr lang="en-US" altLang="en-US" b="0" dirty="0" err="1"/>
              <a:t>diễn</a:t>
            </a:r>
            <a:r>
              <a:rPr lang="en-US" altLang="en-US" b="0" dirty="0"/>
              <a:t> </a:t>
            </a:r>
            <a:r>
              <a:rPr lang="en-US" altLang="en-US" b="0" dirty="0" err="1"/>
              <a:t>giải</a:t>
            </a:r>
            <a:r>
              <a:rPr lang="en-US" altLang="en-US" b="0" dirty="0"/>
              <a:t> </a:t>
            </a:r>
            <a:r>
              <a:rPr lang="en-US" altLang="en-US" b="0" dirty="0" err="1"/>
              <a:t>các</a:t>
            </a:r>
            <a:r>
              <a:rPr lang="en-US" altLang="en-US" b="0" dirty="0"/>
              <a:t> </a:t>
            </a:r>
            <a:r>
              <a:rPr lang="en-US" altLang="en-US" b="0" dirty="0" err="1"/>
              <a:t>khoảng</a:t>
            </a:r>
            <a:r>
              <a:rPr lang="en-US" altLang="en-US" b="0" dirty="0"/>
              <a:t> tin </a:t>
            </a:r>
            <a:r>
              <a:rPr lang="en-US" altLang="en-US" b="0" dirty="0" err="1"/>
              <a:t>cậy</a:t>
            </a:r>
            <a:r>
              <a:rPr lang="en-US" altLang="en-US" b="0" dirty="0"/>
              <a:t> </a:t>
            </a:r>
            <a:r>
              <a:rPr lang="en-US" altLang="en-US" b="0" dirty="0" err="1"/>
              <a:t>một</a:t>
            </a:r>
            <a:r>
              <a:rPr lang="en-US" altLang="en-US" b="0" dirty="0"/>
              <a:t> </a:t>
            </a:r>
            <a:r>
              <a:rPr lang="en-US" altLang="en-US" b="0" dirty="0" err="1"/>
              <a:t>cách</a:t>
            </a:r>
            <a:r>
              <a:rPr lang="en-US" altLang="en-US" b="0" dirty="0"/>
              <a:t> </a:t>
            </a:r>
            <a:r>
              <a:rPr lang="en-US" altLang="en-US" b="0" dirty="0" err="1"/>
              <a:t>chính</a:t>
            </a:r>
            <a:r>
              <a:rPr lang="en-US" altLang="en-US" b="0" dirty="0"/>
              <a:t> </a:t>
            </a:r>
            <a:r>
              <a:rPr lang="en-US" altLang="en-US" b="0" dirty="0" err="1"/>
              <a:t>xác</a:t>
            </a:r>
            <a:r>
              <a:rPr lang="en-US" altLang="en-US" b="0" dirty="0"/>
              <a:t>. </a:t>
            </a:r>
          </a:p>
          <a:p>
            <a:pPr marL="0" indent="0">
              <a:buFont typeface="Wingdings" panose="05000000000000000000" pitchFamily="2" charset="2"/>
              <a:buNone/>
            </a:pPr>
            <a:endParaRPr lang="en-US" altLang="en-US" b="0" dirty="0"/>
          </a:p>
          <a:p>
            <a:pPr marL="0" indent="0">
              <a:buFont typeface="Wingdings" panose="05000000000000000000" pitchFamily="2" charset="2"/>
              <a:buNone/>
            </a:pPr>
            <a:r>
              <a:rPr lang="en-US" altLang="en-US" b="0" dirty="0" err="1"/>
              <a:t>Ví</a:t>
            </a:r>
            <a:r>
              <a:rPr lang="en-US" altLang="en-US" b="0" dirty="0"/>
              <a:t> </a:t>
            </a:r>
            <a:r>
              <a:rPr lang="en-US" altLang="en-US" b="0" dirty="0" err="1"/>
              <a:t>dụ</a:t>
            </a:r>
            <a:r>
              <a:rPr lang="en-US" altLang="en-US" b="0" dirty="0"/>
              <a:t>: </a:t>
            </a:r>
            <a:r>
              <a:rPr lang="en-US" altLang="en-US" b="0" dirty="0" err="1"/>
              <a:t>khoảng</a:t>
            </a:r>
            <a:r>
              <a:rPr lang="en-US" altLang="en-US" b="0" dirty="0"/>
              <a:t> tin </a:t>
            </a:r>
            <a:r>
              <a:rPr lang="en-US" altLang="en-US" b="0" dirty="0" err="1"/>
              <a:t>cậy</a:t>
            </a:r>
            <a:r>
              <a:rPr lang="en-US" altLang="en-US" b="0" dirty="0"/>
              <a:t> 0.828 &lt; </a:t>
            </a:r>
            <a:r>
              <a:rPr lang="en-US" altLang="en-US" b="0" i="1" dirty="0"/>
              <a:t>p</a:t>
            </a:r>
            <a:r>
              <a:rPr lang="en-US" altLang="en-US" b="0" dirty="0"/>
              <a:t> &lt; 0.872.</a:t>
            </a:r>
            <a:endParaRPr lang="en-US" altLang="en-US" b="0" dirty="0">
              <a:ea typeface="ヒラギノ角ゴ ProN W3"/>
              <a:cs typeface="ヒラギノ角ゴ ProN W3"/>
            </a:endParaRPr>
          </a:p>
          <a:p>
            <a:pPr marL="0" indent="0">
              <a:buFont typeface="Wingdings" panose="05000000000000000000" pitchFamily="2" charset="2"/>
              <a:buNone/>
            </a:pPr>
            <a:endParaRPr lang="en-US" altLang="en-US" b="0" dirty="0">
              <a:ea typeface="ヒラギノ角ゴ ProN W3"/>
              <a:cs typeface="ヒラギノ角ゴ ProN W3"/>
            </a:endParaRPr>
          </a:p>
          <a:p>
            <a:pPr marL="0" indent="0">
              <a:buFont typeface="Wingdings" panose="05000000000000000000" pitchFamily="2" charset="2"/>
              <a:buNone/>
            </a:pPr>
            <a:r>
              <a:rPr lang="en-US" altLang="en-US" b="0" dirty="0">
                <a:ea typeface="ヒラギノ角ゴ ProN W3"/>
                <a:cs typeface="ヒラギノ角ゴ ProN W3"/>
              </a:rPr>
              <a:t>“</a:t>
            </a:r>
            <a:r>
              <a:rPr lang="vi-VN" altLang="en-US" b="0" dirty="0">
                <a:ea typeface="ヒラギノ角ゴ ProN W3"/>
                <a:cs typeface="ヒラギノ角ゴ ProN W3"/>
              </a:rPr>
              <a:t>Chúng t</a:t>
            </a:r>
            <a:r>
              <a:rPr lang="en-US" altLang="en-US" b="0" dirty="0">
                <a:ea typeface="ヒラギノ角ゴ ProN W3"/>
                <a:cs typeface="ヒラギノ角ゴ ProN W3"/>
              </a:rPr>
              <a:t>a</a:t>
            </a:r>
            <a:r>
              <a:rPr lang="vi-VN" altLang="en-US" b="0" dirty="0">
                <a:ea typeface="ヒラギノ角ゴ ProN W3"/>
                <a:cs typeface="ヒラギノ角ゴ ProN W3"/>
              </a:rPr>
              <a:t> tin tưởng </a:t>
            </a:r>
            <a:r>
              <a:rPr lang="en-US" altLang="en-US" b="0" dirty="0">
                <a:solidFill>
                  <a:srgbClr val="FF0000"/>
                </a:solidFill>
                <a:ea typeface="ヒラギノ角ゴ ProN W3"/>
                <a:cs typeface="ヒラギノ角ゴ ProN W3"/>
              </a:rPr>
              <a:t>95%(</a:t>
            </a:r>
            <a:r>
              <a:rPr lang="el-GR" altLang="en-US" b="0" dirty="0">
                <a:solidFill>
                  <a:srgbClr val="FF0000"/>
                </a:solidFill>
                <a:ea typeface="ヒラギノ角ゴ ProN W3"/>
                <a:cs typeface="ヒラギノ角ゴ ProN W3"/>
              </a:rPr>
              <a:t>1 - α</a:t>
            </a:r>
            <a:r>
              <a:rPr lang="en-US" altLang="en-US" b="0" dirty="0">
                <a:solidFill>
                  <a:srgbClr val="FF0000"/>
                </a:solidFill>
                <a:ea typeface="ヒラギノ角ゴ ProN W3"/>
                <a:cs typeface="ヒラギノ角ゴ ProN W3"/>
              </a:rPr>
              <a:t>)</a:t>
            </a:r>
            <a:r>
              <a:rPr lang="en-US" altLang="en-US" b="0" dirty="0">
                <a:ea typeface="ヒラギノ角ゴ ProN W3"/>
                <a:cs typeface="ヒラギノ角ゴ ProN W3"/>
              </a:rPr>
              <a:t> </a:t>
            </a:r>
            <a:r>
              <a:rPr lang="vi-VN" altLang="en-US" b="0" dirty="0">
                <a:ea typeface="ヒラギノ角ゴ ProN W3"/>
                <a:cs typeface="ヒラギノ角ゴ ProN W3"/>
              </a:rPr>
              <a:t>rằng khoảng </a:t>
            </a:r>
            <a:r>
              <a:rPr lang="en-US" altLang="en-US" b="0" dirty="0" err="1">
                <a:ea typeface="ヒラギノ角ゴ ProN W3"/>
                <a:cs typeface="ヒラギノ角ゴ ProN W3"/>
              </a:rPr>
              <a:t>giá</a:t>
            </a:r>
            <a:r>
              <a:rPr lang="en-US" altLang="en-US" b="0" dirty="0">
                <a:ea typeface="ヒラギノ角ゴ ProN W3"/>
                <a:cs typeface="ヒラギノ角ゴ ProN W3"/>
              </a:rPr>
              <a:t> </a:t>
            </a:r>
            <a:r>
              <a:rPr lang="en-US" altLang="en-US" b="0" dirty="0" err="1">
                <a:ea typeface="ヒラギノ角ゴ ProN W3"/>
                <a:cs typeface="ヒラギノ角ゴ ProN W3"/>
              </a:rPr>
              <a:t>trị</a:t>
            </a:r>
            <a:r>
              <a:rPr lang="vi-VN" altLang="en-US" b="0" dirty="0">
                <a:ea typeface="ヒラギノ角ゴ ProN W3"/>
                <a:cs typeface="ヒラギノ角ゴ ProN W3"/>
              </a:rPr>
              <a:t> từ </a:t>
            </a:r>
            <a:r>
              <a:rPr lang="vi-VN" altLang="en-US" b="0" dirty="0">
                <a:solidFill>
                  <a:srgbClr val="FF0000"/>
                </a:solidFill>
                <a:ea typeface="ヒラギノ角ゴ ProN W3"/>
                <a:cs typeface="ヒラギノ角ゴ ProN W3"/>
              </a:rPr>
              <a:t>0.828 đến 0.872</a:t>
            </a:r>
            <a:r>
              <a:rPr lang="vi-VN" altLang="en-US" b="0" dirty="0">
                <a:ea typeface="ヒラギノ角ゴ ProN W3"/>
                <a:cs typeface="ヒラギノ角ゴ ProN W3"/>
              </a:rPr>
              <a:t> </a:t>
            </a:r>
            <a:r>
              <a:rPr lang="en-US" altLang="en-US" b="0" dirty="0" err="1">
                <a:ea typeface="ヒラギノ角ゴ ProN W3"/>
                <a:cs typeface="ヒラギノ角ゴ ProN W3"/>
              </a:rPr>
              <a:t>chứa</a:t>
            </a:r>
            <a:r>
              <a:rPr lang="en-US" altLang="en-US" b="0" dirty="0">
                <a:ea typeface="ヒラギノ角ゴ ProN W3"/>
                <a:cs typeface="ヒラギノ角ゴ ProN W3"/>
              </a:rPr>
              <a:t> </a:t>
            </a:r>
            <a:r>
              <a:rPr lang="vi-VN" altLang="en-US" b="0" dirty="0">
                <a:ea typeface="ヒラギノ角ゴ ProN W3"/>
                <a:cs typeface="ヒラギノ角ゴ ProN W3"/>
              </a:rPr>
              <a:t>giá trị thực của tỷ lệ </a:t>
            </a:r>
            <a:r>
              <a:rPr lang="en-US" altLang="en-US" b="0" dirty="0" err="1">
                <a:ea typeface="ヒラギノ角ゴ ProN W3"/>
                <a:cs typeface="ヒラギノ角ゴ ProN W3"/>
              </a:rPr>
              <a:t>quần</a:t>
            </a:r>
            <a:r>
              <a:rPr lang="en-US" altLang="en-US" b="0" dirty="0">
                <a:ea typeface="ヒラギノ角ゴ ProN W3"/>
                <a:cs typeface="ヒラギノ角ゴ ProN W3"/>
              </a:rPr>
              <a:t> </a:t>
            </a:r>
            <a:r>
              <a:rPr lang="en-US" altLang="en-US" b="0" dirty="0" err="1">
                <a:ea typeface="ヒラギノ角ゴ ProN W3"/>
                <a:cs typeface="ヒラギノ角ゴ ProN W3"/>
              </a:rPr>
              <a:t>thể</a:t>
            </a:r>
            <a:r>
              <a:rPr lang="vi-VN" altLang="en-US" b="0" dirty="0">
                <a:ea typeface="ヒラギノ角ゴ ProN W3"/>
                <a:cs typeface="ヒラギノ角ゴ ProN W3"/>
              </a:rPr>
              <a:t> p</a:t>
            </a:r>
            <a:r>
              <a:rPr lang="en-US" altLang="en-US" b="0" dirty="0"/>
              <a:t>” </a:t>
            </a:r>
          </a:p>
          <a:p>
            <a:pPr marL="0" indent="0">
              <a:buFont typeface="Wingdings" panose="05000000000000000000" pitchFamily="2" charset="2"/>
              <a:buNone/>
            </a:pPr>
            <a:endParaRPr lang="en-US" altLang="en-US" b="0" dirty="0"/>
          </a:p>
          <a:p>
            <a:pPr marL="0" indent="0">
              <a:buFont typeface="Wingdings" panose="05000000000000000000" pitchFamily="2" charset="2"/>
              <a:buNone/>
            </a:pPr>
            <a:r>
              <a:rPr lang="vi-VN" altLang="en-US" b="0" dirty="0"/>
              <a:t>Điều này có nghĩa là nếu chúng ta chọn nhiều mẫu khác nhau có kích thước 1007 và xây dựng các khoảng tin cậy tương ứng, 95% trong số chúng thực sự chứa giá trị của tỷ lệ </a:t>
            </a:r>
            <a:r>
              <a:rPr lang="en-US" altLang="en-US" b="0" dirty="0" err="1"/>
              <a:t>quần</a:t>
            </a:r>
            <a:r>
              <a:rPr lang="en-US" altLang="en-US" b="0" dirty="0"/>
              <a:t> </a:t>
            </a:r>
            <a:r>
              <a:rPr lang="en-US" altLang="en-US" b="0" dirty="0" err="1"/>
              <a:t>thể</a:t>
            </a:r>
            <a:r>
              <a:rPr lang="vi-VN" altLang="en-US" b="0" dirty="0"/>
              <a:t> p.</a:t>
            </a:r>
            <a:endParaRPr lang="en-US" altLang="en-US" b="0" dirty="0"/>
          </a:p>
          <a:p>
            <a:pPr marL="0" indent="0">
              <a:buFont typeface="Wingdings" panose="05000000000000000000" pitchFamily="2" charset="2"/>
              <a:buNone/>
            </a:pPr>
            <a:endParaRPr lang="en-US" altLang="en-US" b="0" dirty="0"/>
          </a:p>
          <a:p>
            <a:pPr marL="0" indent="0">
              <a:buFont typeface="Wingdings" panose="05000000000000000000" pitchFamily="2" charset="2"/>
              <a:buNone/>
            </a:pPr>
            <a:r>
              <a:rPr lang="en-US" altLang="en-US" b="0" dirty="0"/>
              <a:t>(</a:t>
            </a:r>
            <a:r>
              <a:rPr lang="vi-VN" altLang="en-US" b="0" dirty="0"/>
              <a:t>Lưu ý rằng trong cách giải thích đúng này, mức 95% là tỷ lệ thành công của quá trình được sử dụng để ước </a:t>
            </a:r>
            <a:r>
              <a:rPr lang="en-US" altLang="en-US" b="0" dirty="0" err="1"/>
              <a:t>lượng</a:t>
            </a:r>
            <a:r>
              <a:rPr lang="vi-VN" altLang="en-US" b="0" dirty="0"/>
              <a:t> tỷ lệ</a:t>
            </a:r>
            <a:r>
              <a:rPr lang="en-US" altLang="en-US" b="0" dirty="0"/>
              <a:t>.)</a:t>
            </a:r>
          </a:p>
        </p:txBody>
      </p:sp>
      <p:sp>
        <p:nvSpPr>
          <p:cNvPr id="14339" name="Rectangle 4"/>
          <p:cNvSpPr>
            <a:spLocks noGrp="1" noChangeArrowheads="1"/>
          </p:cNvSpPr>
          <p:nvPr>
            <p:ph type="title" idx="4294967295"/>
          </p:nvPr>
        </p:nvSpPr>
        <p:spPr bwMode="auto">
          <a:xfrm>
            <a:off x="381000" y="300037"/>
            <a:ext cx="8467725" cy="842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a:lnSpc>
                <a:spcPct val="125000"/>
              </a:lnSpc>
              <a:spcBef>
                <a:spcPct val="4000"/>
              </a:spcBef>
            </a:pPr>
            <a:r>
              <a:rPr lang="en-US" altLang="en-US" dirty="0" err="1"/>
              <a:t>Diễn</a:t>
            </a:r>
            <a:r>
              <a:rPr lang="en-US" altLang="en-US" dirty="0"/>
              <a:t> </a:t>
            </a:r>
            <a:r>
              <a:rPr lang="en-US" altLang="en-US" dirty="0" err="1"/>
              <a:t>giải</a:t>
            </a:r>
            <a:r>
              <a:rPr lang="en-US" altLang="en-US" dirty="0"/>
              <a:t> </a:t>
            </a:r>
            <a:r>
              <a:rPr lang="en-US" altLang="en-US" dirty="0" err="1"/>
              <a:t>khoảng</a:t>
            </a:r>
            <a:r>
              <a:rPr lang="en-US" altLang="en-US" dirty="0"/>
              <a:t> tin </a:t>
            </a:r>
            <a:r>
              <a:rPr lang="en-US" altLang="en-US" dirty="0" err="1"/>
              <a:t>cậy</a:t>
            </a:r>
            <a:endParaRPr lang="en-US" altLang="en-US" dirty="0">
              <a:solidFill>
                <a:schemeClr val="tx1"/>
              </a:solidFill>
            </a:endParaRPr>
          </a:p>
        </p:txBody>
      </p:sp>
    </p:spTree>
    <p:extLst>
      <p:ext uri="{BB962C8B-B14F-4D97-AF65-F5344CB8AC3E}">
        <p14:creationId xmlns:p14="http://schemas.microsoft.com/office/powerpoint/2010/main" val="319052825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0600" y="381000"/>
            <a:ext cx="716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6387" name="Rectangle 8"/>
          <p:cNvSpPr>
            <a:spLocks noChangeArrowheads="1"/>
          </p:cNvSpPr>
          <p:nvPr/>
        </p:nvSpPr>
        <p:spPr bwMode="auto">
          <a:xfrm>
            <a:off x="4981575" y="2811463"/>
            <a:ext cx="69056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6388" name="Rectangle 19"/>
          <p:cNvSpPr>
            <a:spLocks noGrp="1" noChangeArrowheads="1"/>
          </p:cNvSpPr>
          <p:nvPr>
            <p:ph type="title" idx="4294967295"/>
          </p:nvPr>
        </p:nvSpPr>
        <p:spPr bwMode="auto">
          <a:xfrm>
            <a:off x="906463" y="322263"/>
            <a:ext cx="8237537" cy="1066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a:t>Finding </a:t>
            </a:r>
            <a:r>
              <a:rPr lang="en-US" altLang="en-US" b="0" i="1"/>
              <a:t>z</a:t>
            </a:r>
            <a:r>
              <a:rPr lang="el-GR" altLang="en-US" b="0" i="1" baseline="-25000"/>
              <a:t>α</a:t>
            </a:r>
            <a:r>
              <a:rPr lang="en-US" altLang="en-US" b="0" baseline="-25000"/>
              <a:t>/2</a:t>
            </a:r>
            <a:r>
              <a:rPr lang="en-US" altLang="en-US" i="1"/>
              <a:t> </a:t>
            </a:r>
            <a:r>
              <a:rPr lang="en-US" altLang="en-US"/>
              <a:t>for a 95% </a:t>
            </a:r>
            <a:br>
              <a:rPr lang="en-US" altLang="en-US"/>
            </a:br>
            <a:r>
              <a:rPr lang="en-US" altLang="en-US"/>
              <a:t>Confidence Level</a:t>
            </a:r>
          </a:p>
        </p:txBody>
      </p:sp>
      <p:sp>
        <p:nvSpPr>
          <p:cNvPr id="16389" name="Line 24"/>
          <p:cNvSpPr>
            <a:spLocks noChangeShapeType="1"/>
          </p:cNvSpPr>
          <p:nvPr/>
        </p:nvSpPr>
        <p:spPr bwMode="auto">
          <a:xfrm>
            <a:off x="1524000" y="5791200"/>
            <a:ext cx="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16390" name="Picture 27" descr="6_03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6151563" cy="286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91" name="Group 21"/>
          <p:cNvGrpSpPr>
            <a:grpSpLocks/>
          </p:cNvGrpSpPr>
          <p:nvPr/>
        </p:nvGrpSpPr>
        <p:grpSpPr bwMode="auto">
          <a:xfrm>
            <a:off x="2667000" y="4343400"/>
            <a:ext cx="3800475" cy="1725613"/>
            <a:chOff x="1085" y="2905"/>
            <a:chExt cx="2394" cy="1087"/>
          </a:xfrm>
        </p:grpSpPr>
        <p:grpSp>
          <p:nvGrpSpPr>
            <p:cNvPr id="16392" name="Group 34"/>
            <p:cNvGrpSpPr>
              <a:grpSpLocks/>
            </p:cNvGrpSpPr>
            <p:nvPr/>
          </p:nvGrpSpPr>
          <p:grpSpPr bwMode="auto">
            <a:xfrm>
              <a:off x="1131" y="2905"/>
              <a:ext cx="2181" cy="1087"/>
              <a:chOff x="1131" y="2801"/>
              <a:chExt cx="2181" cy="1087"/>
            </a:xfrm>
          </p:grpSpPr>
          <p:sp>
            <p:nvSpPr>
              <p:cNvPr id="16395" name="Rectangle 9"/>
              <p:cNvSpPr>
                <a:spLocks noChangeArrowheads="1"/>
              </p:cNvSpPr>
              <p:nvPr/>
            </p:nvSpPr>
            <p:spPr bwMode="auto">
              <a:xfrm>
                <a:off x="1131" y="2849"/>
                <a:ext cx="1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5000"/>
                  </a:lnSpc>
                </a:pPr>
                <a:endParaRPr lang="en-US" altLang="en-US" sz="2800" baseline="-25000"/>
              </a:p>
            </p:txBody>
          </p:sp>
          <p:sp>
            <p:nvSpPr>
              <p:cNvPr id="16396" name="Rectangle 10"/>
              <p:cNvSpPr>
                <a:spLocks noChangeArrowheads="1"/>
              </p:cNvSpPr>
              <p:nvPr/>
            </p:nvSpPr>
            <p:spPr bwMode="auto">
              <a:xfrm>
                <a:off x="3099" y="2801"/>
                <a:ext cx="1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5000"/>
                  </a:lnSpc>
                </a:pPr>
                <a:endParaRPr lang="en-US" altLang="en-US" sz="2800" baseline="-25000"/>
              </a:p>
            </p:txBody>
          </p:sp>
          <p:sp>
            <p:nvSpPr>
              <p:cNvPr id="16397" name="Rectangle 18"/>
              <p:cNvSpPr>
                <a:spLocks noChangeArrowheads="1"/>
              </p:cNvSpPr>
              <p:nvPr/>
            </p:nvSpPr>
            <p:spPr bwMode="auto">
              <a:xfrm>
                <a:off x="1620" y="3613"/>
                <a:ext cx="1437"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5000"/>
                  </a:lnSpc>
                </a:pPr>
                <a:r>
                  <a:rPr lang="en-US" altLang="en-US" sz="2400">
                    <a:solidFill>
                      <a:schemeClr val="hlink"/>
                    </a:solidFill>
                  </a:rPr>
                  <a:t>Critical Values</a:t>
                </a:r>
              </a:p>
            </p:txBody>
          </p:sp>
          <p:sp>
            <p:nvSpPr>
              <p:cNvPr id="16398" name="Line 22"/>
              <p:cNvSpPr>
                <a:spLocks noChangeShapeType="1"/>
              </p:cNvSpPr>
              <p:nvPr/>
            </p:nvSpPr>
            <p:spPr bwMode="auto">
              <a:xfrm>
                <a:off x="1392" y="3277"/>
                <a:ext cx="0" cy="528"/>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9" name="Line 23"/>
              <p:cNvSpPr>
                <a:spLocks noChangeShapeType="1"/>
              </p:cNvSpPr>
              <p:nvPr/>
            </p:nvSpPr>
            <p:spPr bwMode="auto">
              <a:xfrm>
                <a:off x="3312" y="3277"/>
                <a:ext cx="0" cy="528"/>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0" name="Line 25"/>
              <p:cNvSpPr>
                <a:spLocks noChangeShapeType="1"/>
              </p:cNvSpPr>
              <p:nvPr/>
            </p:nvSpPr>
            <p:spPr bwMode="auto">
              <a:xfrm>
                <a:off x="1380" y="3805"/>
                <a:ext cx="288"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1" name="Line 26"/>
              <p:cNvSpPr>
                <a:spLocks noChangeShapeType="1"/>
              </p:cNvSpPr>
              <p:nvPr/>
            </p:nvSpPr>
            <p:spPr bwMode="auto">
              <a:xfrm>
                <a:off x="3012" y="3805"/>
                <a:ext cx="288"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pic>
          <p:nvPicPr>
            <p:cNvPr id="16393" name="Picture 19" descr="notationfo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5" y="3064"/>
              <a:ext cx="49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4" name="Picture 20" descr="criticalvalues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27" y="3071"/>
              <a:ext cx="352"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05942097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4294967295"/>
          </p:nvPr>
        </p:nvSpPr>
        <p:spPr bwMode="auto">
          <a:xfrm>
            <a:off x="0" y="762000"/>
            <a:ext cx="9220200" cy="228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a:lnSpc>
                <a:spcPct val="107000"/>
              </a:lnSpc>
              <a:spcBef>
                <a:spcPts val="0"/>
              </a:spcBef>
              <a:spcAft>
                <a:spcPts val="800"/>
              </a:spcAft>
            </a:pPr>
            <a:r>
              <a:rPr lang="en-US" sz="2100" b="0" dirty="0" err="1">
                <a:effectLst/>
                <a:ea typeface="Calibri" panose="020F0502020204030204" pitchFamily="34" charset="0"/>
                <a:cs typeface="Times New Roman" panose="02020603050405020304" pitchFamily="18" charset="0"/>
              </a:rPr>
              <a:t>Xét</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quần</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thể</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gồm</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các</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bao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đựng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gạo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nhỏ</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Người</a:t>
            </a:r>
            <a:r>
              <a:rPr lang="en-US" sz="2100" b="0" dirty="0">
                <a:effectLst/>
                <a:ea typeface="Calibri" panose="020F0502020204030204" pitchFamily="34" charset="0"/>
                <a:cs typeface="Times New Roman" panose="02020603050405020304" pitchFamily="18" charset="0"/>
              </a:rPr>
              <a:t> ta </a:t>
            </a:r>
            <a:r>
              <a:rPr lang="en-US" sz="2100" b="0" dirty="0" err="1">
                <a:effectLst/>
                <a:ea typeface="Calibri" panose="020F0502020204030204" pitchFamily="34" charset="0"/>
                <a:cs typeface="Times New Roman" panose="02020603050405020304" pitchFamily="18" charset="0"/>
              </a:rPr>
              <a:t>cần</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ước</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lượng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trung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bình</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khối</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lượng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của</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các</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bao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là</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bao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nhiêu</a:t>
            </a:r>
            <a:r>
              <a:rPr lang="en-US" sz="2100" b="0" dirty="0">
                <a:effectLst/>
                <a:ea typeface="Calibri" panose="020F0502020204030204" pitchFamily="34" charset="0"/>
                <a:cs typeface="Times New Roman" panose="02020603050405020304" pitchFamily="18" charset="0"/>
              </a:rPr>
              <a:t> gram. </a:t>
            </a:r>
            <a:r>
              <a:rPr lang="en-US" sz="2100" b="0" dirty="0" err="1">
                <a:effectLst/>
                <a:ea typeface="Calibri" panose="020F0502020204030204" pitchFamily="34" charset="0"/>
                <a:cs typeface="Times New Roman" panose="02020603050405020304" pitchFamily="18" charset="0"/>
              </a:rPr>
              <a:t>Giả</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sử</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người</a:t>
            </a:r>
            <a:r>
              <a:rPr lang="en-US" sz="2100" b="0" dirty="0">
                <a:effectLst/>
                <a:ea typeface="Calibri" panose="020F0502020204030204" pitchFamily="34" charset="0"/>
                <a:cs typeface="Times New Roman" panose="02020603050405020304" pitchFamily="18" charset="0"/>
              </a:rPr>
              <a:t> ta </a:t>
            </a:r>
            <a:r>
              <a:rPr lang="en-US" sz="2100" b="0" dirty="0" err="1">
                <a:effectLst/>
                <a:ea typeface="Calibri" panose="020F0502020204030204" pitchFamily="34" charset="0"/>
                <a:cs typeface="Times New Roman" panose="02020603050405020304" pitchFamily="18" charset="0"/>
              </a:rPr>
              <a:t>lấy</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mẫu</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gồm</a:t>
            </a:r>
            <a:r>
              <a:rPr lang="en-US" sz="2100" b="0" dirty="0">
                <a:effectLst/>
                <a:ea typeface="Calibri" panose="020F0502020204030204" pitchFamily="34" charset="0"/>
                <a:cs typeface="Times New Roman" panose="02020603050405020304" pitchFamily="18" charset="0"/>
              </a:rPr>
              <a:t> </a:t>
            </a:r>
            <a:r>
              <a:rPr lang="en-US" sz="2100" b="0" dirty="0">
                <a:ea typeface="Calibri" panose="020F0502020204030204" pitchFamily="34" charset="0"/>
                <a:cs typeface="Times New Roman" panose="02020603050405020304" pitchFamily="18" charset="0"/>
              </a:rPr>
              <a:t>3</a:t>
            </a:r>
            <a:r>
              <a:rPr lang="en-US" sz="2100" b="0" dirty="0">
                <a:effectLst/>
                <a:ea typeface="Calibri" panose="020F0502020204030204" pitchFamily="34" charset="0"/>
                <a:cs typeface="Times New Roman" panose="02020603050405020304" pitchFamily="18" charset="0"/>
              </a:rPr>
              <a:t>5 </a:t>
            </a:r>
            <a:r>
              <a:rPr lang="en-US" sz="2100" b="0" dirty="0" err="1">
                <a:effectLst/>
                <a:ea typeface="Calibri" panose="020F0502020204030204" pitchFamily="34" charset="0"/>
                <a:cs typeface="Times New Roman" panose="02020603050405020304" pitchFamily="18" charset="0"/>
              </a:rPr>
              <a:t>bao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và</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cân</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bao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gạo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đó</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sau</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đó</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tính</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trung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bình</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khối</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lượng</a:t>
            </a:r>
            <a:r>
              <a:rPr lang="en-US" sz="2100" b="0" dirty="0">
                <a:ea typeface="Calibri" panose="020F0502020204030204" pitchFamily="34" charset="0"/>
                <a:cs typeface="Times New Roman" panose="02020603050405020304" pitchFamily="18" charset="0"/>
              </a:rPr>
              <a:t> 35</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bao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Chọn</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độ</a:t>
            </a:r>
            <a:r>
              <a:rPr lang="en-US" sz="2100" b="0" dirty="0">
                <a:effectLst/>
                <a:ea typeface="Calibri" panose="020F0502020204030204" pitchFamily="34" charset="0"/>
                <a:cs typeface="Times New Roman" panose="02020603050405020304" pitchFamily="18" charset="0"/>
              </a:rPr>
              <a:t> tin </a:t>
            </a:r>
            <a:r>
              <a:rPr lang="en-US" sz="2100" b="0" dirty="0" err="1">
                <a:effectLst/>
                <a:ea typeface="Calibri" panose="020F0502020204030204" pitchFamily="34" charset="0"/>
                <a:cs typeface="Times New Roman" panose="02020603050405020304" pitchFamily="18" charset="0"/>
              </a:rPr>
              <a:t>cậy</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là</a:t>
            </a:r>
            <a:r>
              <a:rPr lang="en-US" sz="2100" b="0" dirty="0">
                <a:effectLst/>
                <a:ea typeface="Calibri" panose="020F0502020204030204" pitchFamily="34" charset="0"/>
                <a:cs typeface="Times New Roman" panose="02020603050405020304" pitchFamily="18" charset="0"/>
              </a:rPr>
              <a:t> 1-α=0.95. </a:t>
            </a:r>
            <a:r>
              <a:rPr lang="en-US" sz="2100" b="0" dirty="0" err="1">
                <a:effectLst/>
                <a:ea typeface="Calibri" panose="020F0502020204030204" pitchFamily="34" charset="0"/>
                <a:cs typeface="Times New Roman" panose="02020603050405020304" pitchFamily="18" charset="0"/>
              </a:rPr>
              <a:t>Hãy</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xây</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dựng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khoảng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ước</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lượng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cho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trung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bình</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khối</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lượng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của</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toàn</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bộ</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các</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bao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đựng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gạo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Giả</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sử</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trung</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bình</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khối</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lượng</a:t>
            </a:r>
            <a:r>
              <a:rPr lang="en-US" sz="2100" b="0" dirty="0">
                <a:effectLst/>
                <a:ea typeface="Calibri" panose="020F0502020204030204" pitchFamily="34" charset="0"/>
                <a:cs typeface="Times New Roman" panose="02020603050405020304" pitchFamily="18" charset="0"/>
              </a:rPr>
              <a:t> </a:t>
            </a:r>
            <a:r>
              <a:rPr lang="en-US" sz="2100" b="0" dirty="0">
                <a:ea typeface="Calibri" panose="020F0502020204030204" pitchFamily="34" charset="0"/>
                <a:cs typeface="Times New Roman" panose="02020603050405020304" pitchFamily="18" charset="0"/>
              </a:rPr>
              <a:t>35</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bao</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là</a:t>
            </a:r>
            <a:r>
              <a:rPr lang="en-US" sz="2100" b="0" dirty="0">
                <a:effectLst/>
                <a:ea typeface="Calibri" panose="020F0502020204030204" pitchFamily="34" charset="0"/>
                <a:cs typeface="Times New Roman" panose="02020603050405020304" pitchFamily="18" charset="0"/>
              </a:rPr>
              <a:t> 362.3 gam, </a:t>
            </a:r>
            <a:r>
              <a:rPr lang="en-US" sz="2100" b="0" dirty="0" err="1">
                <a:effectLst/>
                <a:ea typeface="Calibri" panose="020F0502020204030204" pitchFamily="34" charset="0"/>
                <a:cs typeface="Times New Roman" panose="02020603050405020304" pitchFamily="18" charset="0"/>
              </a:rPr>
              <a:t>độ</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lệch</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chuẩn</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của</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quần</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thể</a:t>
            </a:r>
            <a:r>
              <a:rPr lang="en-US" sz="2100" b="0" dirty="0">
                <a:effectLst/>
                <a:ea typeface="Calibri" panose="020F0502020204030204" pitchFamily="34" charset="0"/>
                <a:cs typeface="Times New Roman" panose="02020603050405020304" pitchFamily="18" charset="0"/>
              </a:rPr>
              <a:t> </a:t>
            </a:r>
            <a:r>
              <a:rPr lang="en-US" sz="2100" b="0" dirty="0" err="1">
                <a:effectLst/>
                <a:ea typeface="Calibri" panose="020F0502020204030204" pitchFamily="34" charset="0"/>
                <a:cs typeface="Times New Roman" panose="02020603050405020304" pitchFamily="18" charset="0"/>
              </a:rPr>
              <a:t>là</a:t>
            </a:r>
            <a:r>
              <a:rPr lang="en-US" sz="2100" b="0" dirty="0">
                <a:effectLst/>
                <a:ea typeface="Calibri" panose="020F0502020204030204" pitchFamily="34" charset="0"/>
                <a:cs typeface="Times New Roman" panose="02020603050405020304" pitchFamily="18" charset="0"/>
              </a:rPr>
              <a:t> 5 gram</a:t>
            </a:r>
          </a:p>
        </p:txBody>
      </p:sp>
      <p:sp>
        <p:nvSpPr>
          <p:cNvPr id="12292" name="Rectangle 6"/>
          <p:cNvSpPr>
            <a:spLocks noGrp="1" noChangeArrowheads="1"/>
          </p:cNvSpPr>
          <p:nvPr>
            <p:ph type="title" idx="4294967295"/>
          </p:nvPr>
        </p:nvSpPr>
        <p:spPr bwMode="auto">
          <a:xfrm>
            <a:off x="0" y="300037"/>
            <a:ext cx="9144000" cy="842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a:lnSpc>
                <a:spcPct val="125000"/>
              </a:lnSpc>
              <a:spcBef>
                <a:spcPct val="4000"/>
              </a:spcBef>
            </a:pPr>
            <a:r>
              <a:rPr lang="en-US" altLang="en-US" dirty="0" err="1"/>
              <a:t>Ví</a:t>
            </a:r>
            <a:r>
              <a:rPr lang="en-US" altLang="en-US" dirty="0"/>
              <a:t> </a:t>
            </a:r>
            <a:r>
              <a:rPr lang="en-US" altLang="en-US" dirty="0" err="1"/>
              <a:t>dụ</a:t>
            </a:r>
            <a:endParaRPr lang="en-US" altLang="en-US" dirty="0">
              <a:solidFill>
                <a:schemeClr val="tx1"/>
              </a:solidFill>
            </a:endParaRP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0" y="3048000"/>
                <a:ext cx="9220199" cy="2286000"/>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0488" tIns="44450" rIns="90488" bIns="44450"/>
              <a:lstStyle>
                <a:lvl1pPr marL="285750" indent="-285750" algn="l" rtl="0" eaLnBrk="0" fontAlgn="base" hangingPunct="0">
                  <a:lnSpc>
                    <a:spcPct val="90000"/>
                  </a:lnSpc>
                  <a:spcBef>
                    <a:spcPct val="30000"/>
                  </a:spcBef>
                  <a:spcAft>
                    <a:spcPct val="0"/>
                  </a:spcAft>
                  <a:buSzPct val="100000"/>
                  <a:buChar char="•"/>
                  <a:defRPr sz="2400" b="1">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tx1"/>
                    </a:solidFill>
                    <a:latin typeface="+mn-lt"/>
                  </a:defRPr>
                </a:lvl2pPr>
                <a:lvl3pPr marL="1143000" indent="-228600" algn="l" rtl="0" eaLnBrk="0" fontAlgn="base" hangingPunct="0">
                  <a:lnSpc>
                    <a:spcPct val="90000"/>
                  </a:lnSpc>
                  <a:spcBef>
                    <a:spcPct val="30000"/>
                  </a:spcBef>
                  <a:spcAft>
                    <a:spcPct val="0"/>
                  </a:spcAft>
                  <a:buSzPct val="100000"/>
                  <a:buChar char="»"/>
                  <a:defRPr b="1">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defRPr>
                </a:lvl4pPr>
                <a:lvl5pPr marL="2000250" indent="-171450" algn="ctr" rtl="0" eaLnBrk="0" fontAlgn="base" hangingPunct="0">
                  <a:lnSpc>
                    <a:spcPct val="90000"/>
                  </a:lnSpc>
                  <a:spcBef>
                    <a:spcPct val="30000"/>
                  </a:spcBef>
                  <a:spcAft>
                    <a:spcPct val="0"/>
                  </a:spcAft>
                  <a:defRPr sz="800">
                    <a:solidFill>
                      <a:schemeClr val="tx1"/>
                    </a:solidFill>
                    <a:latin typeface="Times New Roman" pitchFamily="18" charset="0"/>
                  </a:defRPr>
                </a:lvl5pPr>
                <a:lvl6pPr marL="2457450" indent="-171450" algn="ctr" rtl="0" eaLnBrk="0" fontAlgn="base" hangingPunct="0">
                  <a:lnSpc>
                    <a:spcPct val="90000"/>
                  </a:lnSpc>
                  <a:spcBef>
                    <a:spcPct val="30000"/>
                  </a:spcBef>
                  <a:spcAft>
                    <a:spcPct val="0"/>
                  </a:spcAft>
                  <a:defRPr sz="800">
                    <a:solidFill>
                      <a:schemeClr val="tx1"/>
                    </a:solidFill>
                    <a:latin typeface="Times New Roman" pitchFamily="18" charset="0"/>
                  </a:defRPr>
                </a:lvl6pPr>
                <a:lvl7pPr marL="2914650" indent="-171450" algn="ctr" rtl="0" eaLnBrk="0" fontAlgn="base" hangingPunct="0">
                  <a:lnSpc>
                    <a:spcPct val="90000"/>
                  </a:lnSpc>
                  <a:spcBef>
                    <a:spcPct val="30000"/>
                  </a:spcBef>
                  <a:spcAft>
                    <a:spcPct val="0"/>
                  </a:spcAft>
                  <a:defRPr sz="800">
                    <a:solidFill>
                      <a:schemeClr val="tx1"/>
                    </a:solidFill>
                    <a:latin typeface="Times New Roman" pitchFamily="18" charset="0"/>
                  </a:defRPr>
                </a:lvl7pPr>
                <a:lvl8pPr marL="3371850" indent="-171450" algn="ctr" rtl="0" eaLnBrk="0" fontAlgn="base" hangingPunct="0">
                  <a:lnSpc>
                    <a:spcPct val="90000"/>
                  </a:lnSpc>
                  <a:spcBef>
                    <a:spcPct val="30000"/>
                  </a:spcBef>
                  <a:spcAft>
                    <a:spcPct val="0"/>
                  </a:spcAft>
                  <a:defRPr sz="800">
                    <a:solidFill>
                      <a:schemeClr val="tx1"/>
                    </a:solidFill>
                    <a:latin typeface="Times New Roman" pitchFamily="18" charset="0"/>
                  </a:defRPr>
                </a:lvl8pPr>
                <a:lvl9pPr marL="3829050" indent="-171450" algn="ctr" rtl="0" eaLnBrk="0" fontAlgn="base" hangingPunct="0">
                  <a:lnSpc>
                    <a:spcPct val="90000"/>
                  </a:lnSpc>
                  <a:spcBef>
                    <a:spcPct val="30000"/>
                  </a:spcBef>
                  <a:spcAft>
                    <a:spcPct val="0"/>
                  </a:spcAft>
                  <a:defRPr sz="800">
                    <a:solidFill>
                      <a:schemeClr val="tx1"/>
                    </a:solidFill>
                    <a:latin typeface="Times New Roman" pitchFamily="18" charset="0"/>
                  </a:defRPr>
                </a:lvl9pPr>
              </a:lstStyle>
              <a:p>
                <a:pPr>
                  <a:lnSpc>
                    <a:spcPct val="107000"/>
                  </a:lnSpc>
                  <a:spcBef>
                    <a:spcPts val="0"/>
                  </a:spcBef>
                  <a:spcAft>
                    <a:spcPts val="800"/>
                  </a:spcAft>
                </a:pPr>
                <a:r>
                  <a:rPr lang="en-US" sz="2200" b="0" kern="0" dirty="0">
                    <a:ea typeface="Calibri" panose="020F0502020204030204" pitchFamily="34" charset="0"/>
                    <a:cs typeface="Times New Roman" panose="02020603050405020304" pitchFamily="18" charset="0"/>
                  </a:rPr>
                  <a:t>Gọi µ </a:t>
                </a:r>
                <a:r>
                  <a:rPr lang="en-US" sz="2200" b="0" kern="0" dirty="0" err="1">
                    <a:ea typeface="Calibri" panose="020F0502020204030204" pitchFamily="34" charset="0"/>
                    <a:cs typeface="Times New Roman" panose="02020603050405020304" pitchFamily="18" charset="0"/>
                  </a:rPr>
                  <a:t>là</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trung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bình</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khối</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lượng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của</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toàn</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bộ</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các</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bao</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đựng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gạo</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trong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quần</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thể</a:t>
                </a:r>
                <a:r>
                  <a:rPr lang="en-US" sz="2200" b="0" kern="0" dirty="0">
                    <a:ea typeface="Calibri" panose="020F0502020204030204" pitchFamily="34" charset="0"/>
                    <a:cs typeface="Times New Roman" panose="02020603050405020304" pitchFamily="18" charset="0"/>
                  </a:rPr>
                  <a:t>. </a:t>
                </a:r>
              </a:p>
              <a:p>
                <a:pPr>
                  <a:lnSpc>
                    <a:spcPct val="107000"/>
                  </a:lnSpc>
                  <a:spcBef>
                    <a:spcPts val="0"/>
                  </a:spcBef>
                  <a:spcAft>
                    <a:spcPts val="800"/>
                  </a:spcAft>
                </a:pP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𝑿</m:t>
                        </m:r>
                      </m:e>
                    </m:acc>
                  </m:oMath>
                </a14:m>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là</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khối</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lượng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trung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bình</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của</a:t>
                </a:r>
                <a:r>
                  <a:rPr lang="en-US" sz="2200" b="0" kern="0" dirty="0">
                    <a:ea typeface="Calibri" panose="020F0502020204030204" pitchFamily="34" charset="0"/>
                    <a:cs typeface="Times New Roman" panose="02020603050405020304" pitchFamily="18" charset="0"/>
                  </a:rPr>
                  <a:t> 35 </a:t>
                </a:r>
                <a:r>
                  <a:rPr lang="en-US" sz="2200" b="0" kern="0" dirty="0" err="1">
                    <a:ea typeface="Calibri" panose="020F0502020204030204" pitchFamily="34" charset="0"/>
                    <a:cs typeface="Times New Roman" panose="02020603050405020304" pitchFamily="18" charset="0"/>
                  </a:rPr>
                  <a:t>bao</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đựng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gạo</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trong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tập</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mẫu</a:t>
                </a:r>
                <a:r>
                  <a:rPr lang="en-US" sz="2200" b="0" kern="0" dirty="0">
                    <a:ea typeface="Calibri" panose="020F0502020204030204" pitchFamily="34" charset="0"/>
                    <a:cs typeface="Times New Roman" panose="02020603050405020304" pitchFamily="18" charset="0"/>
                  </a:rPr>
                  <a:t>. </a:t>
                </a:r>
              </a:p>
              <a:p>
                <a:pPr>
                  <a:lnSpc>
                    <a:spcPct val="107000"/>
                  </a:lnSpc>
                  <a:spcBef>
                    <a:spcPts val="0"/>
                  </a:spcBef>
                  <a:spcAft>
                    <a:spcPts val="800"/>
                  </a:spcAft>
                </a:pPr>
                <a:r>
                  <a:rPr lang="en-US" sz="2200" b="0" kern="0" dirty="0">
                    <a:ea typeface="Calibri" panose="020F0502020204030204" pitchFamily="34" charset="0"/>
                    <a:cs typeface="Times New Roman" panose="02020603050405020304" pitchFamily="18" charset="0"/>
                  </a:rPr>
                  <a:t>Ta </a:t>
                </a:r>
                <a:r>
                  <a:rPr lang="en-US" sz="2200" b="0" kern="0" dirty="0" err="1">
                    <a:ea typeface="Calibri" panose="020F0502020204030204" pitchFamily="34" charset="0"/>
                    <a:cs typeface="Times New Roman" panose="02020603050405020304" pitchFamily="18" charset="0"/>
                  </a:rPr>
                  <a:t>có</a:t>
                </a:r>
                <a:r>
                  <a:rPr lang="en-US" sz="2200" b="0" kern="0" dirty="0">
                    <a:ea typeface="Calibri" panose="020F0502020204030204" pitchFamily="34" charset="0"/>
                    <a:cs typeface="Times New Roman" panose="02020603050405020304" pitchFamily="18" charset="0"/>
                  </a:rPr>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𝑿</m:t>
                        </m:r>
                      </m:e>
                    </m:acc>
                  </m:oMath>
                </a14:m>
                <a:r>
                  <a:rPr lang="en-US" sz="2200" b="0" kern="0" dirty="0">
                    <a:ea typeface="Calibri" panose="020F0502020204030204" pitchFamily="34" charset="0"/>
                    <a:cs typeface="Times New Roman" panose="02020603050405020304" pitchFamily="18" charset="0"/>
                  </a:rPr>
                  <a:t>=362.3 gram. </a:t>
                </a:r>
                <a:r>
                  <a:rPr lang="en-US" sz="2200" b="0" kern="0" dirty="0" err="1">
                    <a:ea typeface="Calibri" panose="020F0502020204030204" pitchFamily="34" charset="0"/>
                    <a:cs typeface="Times New Roman" panose="02020603050405020304" pitchFamily="18" charset="0"/>
                  </a:rPr>
                  <a:t>Độ</a:t>
                </a:r>
                <a:r>
                  <a:rPr lang="en-US" sz="2200" b="0" kern="0" dirty="0">
                    <a:ea typeface="Calibri" panose="020F0502020204030204" pitchFamily="34" charset="0"/>
                    <a:cs typeface="Times New Roman" panose="02020603050405020304" pitchFamily="18" charset="0"/>
                  </a:rPr>
                  <a:t> tin </a:t>
                </a:r>
                <a:r>
                  <a:rPr lang="en-US" sz="2200" b="0" kern="0" dirty="0" err="1">
                    <a:ea typeface="Calibri" panose="020F0502020204030204" pitchFamily="34" charset="0"/>
                    <a:cs typeface="Times New Roman" panose="02020603050405020304" pitchFamily="18" charset="0"/>
                  </a:rPr>
                  <a:t>cậy</a:t>
                </a:r>
                <a:r>
                  <a:rPr lang="en-US" sz="2200" b="0" kern="0" dirty="0">
                    <a:ea typeface="Calibri" panose="020F0502020204030204" pitchFamily="34" charset="0"/>
                    <a:cs typeface="Times New Roman" panose="02020603050405020304" pitchFamily="18" charset="0"/>
                  </a:rPr>
                  <a:t> 1-</a:t>
                </a:r>
                <a:r>
                  <a:rPr lang="el-GR" sz="2200" b="0" kern="0" dirty="0">
                    <a:ea typeface="Calibri" panose="020F0502020204030204" pitchFamily="34" charset="0"/>
                    <a:cs typeface="Times New Roman" panose="02020603050405020304" pitchFamily="18" charset="0"/>
                  </a:rPr>
                  <a:t>α</a:t>
                </a:r>
                <a:r>
                  <a:rPr lang="en-US" sz="2200" b="0" kern="0" dirty="0">
                    <a:ea typeface="Calibri" panose="020F0502020204030204" pitchFamily="34" charset="0"/>
                    <a:cs typeface="Times New Roman" panose="02020603050405020304" pitchFamily="18" charset="0"/>
                  </a:rPr>
                  <a:t>=0.95</a:t>
                </a:r>
              </a:p>
              <a:p>
                <a:pPr>
                  <a:lnSpc>
                    <a:spcPct val="107000"/>
                  </a:lnSpc>
                  <a:spcBef>
                    <a:spcPts val="0"/>
                  </a:spcBef>
                  <a:spcAft>
                    <a:spcPts val="800"/>
                  </a:spcAft>
                </a:pPr>
                <a:r>
                  <a:rPr lang="en-US" sz="2200" b="0" kern="0" dirty="0" err="1">
                    <a:ea typeface="Calibri" panose="020F0502020204030204" pitchFamily="34" charset="0"/>
                    <a:cs typeface="Times New Roman" panose="02020603050405020304" pitchFamily="18" charset="0"/>
                  </a:rPr>
                  <a:t>Khoảng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ước</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lượng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cho</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trung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bình</a:t>
                </a:r>
                <a:r>
                  <a:rPr lang="en-US" sz="2200" b="0" kern="0" dirty="0">
                    <a:ea typeface="Calibri" panose="020F0502020204030204" pitchFamily="34" charset="0"/>
                    <a:cs typeface="Times New Roman" panose="02020603050405020304" pitchFamily="18" charset="0"/>
                  </a:rPr>
                  <a:t> µ </a:t>
                </a:r>
                <a:r>
                  <a:rPr lang="en-US" sz="2200" b="0" kern="0" dirty="0" err="1">
                    <a:ea typeface="Calibri" panose="020F0502020204030204" pitchFamily="34" charset="0"/>
                    <a:cs typeface="Times New Roman" panose="02020603050405020304" pitchFamily="18" charset="0"/>
                  </a:rPr>
                  <a:t>của</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quần</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thể</a:t>
                </a:r>
                <a:r>
                  <a:rPr lang="en-US" sz="2200" b="0" kern="0" dirty="0">
                    <a:ea typeface="Calibri" panose="020F0502020204030204" pitchFamily="34" charset="0"/>
                    <a:cs typeface="Times New Roman" panose="02020603050405020304" pitchFamily="18" charset="0"/>
                  </a:rPr>
                  <a:t>: </a:t>
                </a:r>
                <a14:m>
                  <m:oMath xmlns:m="http://schemas.openxmlformats.org/officeDocument/2006/math">
                    <m:acc>
                      <m:accPr>
                        <m:chr m:val="̅"/>
                        <m:ctrlPr>
                          <a:rPr lang="en-US" altLang="en-US" b="0" i="1">
                            <a:latin typeface="Cambria Math" panose="02040503050406030204" pitchFamily="18" charset="0"/>
                          </a:rPr>
                        </m:ctrlPr>
                      </m:accPr>
                      <m:e>
                        <m:r>
                          <a:rPr lang="en-US" altLang="en-US" b="0" i="1">
                            <a:latin typeface="Cambria Math" panose="02040503050406030204" pitchFamily="18" charset="0"/>
                          </a:rPr>
                          <m:t>𝑋</m:t>
                        </m:r>
                      </m:e>
                    </m:acc>
                    <m:r>
                      <a:rPr lang="en-US" altLang="en-US" b="0" i="1">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𝐸</m:t>
                    </m:r>
                    <m:r>
                      <a:rPr lang="en-US" altLang="en-US" b="0" i="1">
                        <a:latin typeface="Cambria Math" panose="02040503050406030204" pitchFamily="18" charset="0"/>
                      </a:rPr>
                      <m:t> </m:t>
                    </m:r>
                  </m:oMath>
                </a14:m>
                <a:r>
                  <a:rPr lang="en-US" sz="2200" b="0" kern="0" dirty="0">
                    <a:ea typeface="Calibri" panose="020F0502020204030204" pitchFamily="34" charset="0"/>
                    <a:cs typeface="Times New Roman" panose="02020603050405020304" pitchFamily="18" charset="0"/>
                  </a:rPr>
                  <a:t>hay   </a:t>
                </a:r>
              </a:p>
              <a:p>
                <a:pPr>
                  <a:lnSpc>
                    <a:spcPct val="107000"/>
                  </a:lnSpc>
                  <a:spcBef>
                    <a:spcPts val="0"/>
                  </a:spcBef>
                  <a:spcAft>
                    <a:spcPts val="800"/>
                  </a:spcAft>
                </a:pPr>
                <a14:m>
                  <m:oMath xmlns:m="http://schemas.openxmlformats.org/officeDocument/2006/math">
                    <m:acc>
                      <m:accPr>
                        <m:chr m:val="̅"/>
                        <m:ctrlPr>
                          <a:rPr lang="en-US" altLang="en-US" b="0" i="1">
                            <a:solidFill>
                              <a:srgbClr val="FF0000"/>
                            </a:solidFill>
                            <a:latin typeface="Cambria Math" panose="02040503050406030204" pitchFamily="18" charset="0"/>
                          </a:rPr>
                        </m:ctrlPr>
                      </m:accPr>
                      <m:e>
                        <m:r>
                          <a:rPr lang="en-US" altLang="en-US" b="0" i="1">
                            <a:solidFill>
                              <a:srgbClr val="FF0000"/>
                            </a:solidFill>
                            <a:latin typeface="Cambria Math" panose="02040503050406030204" pitchFamily="18" charset="0"/>
                          </a:rPr>
                          <m:t>𝑋</m:t>
                        </m:r>
                      </m:e>
                    </m:acc>
                    <m:r>
                      <a:rPr lang="en-US" altLang="en-US" b="0" i="1">
                        <a:solidFill>
                          <a:srgbClr val="FF0000"/>
                        </a:solidFill>
                        <a:latin typeface="Cambria Math" panose="02040503050406030204" pitchFamily="18" charset="0"/>
                      </a:rPr>
                      <m:t> −</m:t>
                    </m:r>
                    <m:r>
                      <a:rPr lang="en-US" altLang="en-US" b="0" i="1" smtClean="0">
                        <a:solidFill>
                          <a:srgbClr val="FF0000"/>
                        </a:solidFill>
                        <a:latin typeface="Cambria Math" panose="02040503050406030204" pitchFamily="18" charset="0"/>
                      </a:rPr>
                      <m:t>𝐸</m:t>
                    </m:r>
                    <m:r>
                      <a:rPr lang="en-US" altLang="en-US" b="0" i="1">
                        <a:solidFill>
                          <a:srgbClr val="FF0000"/>
                        </a:solidFill>
                        <a:latin typeface="Cambria Math" panose="02040503050406030204" pitchFamily="18" charset="0"/>
                      </a:rPr>
                      <m:t>&lt;µ&lt;</m:t>
                    </m:r>
                  </m:oMath>
                </a14:m>
                <a:r>
                  <a:rPr lang="en-US" altLang="en-US" b="0" dirty="0">
                    <a:solidFill>
                      <a:srgbClr val="FF0000"/>
                    </a:solidFill>
                  </a:rPr>
                  <a:t>  </a:t>
                </a:r>
                <a14:m>
                  <m:oMath xmlns:m="http://schemas.openxmlformats.org/officeDocument/2006/math">
                    <m:acc>
                      <m:accPr>
                        <m:chr m:val="̅"/>
                        <m:ctrlPr>
                          <a:rPr lang="en-US" altLang="en-US" b="0" i="1">
                            <a:solidFill>
                              <a:srgbClr val="FF0000"/>
                            </a:solidFill>
                            <a:latin typeface="Cambria Math" panose="02040503050406030204" pitchFamily="18" charset="0"/>
                          </a:rPr>
                        </m:ctrlPr>
                      </m:accPr>
                      <m:e>
                        <m:r>
                          <a:rPr lang="en-US" altLang="en-US" b="0" i="1">
                            <a:solidFill>
                              <a:srgbClr val="FF0000"/>
                            </a:solidFill>
                            <a:latin typeface="Cambria Math" panose="02040503050406030204" pitchFamily="18" charset="0"/>
                          </a:rPr>
                          <m:t>𝑋</m:t>
                        </m:r>
                      </m:e>
                    </m:acc>
                    <m:r>
                      <a:rPr lang="en-US" altLang="en-US" b="0" i="1">
                        <a:solidFill>
                          <a:srgbClr val="FF0000"/>
                        </a:solidFill>
                        <a:latin typeface="Cambria Math" panose="02040503050406030204" pitchFamily="18" charset="0"/>
                      </a:rPr>
                      <m:t>+</m:t>
                    </m:r>
                    <m:r>
                      <a:rPr lang="en-US" altLang="en-US" b="0" i="1" smtClean="0">
                        <a:solidFill>
                          <a:srgbClr val="FF0000"/>
                        </a:solidFill>
                        <a:latin typeface="Cambria Math" panose="02040503050406030204" pitchFamily="18" charset="0"/>
                      </a:rPr>
                      <m:t>𝐸</m:t>
                    </m:r>
                  </m:oMath>
                </a14:m>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trong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đó</a:t>
                </a:r>
                <a:r>
                  <a:rPr lang="en-US" sz="2200" b="0" kern="0" dirty="0">
                    <a:ea typeface="Calibri" panose="020F0502020204030204" pitchFamily="34" charset="0"/>
                    <a:cs typeface="Times New Roman" panose="02020603050405020304" pitchFamily="18" charset="0"/>
                  </a:rPr>
                  <a:t>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𝑿</m:t>
                        </m:r>
                      </m:e>
                    </m:acc>
                  </m:oMath>
                </a14:m>
                <a:r>
                  <a:rPr lang="en-US" sz="2200" b="0" kern="0" dirty="0">
                    <a:ea typeface="Calibri" panose="020F0502020204030204" pitchFamily="34" charset="0"/>
                    <a:cs typeface="Times New Roman" panose="02020603050405020304" pitchFamily="18" charset="0"/>
                  </a:rPr>
                  <a:t>=362.3, E </a:t>
                </a:r>
                <a:r>
                  <a:rPr lang="en-US" sz="2200" b="0" kern="0" dirty="0" err="1">
                    <a:ea typeface="Calibri" panose="020F0502020204030204" pitchFamily="34" charset="0"/>
                    <a:cs typeface="Times New Roman" panose="02020603050405020304" pitchFamily="18" charset="0"/>
                  </a:rPr>
                  <a:t>là</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giá</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trị</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sao</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cho</a:t>
                </a:r>
                <a:endParaRPr lang="en-US" sz="2200" b="0" kern="0" dirty="0">
                  <a:ea typeface="Calibri" panose="020F0502020204030204" pitchFamily="34" charset="0"/>
                  <a:cs typeface="Times New Roman" panose="02020603050405020304" pitchFamily="18" charset="0"/>
                </a:endParaRPr>
              </a:p>
              <a:p>
                <a:pPr marL="457200" lvl="1" indent="0">
                  <a:lnSpc>
                    <a:spcPct val="107000"/>
                  </a:lnSpc>
                  <a:spcBef>
                    <a:spcPts val="0"/>
                  </a:spcBef>
                  <a:spcAft>
                    <a:spcPts val="800"/>
                  </a:spcAft>
                  <a:buNone/>
                </a:pPr>
                <a:r>
                  <a:rPr lang="en-US" altLang="en-US" sz="2400" b="0" dirty="0">
                    <a:solidFill>
                      <a:srgbClr val="FF0000"/>
                    </a:solidFill>
                  </a:rPr>
                  <a:t>		</a:t>
                </a:r>
                <a:r>
                  <a:rPr lang="en-US" altLang="en-US" sz="2400" dirty="0">
                    <a:solidFill>
                      <a:srgbClr val="FF0000"/>
                    </a:solidFill>
                  </a:rPr>
                  <a:t>P(µ-E&lt;</a:t>
                </a:r>
                <a14:m>
                  <m:oMath xmlns:m="http://schemas.openxmlformats.org/officeDocument/2006/math">
                    <m:acc>
                      <m:accPr>
                        <m:chr m:val="̅"/>
                        <m:ctrlPr>
                          <a:rPr lang="en-US" sz="2400" i="1">
                            <a:solidFill>
                              <a:srgbClr val="FF0000"/>
                            </a:solidFill>
                            <a:latin typeface="Cambria Math" panose="02040503050406030204" pitchFamily="18" charset="0"/>
                          </a:rPr>
                        </m:ctrlPr>
                      </m:accPr>
                      <m:e>
                        <m:r>
                          <a:rPr lang="en-US" sz="2400" b="1" i="1">
                            <a:solidFill>
                              <a:srgbClr val="FF0000"/>
                            </a:solidFill>
                            <a:latin typeface="Cambria Math" panose="02040503050406030204" pitchFamily="18" charset="0"/>
                          </a:rPr>
                          <m:t> </m:t>
                        </m:r>
                        <m:r>
                          <a:rPr lang="en-US" sz="2400" b="1" i="1">
                            <a:solidFill>
                              <a:srgbClr val="FF0000"/>
                            </a:solidFill>
                            <a:latin typeface="Cambria Math" panose="02040503050406030204" pitchFamily="18" charset="0"/>
                          </a:rPr>
                          <m:t>𝑿</m:t>
                        </m:r>
                      </m:e>
                    </m:acc>
                    <m:r>
                      <a:rPr lang="en-US" sz="2400" b="1">
                        <a:solidFill>
                          <a:srgbClr val="FF0000"/>
                        </a:solidFill>
                        <a:latin typeface="Cambria Math" panose="02040503050406030204" pitchFamily="18" charset="0"/>
                      </a:rPr>
                      <m:t>&lt;</m:t>
                    </m:r>
                  </m:oMath>
                </a14:m>
                <a:r>
                  <a:rPr lang="en-US" altLang="en-US" sz="2400" dirty="0">
                    <a:solidFill>
                      <a:srgbClr val="FF0000"/>
                    </a:solidFill>
                  </a:rPr>
                  <a:t>µ+E)= P(</a:t>
                </a:r>
                <a14:m>
                  <m:oMath xmlns:m="http://schemas.openxmlformats.org/officeDocument/2006/math">
                    <m:acc>
                      <m:accPr>
                        <m:chr m:val="̅"/>
                        <m:ctrlPr>
                          <a:rPr lang="en-US" sz="2400" i="1">
                            <a:solidFill>
                              <a:srgbClr val="FF0000"/>
                            </a:solidFill>
                            <a:latin typeface="Cambria Math" panose="02040503050406030204" pitchFamily="18" charset="0"/>
                          </a:rPr>
                        </m:ctrlPr>
                      </m:accPr>
                      <m:e>
                        <m:r>
                          <a:rPr lang="en-US" sz="2400" b="1" i="1">
                            <a:solidFill>
                              <a:srgbClr val="FF0000"/>
                            </a:solidFill>
                            <a:latin typeface="Cambria Math" panose="02040503050406030204" pitchFamily="18" charset="0"/>
                          </a:rPr>
                          <m:t>𝑿</m:t>
                        </m:r>
                      </m:e>
                    </m:acc>
                    <m:r>
                      <m:rPr>
                        <m:nor/>
                      </m:rPr>
                      <a:rPr lang="en-US" sz="2400">
                        <a:solidFill>
                          <a:srgbClr val="FF0000"/>
                        </a:solidFill>
                        <a:latin typeface="Cambria Math" panose="02040503050406030204" pitchFamily="18" charset="0"/>
                      </a:rPr>
                      <m:t>−</m:t>
                    </m:r>
                    <m:r>
                      <m:rPr>
                        <m:nor/>
                      </m:rPr>
                      <a:rPr lang="en-US" sz="2400" b="1" i="0" smtClean="0">
                        <a:solidFill>
                          <a:srgbClr val="FF0000"/>
                        </a:solidFill>
                        <a:latin typeface="Cambria Math" panose="02040503050406030204" pitchFamily="18" charset="0"/>
                      </a:rPr>
                      <m:t>E</m:t>
                    </m:r>
                    <m:r>
                      <m:rPr>
                        <m:nor/>
                      </m:rPr>
                      <a:rPr lang="en-US" sz="2400">
                        <a:solidFill>
                          <a:srgbClr val="FF0000"/>
                        </a:solidFill>
                        <a:latin typeface="Cambria Math" panose="02040503050406030204" pitchFamily="18" charset="0"/>
                      </a:rPr>
                      <m:t>&lt;</m:t>
                    </m:r>
                    <m:r>
                      <m:rPr>
                        <m:nor/>
                      </m:rPr>
                      <a:rPr lang="en-US" altLang="en-US" sz="2400" dirty="0">
                        <a:solidFill>
                          <a:srgbClr val="FF0000"/>
                        </a:solidFill>
                      </a:rPr>
                      <m:t>µ&lt;</m:t>
                    </m:r>
                    <m:acc>
                      <m:accPr>
                        <m:chr m:val="̅"/>
                        <m:ctrlPr>
                          <a:rPr lang="en-US" sz="2400" i="1">
                            <a:solidFill>
                              <a:srgbClr val="FF0000"/>
                            </a:solidFill>
                            <a:latin typeface="Cambria Math" panose="02040503050406030204" pitchFamily="18" charset="0"/>
                          </a:rPr>
                        </m:ctrlPr>
                      </m:accPr>
                      <m:e>
                        <m:r>
                          <a:rPr lang="en-US" sz="2400" b="1" i="1">
                            <a:solidFill>
                              <a:srgbClr val="FF0000"/>
                            </a:solidFill>
                            <a:latin typeface="Cambria Math" panose="02040503050406030204" pitchFamily="18" charset="0"/>
                          </a:rPr>
                          <m:t>𝑿</m:t>
                        </m:r>
                      </m:e>
                    </m:acc>
                  </m:oMath>
                </a14:m>
                <a:r>
                  <a:rPr lang="en-US" altLang="en-US" sz="2400" dirty="0">
                    <a:solidFill>
                      <a:srgbClr val="FF0000"/>
                    </a:solidFill>
                  </a:rPr>
                  <a:t>+E)=1-</a:t>
                </a:r>
                <a:r>
                  <a:rPr lang="el-GR" altLang="en-US" sz="2400" dirty="0">
                    <a:solidFill>
                      <a:srgbClr val="FF0000"/>
                    </a:solidFill>
                  </a:rPr>
                  <a:t>α</a:t>
                </a:r>
                <a:endParaRPr lang="en-US" altLang="en-US" sz="2400" dirty="0">
                  <a:solidFill>
                    <a:srgbClr val="FF0000"/>
                  </a:solidFill>
                </a:endParaRPr>
              </a:p>
              <a:p>
                <a:pPr lvl="1">
                  <a:lnSpc>
                    <a:spcPct val="107000"/>
                  </a:lnSpc>
                  <a:spcBef>
                    <a:spcPts val="0"/>
                  </a:spcBef>
                  <a:spcAft>
                    <a:spcPts val="800"/>
                  </a:spcAft>
                </a:pPr>
                <a:endParaRPr lang="en-US" sz="1800" b="0" kern="0" dirty="0">
                  <a:ea typeface="Calibri" panose="020F0502020204030204" pitchFamily="34" charset="0"/>
                  <a:cs typeface="Times New Roman" panose="02020603050405020304" pitchFamily="18" charset="0"/>
                </a:endParaRPr>
              </a:p>
              <a:p>
                <a:pPr>
                  <a:lnSpc>
                    <a:spcPct val="107000"/>
                  </a:lnSpc>
                  <a:spcBef>
                    <a:spcPts val="0"/>
                  </a:spcBef>
                  <a:spcAft>
                    <a:spcPts val="800"/>
                  </a:spcAft>
                </a:pPr>
                <a:r>
                  <a:rPr lang="en-US" sz="2200" b="0" kern="0" dirty="0">
                    <a:ea typeface="Calibri" panose="020F0502020204030204" pitchFamily="34" charset="0"/>
                    <a:cs typeface="Times New Roman" panose="02020603050405020304" pitchFamily="18" charset="0"/>
                  </a:rPr>
                  <a:t> </a:t>
                </a:r>
              </a:p>
              <a:p>
                <a:pPr>
                  <a:lnSpc>
                    <a:spcPct val="107000"/>
                  </a:lnSpc>
                  <a:spcBef>
                    <a:spcPts val="0"/>
                  </a:spcBef>
                  <a:spcAft>
                    <a:spcPts val="800"/>
                  </a:spcAft>
                </a:pPr>
                <a:endParaRPr lang="en-US" sz="2200" b="0" kern="0" dirty="0">
                  <a:ea typeface="Calibri" panose="020F0502020204030204" pitchFamily="34" charset="0"/>
                  <a:cs typeface="Times New Roman" panose="02020603050405020304" pitchFamily="18" charset="0"/>
                </a:endParaRP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0" y="3048000"/>
                <a:ext cx="9220199" cy="2286000"/>
              </a:xfrm>
              <a:prstGeom prst="rect">
                <a:avLst/>
              </a:prstGeom>
              <a:blipFill>
                <a:blip r:embed="rId3"/>
                <a:stretch>
                  <a:fillRect l="-992" t="-1867" b="-66933"/>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06886400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6"/>
          <p:cNvSpPr>
            <a:spLocks noGrp="1" noChangeArrowheads="1"/>
          </p:cNvSpPr>
          <p:nvPr>
            <p:ph type="title" idx="4294967295"/>
          </p:nvPr>
        </p:nvSpPr>
        <p:spPr bwMode="auto">
          <a:xfrm>
            <a:off x="0" y="304800"/>
            <a:ext cx="9144000" cy="6397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fontScale="90000"/>
          </a:bodyPr>
          <a:lstStyle/>
          <a:p>
            <a:pPr>
              <a:lnSpc>
                <a:spcPct val="125000"/>
              </a:lnSpc>
              <a:spcBef>
                <a:spcPct val="4000"/>
              </a:spcBef>
            </a:pPr>
            <a:r>
              <a:rPr lang="en-US" altLang="en-US" dirty="0" err="1"/>
              <a:t>Ví</a:t>
            </a:r>
            <a:r>
              <a:rPr lang="en-US" altLang="en-US" dirty="0"/>
              <a:t> </a:t>
            </a:r>
            <a:r>
              <a:rPr lang="en-US" altLang="en-US" dirty="0" err="1"/>
              <a:t>dụ</a:t>
            </a:r>
            <a:endParaRPr lang="en-US" altLang="en-US" dirty="0">
              <a:solidFill>
                <a:schemeClr val="tx1"/>
              </a:solidFill>
            </a:endParaRP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0" y="3048000"/>
                <a:ext cx="9220199" cy="2286000"/>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0488" tIns="44450" rIns="90488" bIns="44450"/>
              <a:lstStyle>
                <a:lvl1pPr marL="285750" indent="-285750" algn="l" rtl="0" eaLnBrk="0" fontAlgn="base" hangingPunct="0">
                  <a:lnSpc>
                    <a:spcPct val="90000"/>
                  </a:lnSpc>
                  <a:spcBef>
                    <a:spcPct val="30000"/>
                  </a:spcBef>
                  <a:spcAft>
                    <a:spcPct val="0"/>
                  </a:spcAft>
                  <a:buSzPct val="100000"/>
                  <a:buChar char="•"/>
                  <a:defRPr sz="2400" b="1">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tx1"/>
                    </a:solidFill>
                    <a:latin typeface="+mn-lt"/>
                  </a:defRPr>
                </a:lvl2pPr>
                <a:lvl3pPr marL="1143000" indent="-228600" algn="l" rtl="0" eaLnBrk="0" fontAlgn="base" hangingPunct="0">
                  <a:lnSpc>
                    <a:spcPct val="90000"/>
                  </a:lnSpc>
                  <a:spcBef>
                    <a:spcPct val="30000"/>
                  </a:spcBef>
                  <a:spcAft>
                    <a:spcPct val="0"/>
                  </a:spcAft>
                  <a:buSzPct val="100000"/>
                  <a:buChar char="»"/>
                  <a:defRPr b="1">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defRPr>
                </a:lvl4pPr>
                <a:lvl5pPr marL="2000250" indent="-171450" algn="ctr" rtl="0" eaLnBrk="0" fontAlgn="base" hangingPunct="0">
                  <a:lnSpc>
                    <a:spcPct val="90000"/>
                  </a:lnSpc>
                  <a:spcBef>
                    <a:spcPct val="30000"/>
                  </a:spcBef>
                  <a:spcAft>
                    <a:spcPct val="0"/>
                  </a:spcAft>
                  <a:defRPr sz="800">
                    <a:solidFill>
                      <a:schemeClr val="tx1"/>
                    </a:solidFill>
                    <a:latin typeface="Times New Roman" pitchFamily="18" charset="0"/>
                  </a:defRPr>
                </a:lvl5pPr>
                <a:lvl6pPr marL="2457450" indent="-171450" algn="ctr" rtl="0" eaLnBrk="0" fontAlgn="base" hangingPunct="0">
                  <a:lnSpc>
                    <a:spcPct val="90000"/>
                  </a:lnSpc>
                  <a:spcBef>
                    <a:spcPct val="30000"/>
                  </a:spcBef>
                  <a:spcAft>
                    <a:spcPct val="0"/>
                  </a:spcAft>
                  <a:defRPr sz="800">
                    <a:solidFill>
                      <a:schemeClr val="tx1"/>
                    </a:solidFill>
                    <a:latin typeface="Times New Roman" pitchFamily="18" charset="0"/>
                  </a:defRPr>
                </a:lvl6pPr>
                <a:lvl7pPr marL="2914650" indent="-171450" algn="ctr" rtl="0" eaLnBrk="0" fontAlgn="base" hangingPunct="0">
                  <a:lnSpc>
                    <a:spcPct val="90000"/>
                  </a:lnSpc>
                  <a:spcBef>
                    <a:spcPct val="30000"/>
                  </a:spcBef>
                  <a:spcAft>
                    <a:spcPct val="0"/>
                  </a:spcAft>
                  <a:defRPr sz="800">
                    <a:solidFill>
                      <a:schemeClr val="tx1"/>
                    </a:solidFill>
                    <a:latin typeface="Times New Roman" pitchFamily="18" charset="0"/>
                  </a:defRPr>
                </a:lvl7pPr>
                <a:lvl8pPr marL="3371850" indent="-171450" algn="ctr" rtl="0" eaLnBrk="0" fontAlgn="base" hangingPunct="0">
                  <a:lnSpc>
                    <a:spcPct val="90000"/>
                  </a:lnSpc>
                  <a:spcBef>
                    <a:spcPct val="30000"/>
                  </a:spcBef>
                  <a:spcAft>
                    <a:spcPct val="0"/>
                  </a:spcAft>
                  <a:defRPr sz="800">
                    <a:solidFill>
                      <a:schemeClr val="tx1"/>
                    </a:solidFill>
                    <a:latin typeface="Times New Roman" pitchFamily="18" charset="0"/>
                  </a:defRPr>
                </a:lvl8pPr>
                <a:lvl9pPr marL="3829050" indent="-171450" algn="ctr" rtl="0" eaLnBrk="0" fontAlgn="base" hangingPunct="0">
                  <a:lnSpc>
                    <a:spcPct val="90000"/>
                  </a:lnSpc>
                  <a:spcBef>
                    <a:spcPct val="30000"/>
                  </a:spcBef>
                  <a:spcAft>
                    <a:spcPct val="0"/>
                  </a:spcAft>
                  <a:defRPr sz="800">
                    <a:solidFill>
                      <a:schemeClr val="tx1"/>
                    </a:solidFill>
                    <a:latin typeface="Times New Roman" pitchFamily="18" charset="0"/>
                  </a:defRPr>
                </a:lvl9pPr>
              </a:lstStyle>
              <a:p>
                <a:pPr marL="457200" lvl="1" indent="0">
                  <a:lnSpc>
                    <a:spcPct val="107000"/>
                  </a:lnSpc>
                  <a:spcBef>
                    <a:spcPts val="0"/>
                  </a:spcBef>
                  <a:spcAft>
                    <a:spcPts val="800"/>
                  </a:spcAft>
                  <a:buNone/>
                </a:pPr>
                <a:r>
                  <a:rPr lang="en-US" altLang="en-US" sz="2400" b="0" dirty="0">
                    <a:solidFill>
                      <a:srgbClr val="FF0000"/>
                    </a:solidFill>
                  </a:rPr>
                  <a:t>		</a:t>
                </a:r>
                <a:r>
                  <a:rPr lang="en-US" altLang="en-US" sz="2400" dirty="0">
                    <a:solidFill>
                      <a:srgbClr val="FF0000"/>
                    </a:solidFill>
                  </a:rPr>
                  <a:t>P(µ-E&lt;</a:t>
                </a:r>
                <a14:m>
                  <m:oMath xmlns:m="http://schemas.openxmlformats.org/officeDocument/2006/math">
                    <m:acc>
                      <m:accPr>
                        <m:chr m:val="̅"/>
                        <m:ctrlPr>
                          <a:rPr lang="en-US" sz="2400" i="1">
                            <a:solidFill>
                              <a:srgbClr val="FF0000"/>
                            </a:solidFill>
                            <a:latin typeface="Cambria Math" panose="02040503050406030204" pitchFamily="18" charset="0"/>
                          </a:rPr>
                        </m:ctrlPr>
                      </m:accPr>
                      <m:e>
                        <m:r>
                          <a:rPr lang="en-US" sz="2400" b="1" i="1">
                            <a:solidFill>
                              <a:srgbClr val="FF0000"/>
                            </a:solidFill>
                            <a:latin typeface="Cambria Math" panose="02040503050406030204" pitchFamily="18" charset="0"/>
                          </a:rPr>
                          <m:t> </m:t>
                        </m:r>
                        <m:r>
                          <a:rPr lang="en-US" sz="2400" b="1" i="1">
                            <a:solidFill>
                              <a:srgbClr val="FF0000"/>
                            </a:solidFill>
                            <a:latin typeface="Cambria Math" panose="02040503050406030204" pitchFamily="18" charset="0"/>
                          </a:rPr>
                          <m:t>𝑿</m:t>
                        </m:r>
                      </m:e>
                    </m:acc>
                    <m:r>
                      <a:rPr lang="en-US" sz="2400" b="1">
                        <a:solidFill>
                          <a:srgbClr val="FF0000"/>
                        </a:solidFill>
                        <a:latin typeface="Cambria Math" panose="02040503050406030204" pitchFamily="18" charset="0"/>
                      </a:rPr>
                      <m:t>&lt;</m:t>
                    </m:r>
                  </m:oMath>
                </a14:m>
                <a:r>
                  <a:rPr lang="en-US" altLang="en-US" sz="2400" dirty="0">
                    <a:solidFill>
                      <a:srgbClr val="FF0000"/>
                    </a:solidFill>
                  </a:rPr>
                  <a:t>µ+E)= P(</a:t>
                </a:r>
                <a14:m>
                  <m:oMath xmlns:m="http://schemas.openxmlformats.org/officeDocument/2006/math">
                    <m:acc>
                      <m:accPr>
                        <m:chr m:val="̅"/>
                        <m:ctrlPr>
                          <a:rPr lang="en-US" sz="2400" i="1">
                            <a:solidFill>
                              <a:srgbClr val="FF0000"/>
                            </a:solidFill>
                            <a:latin typeface="Cambria Math" panose="02040503050406030204" pitchFamily="18" charset="0"/>
                          </a:rPr>
                        </m:ctrlPr>
                      </m:accPr>
                      <m:e>
                        <m:r>
                          <a:rPr lang="en-US" sz="2400" b="1" i="1">
                            <a:solidFill>
                              <a:srgbClr val="FF0000"/>
                            </a:solidFill>
                            <a:latin typeface="Cambria Math" panose="02040503050406030204" pitchFamily="18" charset="0"/>
                          </a:rPr>
                          <m:t>𝑿</m:t>
                        </m:r>
                      </m:e>
                    </m:acc>
                    <m:r>
                      <m:rPr>
                        <m:nor/>
                      </m:rPr>
                      <a:rPr lang="en-US" sz="2400">
                        <a:solidFill>
                          <a:srgbClr val="FF0000"/>
                        </a:solidFill>
                        <a:latin typeface="Cambria Math" panose="02040503050406030204" pitchFamily="18" charset="0"/>
                      </a:rPr>
                      <m:t>−</m:t>
                    </m:r>
                    <m:r>
                      <m:rPr>
                        <m:nor/>
                      </m:rPr>
                      <a:rPr lang="en-US" sz="2400" b="1" i="0" smtClean="0">
                        <a:solidFill>
                          <a:srgbClr val="FF0000"/>
                        </a:solidFill>
                        <a:ea typeface="Cambria Math" panose="02040503050406030204" pitchFamily="18" charset="0"/>
                      </a:rPr>
                      <m:t>E</m:t>
                    </m:r>
                    <m:r>
                      <m:rPr>
                        <m:nor/>
                      </m:rPr>
                      <a:rPr lang="en-US" sz="2400">
                        <a:solidFill>
                          <a:srgbClr val="FF0000"/>
                        </a:solidFill>
                        <a:latin typeface="Cambria Math" panose="02040503050406030204" pitchFamily="18" charset="0"/>
                      </a:rPr>
                      <m:t>&lt;</m:t>
                    </m:r>
                    <m:r>
                      <m:rPr>
                        <m:nor/>
                      </m:rPr>
                      <a:rPr lang="en-US" altLang="en-US" sz="2400" dirty="0">
                        <a:solidFill>
                          <a:srgbClr val="FF0000"/>
                        </a:solidFill>
                      </a:rPr>
                      <m:t>µ&lt;</m:t>
                    </m:r>
                    <m:acc>
                      <m:accPr>
                        <m:chr m:val="̅"/>
                        <m:ctrlPr>
                          <a:rPr lang="en-US" sz="2400" i="1">
                            <a:solidFill>
                              <a:srgbClr val="FF0000"/>
                            </a:solidFill>
                            <a:latin typeface="Cambria Math" panose="02040503050406030204" pitchFamily="18" charset="0"/>
                          </a:rPr>
                        </m:ctrlPr>
                      </m:accPr>
                      <m:e>
                        <m:r>
                          <a:rPr lang="en-US" sz="2400" b="1" i="1">
                            <a:solidFill>
                              <a:srgbClr val="FF0000"/>
                            </a:solidFill>
                            <a:latin typeface="Cambria Math" panose="02040503050406030204" pitchFamily="18" charset="0"/>
                          </a:rPr>
                          <m:t>𝑿</m:t>
                        </m:r>
                      </m:e>
                    </m:acc>
                  </m:oMath>
                </a14:m>
                <a:r>
                  <a:rPr lang="en-US" altLang="en-US" sz="2400" dirty="0">
                    <a:solidFill>
                      <a:srgbClr val="FF0000"/>
                    </a:solidFill>
                  </a:rPr>
                  <a:t>+E)=1-</a:t>
                </a:r>
                <a:r>
                  <a:rPr lang="el-GR" altLang="en-US" sz="2400" dirty="0">
                    <a:solidFill>
                      <a:srgbClr val="FF0000"/>
                    </a:solidFill>
                  </a:rPr>
                  <a:t>α</a:t>
                </a:r>
                <a:endParaRPr lang="en-US" sz="1800" b="0" kern="0" dirty="0">
                  <a:ea typeface="Calibri" panose="020F0502020204030204" pitchFamily="34" charset="0"/>
                  <a:cs typeface="Times New Roman" panose="02020603050405020304" pitchFamily="18" charset="0"/>
                </a:endParaRPr>
              </a:p>
              <a:p>
                <a:pPr>
                  <a:lnSpc>
                    <a:spcPct val="107000"/>
                  </a:lnSpc>
                  <a:spcBef>
                    <a:spcPts val="0"/>
                  </a:spcBef>
                  <a:spcAft>
                    <a:spcPts val="800"/>
                  </a:spcAft>
                </a:pPr>
                <a:r>
                  <a:rPr lang="en-US" sz="2200" b="0" kern="0" dirty="0" err="1">
                    <a:ea typeface="Calibri" panose="020F0502020204030204" pitchFamily="34" charset="0"/>
                    <a:cs typeface="Times New Roman" panose="02020603050405020304" pitchFamily="18" charset="0"/>
                  </a:rPr>
                  <a:t>Cần</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tính</a:t>
                </a:r>
                <a:r>
                  <a:rPr lang="en-US" sz="2200" b="0" kern="0" dirty="0">
                    <a:ea typeface="Calibri" panose="020F0502020204030204" pitchFamily="34" charset="0"/>
                    <a:cs typeface="Times New Roman" panose="02020603050405020304" pitchFamily="18" charset="0"/>
                  </a:rPr>
                  <a:t> E. Quay </a:t>
                </a:r>
                <a:r>
                  <a:rPr lang="en-US" sz="2200" b="0" kern="0" dirty="0" err="1">
                    <a:ea typeface="Calibri" panose="020F0502020204030204" pitchFamily="34" charset="0"/>
                    <a:cs typeface="Times New Roman" panose="02020603050405020304" pitchFamily="18" charset="0"/>
                  </a:rPr>
                  <a:t>lại</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bài</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toán</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phân</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phối</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chuẩn</a:t>
                </a:r>
                <a:r>
                  <a:rPr lang="en-US" sz="2200" b="0" kern="0" dirty="0">
                    <a:ea typeface="Calibri" panose="020F0502020204030204" pitchFamily="34" charset="0"/>
                    <a:cs typeface="Times New Roman" panose="02020603050405020304" pitchFamily="18" charset="0"/>
                  </a:rPr>
                  <a:t>. </a:t>
                </a:r>
              </a:p>
              <a:p>
                <a:pPr>
                  <a:lnSpc>
                    <a:spcPct val="107000"/>
                  </a:lnSpc>
                  <a:spcBef>
                    <a:spcPts val="0"/>
                  </a:spcBef>
                  <a:spcAft>
                    <a:spcPts val="800"/>
                  </a:spcAft>
                </a:pPr>
                <a14:m>
                  <m:oMath xmlns:m="http://schemas.openxmlformats.org/officeDocument/2006/math">
                    <m:acc>
                      <m:accPr>
                        <m:chr m:val="̅"/>
                        <m:ctrlPr>
                          <a:rPr lang="en-US" sz="2200" b="0" i="1" kern="0" smtClean="0">
                            <a:latin typeface="Cambria Math" panose="02040503050406030204" pitchFamily="18" charset="0"/>
                            <a:cs typeface="Times New Roman" panose="02020603050405020304" pitchFamily="18" charset="0"/>
                          </a:rPr>
                        </m:ctrlPr>
                      </m:accPr>
                      <m:e>
                        <m:r>
                          <a:rPr lang="en-US" sz="2200" b="0" i="1" kern="0" smtClean="0">
                            <a:latin typeface="Cambria Math" panose="02040503050406030204" pitchFamily="18" charset="0"/>
                            <a:cs typeface="Times New Roman" panose="02020603050405020304" pitchFamily="18" charset="0"/>
                          </a:rPr>
                          <m:t>𝑋</m:t>
                        </m:r>
                        <m:r>
                          <a:rPr lang="en-US" sz="2200" b="0" i="1" kern="0" smtClean="0">
                            <a:latin typeface="Cambria Math" panose="02040503050406030204" pitchFamily="18" charset="0"/>
                            <a:cs typeface="Times New Roman" panose="02020603050405020304" pitchFamily="18" charset="0"/>
                          </a:rPr>
                          <m:t> </m:t>
                        </m:r>
                      </m:e>
                    </m:acc>
                  </m:oMath>
                </a14:m>
                <a:r>
                  <a:rPr lang="en-US" sz="2200" b="0" kern="0" dirty="0" err="1">
                    <a:ea typeface="Calibri" panose="020F0502020204030204" pitchFamily="34" charset="0"/>
                    <a:cs typeface="Times New Roman" panose="02020603050405020304" pitchFamily="18" charset="0"/>
                  </a:rPr>
                  <a:t>có</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phân</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phối</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chuẩn</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với</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kỳ</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vọng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là</a:t>
                </a:r>
                <a:r>
                  <a:rPr lang="en-US" sz="2200" b="0" kern="0" dirty="0">
                    <a:ea typeface="Calibri" panose="020F0502020204030204" pitchFamily="34" charset="0"/>
                    <a:cs typeface="Times New Roman" panose="02020603050405020304" pitchFamily="18" charset="0"/>
                  </a:rPr>
                  <a:t> µ, </a:t>
                </a:r>
                <a:r>
                  <a:rPr lang="en-US" sz="2200" b="0" kern="0" dirty="0" err="1">
                    <a:ea typeface="Calibri" panose="020F0502020204030204" pitchFamily="34" charset="0"/>
                    <a:cs typeface="Times New Roman" panose="02020603050405020304" pitchFamily="18" charset="0"/>
                  </a:rPr>
                  <a:t>phương</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sai</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là</a:t>
                </a:r>
                <a:r>
                  <a:rPr lang="en-US" sz="2200" b="0" kern="0" dirty="0">
                    <a:ea typeface="Calibri" panose="020F0502020204030204" pitchFamily="34" charset="0"/>
                    <a:cs typeface="Times New Roman" panose="02020603050405020304" pitchFamily="18" charset="0"/>
                  </a:rPr>
                  <a:t> </a:t>
                </a:r>
                <a14:m>
                  <m:oMath xmlns:m="http://schemas.openxmlformats.org/officeDocument/2006/math">
                    <m:f>
                      <m:fPr>
                        <m:ctrlPr>
                          <a:rPr lang="en-US" altLang="en-US" b="0" i="1">
                            <a:latin typeface="Cambria Math" panose="02040503050406030204" pitchFamily="18" charset="0"/>
                          </a:rPr>
                        </m:ctrlPr>
                      </m:fPr>
                      <m:num>
                        <m:sSup>
                          <m:sSupPr>
                            <m:ctrlPr>
                              <a:rPr lang="el-GR" altLang="en-US" b="0" i="1">
                                <a:latin typeface="Cambria Math" panose="02040503050406030204" pitchFamily="18" charset="0"/>
                              </a:rPr>
                            </m:ctrlPr>
                          </m:sSupPr>
                          <m:e>
                            <m:r>
                              <m:rPr>
                                <m:sty m:val="p"/>
                              </m:rPr>
                              <a:rPr lang="el-GR" altLang="en-US" b="0" i="1">
                                <a:latin typeface="Cambria Math" panose="02040503050406030204" pitchFamily="18" charset="0"/>
                              </a:rPr>
                              <m:t>σ</m:t>
                            </m:r>
                          </m:e>
                          <m:sup>
                            <m:r>
                              <a:rPr lang="en-US" altLang="en-US" b="0" i="1">
                                <a:latin typeface="Cambria Math" panose="02040503050406030204" pitchFamily="18" charset="0"/>
                              </a:rPr>
                              <m:t>2</m:t>
                            </m:r>
                          </m:sup>
                        </m:sSup>
                      </m:num>
                      <m:den>
                        <m:r>
                          <a:rPr lang="en-US" altLang="en-US" b="0" i="1" smtClean="0">
                            <a:latin typeface="Cambria Math" panose="02040503050406030204" pitchFamily="18" charset="0"/>
                          </a:rPr>
                          <m:t>𝑛</m:t>
                        </m:r>
                      </m:den>
                    </m:f>
                  </m:oMath>
                </a14:m>
                <a:r>
                  <a:rPr lang="en-US" sz="2200" b="0" kern="0" dirty="0">
                    <a:ea typeface="Calibri" panose="020F0502020204030204" pitchFamily="34" charset="0"/>
                    <a:cs typeface="Times New Roman" panose="02020603050405020304" pitchFamily="18" charset="0"/>
                  </a:rPr>
                  <a:t> . </a:t>
                </a:r>
                <a:r>
                  <a:rPr lang="en-US" sz="2200" b="0" kern="0" dirty="0" err="1">
                    <a:ea typeface="Calibri" panose="020F0502020204030204" pitchFamily="34" charset="0"/>
                    <a:cs typeface="Times New Roman" panose="02020603050405020304" pitchFamily="18" charset="0"/>
                  </a:rPr>
                  <a:t>Suy</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ra</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độ</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lệch</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chuẩn</a:t>
                </a:r>
                <a:r>
                  <a:rPr lang="en-US" sz="2200" b="0" kern="0" dirty="0">
                    <a:ea typeface="Calibri" panose="020F0502020204030204" pitchFamily="34" charset="0"/>
                    <a:cs typeface="Times New Roman" panose="02020603050405020304" pitchFamily="18" charset="0"/>
                  </a:rPr>
                  <a:t> </a:t>
                </a:r>
                <a:r>
                  <a:rPr lang="en-US" sz="2200" b="0" kern="0" dirty="0" err="1">
                    <a:ea typeface="Calibri" panose="020F0502020204030204" pitchFamily="34" charset="0"/>
                    <a:cs typeface="Times New Roman" panose="02020603050405020304" pitchFamily="18" charset="0"/>
                  </a:rPr>
                  <a:t>là</a:t>
                </a:r>
                <a:r>
                  <a:rPr lang="en-US" sz="2200" b="0" kern="0" dirty="0">
                    <a:ea typeface="Calibri" panose="020F0502020204030204" pitchFamily="34" charset="0"/>
                    <a:cs typeface="Times New Roman" panose="02020603050405020304" pitchFamily="18" charset="0"/>
                  </a:rPr>
                  <a:t> </a:t>
                </a:r>
                <a14:m>
                  <m:oMath xmlns:m="http://schemas.openxmlformats.org/officeDocument/2006/math">
                    <m:f>
                      <m:fPr>
                        <m:ctrlPr>
                          <a:rPr lang="en-US" altLang="en-US" sz="2000" b="0" i="1">
                            <a:latin typeface="Cambria Math" panose="02040503050406030204" pitchFamily="18" charset="0"/>
                          </a:rPr>
                        </m:ctrlPr>
                      </m:fPr>
                      <m:num>
                        <m:r>
                          <m:rPr>
                            <m:sty m:val="p"/>
                          </m:rPr>
                          <a:rPr lang="el-GR" altLang="en-US" sz="2000" b="0" i="1" smtClean="0">
                            <a:latin typeface="Cambria Math" panose="02040503050406030204" pitchFamily="18" charset="0"/>
                          </a:rPr>
                          <m:t>σ</m:t>
                        </m:r>
                      </m:num>
                      <m:den>
                        <m:rad>
                          <m:radPr>
                            <m:degHide m:val="on"/>
                            <m:ctrlPr>
                              <a:rPr lang="en-US" altLang="en-US" sz="2000" b="0" i="1">
                                <a:latin typeface="Cambria Math" panose="02040503050406030204" pitchFamily="18" charset="0"/>
                              </a:rPr>
                            </m:ctrlPr>
                          </m:radPr>
                          <m:deg/>
                          <m:e>
                            <m:r>
                              <a:rPr lang="en-US" altLang="en-US" sz="2000" b="0" i="1">
                                <a:latin typeface="Cambria Math" panose="02040503050406030204" pitchFamily="18" charset="0"/>
                              </a:rPr>
                              <m:t>𝑛</m:t>
                            </m:r>
                          </m:e>
                        </m:rad>
                      </m:den>
                    </m:f>
                  </m:oMath>
                </a14:m>
                <a:r>
                  <a:rPr lang="en-US" sz="2200" b="0" kern="0" dirty="0">
                    <a:ea typeface="Calibri" panose="020F0502020204030204" pitchFamily="34" charset="0"/>
                    <a:cs typeface="Times New Roman" panose="02020603050405020304" pitchFamily="18" charset="0"/>
                  </a:rPr>
                  <a:t>    </a:t>
                </a:r>
              </a:p>
              <a:p>
                <a:pPr>
                  <a:lnSpc>
                    <a:spcPct val="107000"/>
                  </a:lnSpc>
                  <a:spcBef>
                    <a:spcPts val="0"/>
                  </a:spcBef>
                  <a:spcAft>
                    <a:spcPts val="800"/>
                  </a:spcAft>
                </a:pPr>
                <a:endParaRPr lang="en-US" sz="2200" b="0" kern="0" dirty="0">
                  <a:ea typeface="Calibri" panose="020F0502020204030204" pitchFamily="34" charset="0"/>
                  <a:cs typeface="Times New Roman" panose="02020603050405020304" pitchFamily="18" charset="0"/>
                </a:endParaRPr>
              </a:p>
              <a:p>
                <a:pPr>
                  <a:lnSpc>
                    <a:spcPct val="107000"/>
                  </a:lnSpc>
                  <a:spcBef>
                    <a:spcPts val="0"/>
                  </a:spcBef>
                  <a:spcAft>
                    <a:spcPts val="800"/>
                  </a:spcAft>
                </a:pPr>
                <a:endParaRPr lang="en-US" sz="2200" b="0" kern="0" dirty="0">
                  <a:ea typeface="Calibri" panose="020F0502020204030204" pitchFamily="34" charset="0"/>
                  <a:cs typeface="Times New Roman" panose="02020603050405020304" pitchFamily="18" charset="0"/>
                </a:endParaRPr>
              </a:p>
              <a:p>
                <a:pPr>
                  <a:lnSpc>
                    <a:spcPct val="107000"/>
                  </a:lnSpc>
                  <a:spcBef>
                    <a:spcPts val="0"/>
                  </a:spcBef>
                  <a:spcAft>
                    <a:spcPts val="800"/>
                  </a:spcAft>
                </a:pPr>
                <a:endParaRPr lang="en-US" sz="2200" b="0" kern="0" dirty="0">
                  <a:ea typeface="Calibri" panose="020F0502020204030204" pitchFamily="34" charset="0"/>
                  <a:cs typeface="Times New Roman" panose="02020603050405020304" pitchFamily="18" charset="0"/>
                </a:endParaRP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0" y="3048000"/>
                <a:ext cx="9220199" cy="2286000"/>
              </a:xfrm>
              <a:prstGeom prst="rect">
                <a:avLst/>
              </a:prstGeom>
              <a:blipFill>
                <a:blip r:embed="rId3"/>
                <a:stretch>
                  <a:fillRect l="-794" t="-2133"/>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Rectangle 3"/>
          <p:cNvSpPr txBox="1">
            <a:spLocks noChangeArrowheads="1"/>
          </p:cNvSpPr>
          <p:nvPr/>
        </p:nvSpPr>
        <p:spPr bwMode="auto">
          <a:xfrm>
            <a:off x="-39188" y="762000"/>
            <a:ext cx="9220199" cy="228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285750" indent="-285750" algn="l" rtl="0" eaLnBrk="0" fontAlgn="base" hangingPunct="0">
              <a:lnSpc>
                <a:spcPct val="90000"/>
              </a:lnSpc>
              <a:spcBef>
                <a:spcPct val="30000"/>
              </a:spcBef>
              <a:spcAft>
                <a:spcPct val="0"/>
              </a:spcAft>
              <a:buSzPct val="100000"/>
              <a:buChar char="•"/>
              <a:defRPr sz="2400" b="1">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tx1"/>
                </a:solidFill>
                <a:latin typeface="+mn-lt"/>
              </a:defRPr>
            </a:lvl2pPr>
            <a:lvl3pPr marL="1143000" indent="-228600" algn="l" rtl="0" eaLnBrk="0" fontAlgn="base" hangingPunct="0">
              <a:lnSpc>
                <a:spcPct val="90000"/>
              </a:lnSpc>
              <a:spcBef>
                <a:spcPct val="30000"/>
              </a:spcBef>
              <a:spcAft>
                <a:spcPct val="0"/>
              </a:spcAft>
              <a:buSzPct val="100000"/>
              <a:buChar char="»"/>
              <a:defRPr b="1">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defRPr>
            </a:lvl4pPr>
            <a:lvl5pPr marL="2000250" indent="-171450" algn="ctr" rtl="0" eaLnBrk="0" fontAlgn="base" hangingPunct="0">
              <a:lnSpc>
                <a:spcPct val="90000"/>
              </a:lnSpc>
              <a:spcBef>
                <a:spcPct val="30000"/>
              </a:spcBef>
              <a:spcAft>
                <a:spcPct val="0"/>
              </a:spcAft>
              <a:defRPr sz="800">
                <a:solidFill>
                  <a:schemeClr val="tx1"/>
                </a:solidFill>
                <a:latin typeface="Times New Roman" pitchFamily="18" charset="0"/>
              </a:defRPr>
            </a:lvl5pPr>
            <a:lvl6pPr marL="2457450" indent="-171450" algn="ctr" rtl="0" eaLnBrk="0" fontAlgn="base" hangingPunct="0">
              <a:lnSpc>
                <a:spcPct val="90000"/>
              </a:lnSpc>
              <a:spcBef>
                <a:spcPct val="30000"/>
              </a:spcBef>
              <a:spcAft>
                <a:spcPct val="0"/>
              </a:spcAft>
              <a:defRPr sz="800">
                <a:solidFill>
                  <a:schemeClr val="tx1"/>
                </a:solidFill>
                <a:latin typeface="Times New Roman" pitchFamily="18" charset="0"/>
              </a:defRPr>
            </a:lvl6pPr>
            <a:lvl7pPr marL="2914650" indent="-171450" algn="ctr" rtl="0" eaLnBrk="0" fontAlgn="base" hangingPunct="0">
              <a:lnSpc>
                <a:spcPct val="90000"/>
              </a:lnSpc>
              <a:spcBef>
                <a:spcPct val="30000"/>
              </a:spcBef>
              <a:spcAft>
                <a:spcPct val="0"/>
              </a:spcAft>
              <a:defRPr sz="800">
                <a:solidFill>
                  <a:schemeClr val="tx1"/>
                </a:solidFill>
                <a:latin typeface="Times New Roman" pitchFamily="18" charset="0"/>
              </a:defRPr>
            </a:lvl7pPr>
            <a:lvl8pPr marL="3371850" indent="-171450" algn="ctr" rtl="0" eaLnBrk="0" fontAlgn="base" hangingPunct="0">
              <a:lnSpc>
                <a:spcPct val="90000"/>
              </a:lnSpc>
              <a:spcBef>
                <a:spcPct val="30000"/>
              </a:spcBef>
              <a:spcAft>
                <a:spcPct val="0"/>
              </a:spcAft>
              <a:defRPr sz="800">
                <a:solidFill>
                  <a:schemeClr val="tx1"/>
                </a:solidFill>
                <a:latin typeface="Times New Roman" pitchFamily="18" charset="0"/>
              </a:defRPr>
            </a:lvl8pPr>
            <a:lvl9pPr marL="3829050" indent="-171450" algn="ctr" rtl="0" eaLnBrk="0" fontAlgn="base" hangingPunct="0">
              <a:lnSpc>
                <a:spcPct val="90000"/>
              </a:lnSpc>
              <a:spcBef>
                <a:spcPct val="30000"/>
              </a:spcBef>
              <a:spcAft>
                <a:spcPct val="0"/>
              </a:spcAft>
              <a:defRPr sz="800">
                <a:solidFill>
                  <a:schemeClr val="tx1"/>
                </a:solidFill>
                <a:latin typeface="Times New Roman" pitchFamily="18" charset="0"/>
              </a:defRPr>
            </a:lvl9pPr>
          </a:lstStyle>
          <a:p>
            <a:pPr>
              <a:lnSpc>
                <a:spcPct val="107000"/>
              </a:lnSpc>
              <a:spcBef>
                <a:spcPts val="0"/>
              </a:spcBef>
              <a:spcAft>
                <a:spcPts val="800"/>
              </a:spcAft>
            </a:pPr>
            <a:r>
              <a:rPr lang="en-US" sz="2100" b="0" kern="0" dirty="0" err="1">
                <a:ea typeface="Calibri" panose="020F0502020204030204" pitchFamily="34" charset="0"/>
                <a:cs typeface="Times New Roman" panose="02020603050405020304" pitchFamily="18" charset="0"/>
              </a:rPr>
              <a:t>Xét</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quần</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thể</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gồm</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các</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bao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đựng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gạo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nhỏ</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Người</a:t>
            </a:r>
            <a:r>
              <a:rPr lang="en-US" sz="2100" b="0" kern="0" dirty="0">
                <a:ea typeface="Calibri" panose="020F0502020204030204" pitchFamily="34" charset="0"/>
                <a:cs typeface="Times New Roman" panose="02020603050405020304" pitchFamily="18" charset="0"/>
              </a:rPr>
              <a:t> ta </a:t>
            </a:r>
            <a:r>
              <a:rPr lang="en-US" sz="2100" b="0" kern="0" dirty="0" err="1">
                <a:ea typeface="Calibri" panose="020F0502020204030204" pitchFamily="34" charset="0"/>
                <a:cs typeface="Times New Roman" panose="02020603050405020304" pitchFamily="18" charset="0"/>
              </a:rPr>
              <a:t>cần</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ước</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lượng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trung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bình</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khối</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lượng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của</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các</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bao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là</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bao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nhiêu</a:t>
            </a:r>
            <a:r>
              <a:rPr lang="en-US" sz="2100" b="0" kern="0" dirty="0">
                <a:ea typeface="Calibri" panose="020F0502020204030204" pitchFamily="34" charset="0"/>
                <a:cs typeface="Times New Roman" panose="02020603050405020304" pitchFamily="18" charset="0"/>
              </a:rPr>
              <a:t> gram. </a:t>
            </a:r>
            <a:r>
              <a:rPr lang="en-US" sz="2100" b="0" kern="0" dirty="0" err="1">
                <a:ea typeface="Calibri" panose="020F0502020204030204" pitchFamily="34" charset="0"/>
                <a:cs typeface="Times New Roman" panose="02020603050405020304" pitchFamily="18" charset="0"/>
              </a:rPr>
              <a:t>Giả</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sử</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người</a:t>
            </a:r>
            <a:r>
              <a:rPr lang="en-US" sz="2100" b="0" kern="0" dirty="0">
                <a:ea typeface="Calibri" panose="020F0502020204030204" pitchFamily="34" charset="0"/>
                <a:cs typeface="Times New Roman" panose="02020603050405020304" pitchFamily="18" charset="0"/>
              </a:rPr>
              <a:t> ta </a:t>
            </a:r>
            <a:r>
              <a:rPr lang="en-US" sz="2100" b="0" kern="0" dirty="0" err="1">
                <a:ea typeface="Calibri" panose="020F0502020204030204" pitchFamily="34" charset="0"/>
                <a:cs typeface="Times New Roman" panose="02020603050405020304" pitchFamily="18" charset="0"/>
              </a:rPr>
              <a:t>lấy</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mẫu</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gồm</a:t>
            </a:r>
            <a:r>
              <a:rPr lang="en-US" sz="2100" b="0" kern="0" dirty="0">
                <a:ea typeface="Calibri" panose="020F0502020204030204" pitchFamily="34" charset="0"/>
                <a:cs typeface="Times New Roman" panose="02020603050405020304" pitchFamily="18" charset="0"/>
              </a:rPr>
              <a:t> 35 </a:t>
            </a:r>
            <a:r>
              <a:rPr lang="en-US" sz="2100" b="0" kern="0" dirty="0" err="1">
                <a:ea typeface="Calibri" panose="020F0502020204030204" pitchFamily="34" charset="0"/>
                <a:cs typeface="Times New Roman" panose="02020603050405020304" pitchFamily="18" charset="0"/>
              </a:rPr>
              <a:t>bao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và</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cân</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bao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gạo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đó</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sau</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đó</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tính</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trung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bình</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khối</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lượng</a:t>
            </a:r>
            <a:r>
              <a:rPr lang="en-US" sz="2100" b="0" kern="0" dirty="0">
                <a:ea typeface="Calibri" panose="020F0502020204030204" pitchFamily="34" charset="0"/>
                <a:cs typeface="Times New Roman" panose="02020603050405020304" pitchFamily="18" charset="0"/>
              </a:rPr>
              <a:t> 35 </a:t>
            </a:r>
            <a:r>
              <a:rPr lang="en-US" sz="2100" b="0" kern="0" dirty="0" err="1">
                <a:ea typeface="Calibri" panose="020F0502020204030204" pitchFamily="34" charset="0"/>
                <a:cs typeface="Times New Roman" panose="02020603050405020304" pitchFamily="18" charset="0"/>
              </a:rPr>
              <a:t>bao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Chọn</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độ</a:t>
            </a:r>
            <a:r>
              <a:rPr lang="en-US" sz="2100" b="0" kern="0" dirty="0">
                <a:ea typeface="Calibri" panose="020F0502020204030204" pitchFamily="34" charset="0"/>
                <a:cs typeface="Times New Roman" panose="02020603050405020304" pitchFamily="18" charset="0"/>
              </a:rPr>
              <a:t> tin </a:t>
            </a:r>
            <a:r>
              <a:rPr lang="en-US" sz="2100" b="0" kern="0" dirty="0" err="1">
                <a:ea typeface="Calibri" panose="020F0502020204030204" pitchFamily="34" charset="0"/>
                <a:cs typeface="Times New Roman" panose="02020603050405020304" pitchFamily="18" charset="0"/>
              </a:rPr>
              <a:t>cậy</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là</a:t>
            </a:r>
            <a:r>
              <a:rPr lang="en-US" sz="2100" b="0" kern="0" dirty="0">
                <a:ea typeface="Calibri" panose="020F0502020204030204" pitchFamily="34" charset="0"/>
                <a:cs typeface="Times New Roman" panose="02020603050405020304" pitchFamily="18" charset="0"/>
              </a:rPr>
              <a:t> 1-α=0.95. </a:t>
            </a:r>
            <a:r>
              <a:rPr lang="en-US" sz="2100" b="0" kern="0" dirty="0" err="1">
                <a:ea typeface="Calibri" panose="020F0502020204030204" pitchFamily="34" charset="0"/>
                <a:cs typeface="Times New Roman" panose="02020603050405020304" pitchFamily="18" charset="0"/>
              </a:rPr>
              <a:t>Hãy</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xây</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dựng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khoảng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ước</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lượng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cho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trung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bình</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khối</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lượng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của</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toàn</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bộ</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các</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bao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đựng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gạo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Giả</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sử</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trung</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bình</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khối</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lượng</a:t>
            </a:r>
            <a:r>
              <a:rPr lang="en-US" sz="2100" b="0" kern="0" dirty="0">
                <a:ea typeface="Calibri" panose="020F0502020204030204" pitchFamily="34" charset="0"/>
                <a:cs typeface="Times New Roman" panose="02020603050405020304" pitchFamily="18" charset="0"/>
              </a:rPr>
              <a:t> 35 </a:t>
            </a:r>
            <a:r>
              <a:rPr lang="en-US" sz="2100" b="0" kern="0" dirty="0" err="1">
                <a:ea typeface="Calibri" panose="020F0502020204030204" pitchFamily="34" charset="0"/>
                <a:cs typeface="Times New Roman" panose="02020603050405020304" pitchFamily="18" charset="0"/>
              </a:rPr>
              <a:t>bao</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là</a:t>
            </a:r>
            <a:r>
              <a:rPr lang="en-US" sz="2100" b="0" kern="0" dirty="0">
                <a:ea typeface="Calibri" panose="020F0502020204030204" pitchFamily="34" charset="0"/>
                <a:cs typeface="Times New Roman" panose="02020603050405020304" pitchFamily="18" charset="0"/>
              </a:rPr>
              <a:t> 362.3 gam, </a:t>
            </a:r>
            <a:r>
              <a:rPr lang="en-US" sz="2100" b="0" kern="0" dirty="0" err="1">
                <a:ea typeface="Calibri" panose="020F0502020204030204" pitchFamily="34" charset="0"/>
                <a:cs typeface="Times New Roman" panose="02020603050405020304" pitchFamily="18" charset="0"/>
              </a:rPr>
              <a:t>độ</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lệch</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chuẩn</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của</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quần</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thể</a:t>
            </a:r>
            <a:r>
              <a:rPr lang="en-US" sz="2100" b="0" kern="0" dirty="0">
                <a:ea typeface="Calibri" panose="020F0502020204030204" pitchFamily="34" charset="0"/>
                <a:cs typeface="Times New Roman" panose="02020603050405020304" pitchFamily="18" charset="0"/>
              </a:rPr>
              <a:t> </a:t>
            </a:r>
            <a:r>
              <a:rPr lang="en-US" sz="2100" b="0" kern="0" dirty="0" err="1">
                <a:ea typeface="Calibri" panose="020F0502020204030204" pitchFamily="34" charset="0"/>
                <a:cs typeface="Times New Roman" panose="02020603050405020304" pitchFamily="18" charset="0"/>
              </a:rPr>
              <a:t>là</a:t>
            </a:r>
            <a:r>
              <a:rPr lang="en-US" sz="2100" b="0" kern="0" dirty="0">
                <a:ea typeface="Calibri" panose="020F0502020204030204" pitchFamily="34" charset="0"/>
                <a:cs typeface="Times New Roman" panose="02020603050405020304" pitchFamily="18" charset="0"/>
              </a:rPr>
              <a:t> 5 gam</a:t>
            </a:r>
          </a:p>
        </p:txBody>
      </p:sp>
    </p:spTree>
    <p:extLst>
      <p:ext uri="{BB962C8B-B14F-4D97-AF65-F5344CB8AC3E}">
        <p14:creationId xmlns:p14="http://schemas.microsoft.com/office/powerpoint/2010/main" val="78543948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6"/>
          <p:cNvSpPr>
            <a:spLocks noGrp="1" noChangeArrowheads="1"/>
          </p:cNvSpPr>
          <p:nvPr>
            <p:ph type="title" idx="4294967295"/>
          </p:nvPr>
        </p:nvSpPr>
        <p:spPr bwMode="auto">
          <a:xfrm>
            <a:off x="0" y="304800"/>
            <a:ext cx="9144000" cy="6397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fontScale="90000"/>
          </a:bodyPr>
          <a:lstStyle/>
          <a:p>
            <a:pPr>
              <a:lnSpc>
                <a:spcPct val="125000"/>
              </a:lnSpc>
              <a:spcBef>
                <a:spcPct val="4000"/>
              </a:spcBef>
            </a:pPr>
            <a:r>
              <a:rPr lang="en-US" altLang="en-US" dirty="0" err="1"/>
              <a:t>Ví</a:t>
            </a:r>
            <a:r>
              <a:rPr lang="en-US" altLang="en-US" dirty="0"/>
              <a:t> </a:t>
            </a:r>
            <a:r>
              <a:rPr lang="en-US" altLang="en-US" dirty="0" err="1"/>
              <a:t>dụ</a:t>
            </a:r>
            <a:endParaRPr lang="en-US" altLang="en-US" dirty="0">
              <a:solidFill>
                <a:schemeClr val="tx1"/>
              </a:solidFill>
            </a:endParaRP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0" y="838200"/>
                <a:ext cx="9144000" cy="2286000"/>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0488" tIns="44450" rIns="90488" bIns="44450"/>
              <a:lstStyle>
                <a:lvl1pPr marL="285750" indent="-285750" algn="l" rtl="0" eaLnBrk="0" fontAlgn="base" hangingPunct="0">
                  <a:lnSpc>
                    <a:spcPct val="90000"/>
                  </a:lnSpc>
                  <a:spcBef>
                    <a:spcPct val="30000"/>
                  </a:spcBef>
                  <a:spcAft>
                    <a:spcPct val="0"/>
                  </a:spcAft>
                  <a:buSzPct val="100000"/>
                  <a:buChar char="•"/>
                  <a:defRPr sz="2400" b="1">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tx1"/>
                    </a:solidFill>
                    <a:latin typeface="+mn-lt"/>
                  </a:defRPr>
                </a:lvl2pPr>
                <a:lvl3pPr marL="1143000" indent="-228600" algn="l" rtl="0" eaLnBrk="0" fontAlgn="base" hangingPunct="0">
                  <a:lnSpc>
                    <a:spcPct val="90000"/>
                  </a:lnSpc>
                  <a:spcBef>
                    <a:spcPct val="30000"/>
                  </a:spcBef>
                  <a:spcAft>
                    <a:spcPct val="0"/>
                  </a:spcAft>
                  <a:buSzPct val="100000"/>
                  <a:buChar char="»"/>
                  <a:defRPr b="1">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defRPr>
                </a:lvl4pPr>
                <a:lvl5pPr marL="2000250" indent="-171450" algn="ctr" rtl="0" eaLnBrk="0" fontAlgn="base" hangingPunct="0">
                  <a:lnSpc>
                    <a:spcPct val="90000"/>
                  </a:lnSpc>
                  <a:spcBef>
                    <a:spcPct val="30000"/>
                  </a:spcBef>
                  <a:spcAft>
                    <a:spcPct val="0"/>
                  </a:spcAft>
                  <a:defRPr sz="800">
                    <a:solidFill>
                      <a:schemeClr val="tx1"/>
                    </a:solidFill>
                    <a:latin typeface="Times New Roman" pitchFamily="18" charset="0"/>
                  </a:defRPr>
                </a:lvl5pPr>
                <a:lvl6pPr marL="2457450" indent="-171450" algn="ctr" rtl="0" eaLnBrk="0" fontAlgn="base" hangingPunct="0">
                  <a:lnSpc>
                    <a:spcPct val="90000"/>
                  </a:lnSpc>
                  <a:spcBef>
                    <a:spcPct val="30000"/>
                  </a:spcBef>
                  <a:spcAft>
                    <a:spcPct val="0"/>
                  </a:spcAft>
                  <a:defRPr sz="800">
                    <a:solidFill>
                      <a:schemeClr val="tx1"/>
                    </a:solidFill>
                    <a:latin typeface="Times New Roman" pitchFamily="18" charset="0"/>
                  </a:defRPr>
                </a:lvl6pPr>
                <a:lvl7pPr marL="2914650" indent="-171450" algn="ctr" rtl="0" eaLnBrk="0" fontAlgn="base" hangingPunct="0">
                  <a:lnSpc>
                    <a:spcPct val="90000"/>
                  </a:lnSpc>
                  <a:spcBef>
                    <a:spcPct val="30000"/>
                  </a:spcBef>
                  <a:spcAft>
                    <a:spcPct val="0"/>
                  </a:spcAft>
                  <a:defRPr sz="800">
                    <a:solidFill>
                      <a:schemeClr val="tx1"/>
                    </a:solidFill>
                    <a:latin typeface="Times New Roman" pitchFamily="18" charset="0"/>
                  </a:defRPr>
                </a:lvl7pPr>
                <a:lvl8pPr marL="3371850" indent="-171450" algn="ctr" rtl="0" eaLnBrk="0" fontAlgn="base" hangingPunct="0">
                  <a:lnSpc>
                    <a:spcPct val="90000"/>
                  </a:lnSpc>
                  <a:spcBef>
                    <a:spcPct val="30000"/>
                  </a:spcBef>
                  <a:spcAft>
                    <a:spcPct val="0"/>
                  </a:spcAft>
                  <a:defRPr sz="800">
                    <a:solidFill>
                      <a:schemeClr val="tx1"/>
                    </a:solidFill>
                    <a:latin typeface="Times New Roman" pitchFamily="18" charset="0"/>
                  </a:defRPr>
                </a:lvl8pPr>
                <a:lvl9pPr marL="3829050" indent="-171450" algn="ctr" rtl="0" eaLnBrk="0" fontAlgn="base" hangingPunct="0">
                  <a:lnSpc>
                    <a:spcPct val="90000"/>
                  </a:lnSpc>
                  <a:spcBef>
                    <a:spcPct val="30000"/>
                  </a:spcBef>
                  <a:spcAft>
                    <a:spcPct val="0"/>
                  </a:spcAft>
                  <a:defRPr sz="800">
                    <a:solidFill>
                      <a:schemeClr val="tx1"/>
                    </a:solidFill>
                    <a:latin typeface="Times New Roman" pitchFamily="18" charset="0"/>
                  </a:defRPr>
                </a:lvl9pPr>
              </a:lstStyle>
              <a:p>
                <a:pPr marL="457200" lvl="1" indent="0">
                  <a:lnSpc>
                    <a:spcPct val="107000"/>
                  </a:lnSpc>
                  <a:spcBef>
                    <a:spcPts val="0"/>
                  </a:spcBef>
                  <a:spcAft>
                    <a:spcPts val="800"/>
                  </a:spcAft>
                  <a:buNone/>
                </a:pPr>
                <a:r>
                  <a:rPr lang="en-US" altLang="en-US" sz="2200" b="0" dirty="0">
                    <a:solidFill>
                      <a:srgbClr val="FF0000"/>
                    </a:solidFill>
                  </a:rPr>
                  <a:t>		</a:t>
                </a:r>
                <a:r>
                  <a:rPr lang="en-US" altLang="en-US" sz="2200" dirty="0">
                    <a:solidFill>
                      <a:srgbClr val="FF0000"/>
                    </a:solidFill>
                  </a:rPr>
                  <a:t>P(µ-E&lt;</a:t>
                </a:r>
                <a14:m>
                  <m:oMath xmlns:m="http://schemas.openxmlformats.org/officeDocument/2006/math">
                    <m:acc>
                      <m:accPr>
                        <m:chr m:val="̅"/>
                        <m:ctrlPr>
                          <a:rPr lang="en-US" sz="2200" i="1">
                            <a:solidFill>
                              <a:srgbClr val="FF0000"/>
                            </a:solidFill>
                            <a:latin typeface="Cambria Math" panose="02040503050406030204" pitchFamily="18" charset="0"/>
                          </a:rPr>
                        </m:ctrlPr>
                      </m:accPr>
                      <m:e>
                        <m:r>
                          <a:rPr lang="en-US" sz="2200" b="1" i="1">
                            <a:solidFill>
                              <a:srgbClr val="FF0000"/>
                            </a:solidFill>
                            <a:latin typeface="Cambria Math" panose="02040503050406030204" pitchFamily="18" charset="0"/>
                          </a:rPr>
                          <m:t> </m:t>
                        </m:r>
                        <m:r>
                          <a:rPr lang="en-US" sz="2200" b="1" i="1">
                            <a:solidFill>
                              <a:srgbClr val="FF0000"/>
                            </a:solidFill>
                            <a:latin typeface="Cambria Math" panose="02040503050406030204" pitchFamily="18" charset="0"/>
                          </a:rPr>
                          <m:t>𝑿</m:t>
                        </m:r>
                      </m:e>
                    </m:acc>
                    <m:r>
                      <a:rPr lang="en-US" sz="2200" b="1">
                        <a:solidFill>
                          <a:srgbClr val="FF0000"/>
                        </a:solidFill>
                        <a:latin typeface="Cambria Math" panose="02040503050406030204" pitchFamily="18" charset="0"/>
                      </a:rPr>
                      <m:t>&lt;</m:t>
                    </m:r>
                  </m:oMath>
                </a14:m>
                <a:r>
                  <a:rPr lang="en-US" altLang="en-US" sz="2200" dirty="0">
                    <a:solidFill>
                      <a:srgbClr val="FF0000"/>
                    </a:solidFill>
                  </a:rPr>
                  <a:t>µ+E)= P(</a:t>
                </a:r>
                <a14:m>
                  <m:oMath xmlns:m="http://schemas.openxmlformats.org/officeDocument/2006/math">
                    <m:acc>
                      <m:accPr>
                        <m:chr m:val="̅"/>
                        <m:ctrlPr>
                          <a:rPr lang="en-US" sz="2200" i="1">
                            <a:solidFill>
                              <a:srgbClr val="FF0000"/>
                            </a:solidFill>
                            <a:latin typeface="Cambria Math" panose="02040503050406030204" pitchFamily="18" charset="0"/>
                          </a:rPr>
                        </m:ctrlPr>
                      </m:accPr>
                      <m:e>
                        <m:r>
                          <a:rPr lang="en-US" sz="2200" b="1" i="1">
                            <a:solidFill>
                              <a:srgbClr val="FF0000"/>
                            </a:solidFill>
                            <a:latin typeface="Cambria Math" panose="02040503050406030204" pitchFamily="18" charset="0"/>
                          </a:rPr>
                          <m:t>𝑿</m:t>
                        </m:r>
                      </m:e>
                    </m:acc>
                    <m:r>
                      <m:rPr>
                        <m:nor/>
                      </m:rPr>
                      <a:rPr lang="en-US" sz="2200" b="1" i="0" smtClean="0">
                        <a:solidFill>
                          <a:srgbClr val="FF0000"/>
                        </a:solidFill>
                      </a:rPr>
                      <m:t>−</m:t>
                    </m:r>
                    <m:r>
                      <m:rPr>
                        <m:nor/>
                      </m:rPr>
                      <a:rPr lang="en-US" sz="2200" b="1" i="0" smtClean="0">
                        <a:solidFill>
                          <a:srgbClr val="FF0000"/>
                        </a:solidFill>
                      </a:rPr>
                      <m:t>E</m:t>
                    </m:r>
                    <m:r>
                      <m:rPr>
                        <m:nor/>
                      </m:rPr>
                      <a:rPr lang="en-US" sz="2200">
                        <a:solidFill>
                          <a:srgbClr val="FF0000"/>
                        </a:solidFill>
                        <a:latin typeface="Cambria Math" panose="02040503050406030204" pitchFamily="18" charset="0"/>
                      </a:rPr>
                      <m:t>&lt;</m:t>
                    </m:r>
                    <m:r>
                      <m:rPr>
                        <m:nor/>
                      </m:rPr>
                      <a:rPr lang="en-US" altLang="en-US" sz="2200" dirty="0">
                        <a:solidFill>
                          <a:srgbClr val="FF0000"/>
                        </a:solidFill>
                      </a:rPr>
                      <m:t>µ&lt;</m:t>
                    </m:r>
                    <m:acc>
                      <m:accPr>
                        <m:chr m:val="̅"/>
                        <m:ctrlPr>
                          <a:rPr lang="en-US" sz="2200" i="1">
                            <a:solidFill>
                              <a:srgbClr val="FF0000"/>
                            </a:solidFill>
                            <a:latin typeface="Cambria Math" panose="02040503050406030204" pitchFamily="18" charset="0"/>
                          </a:rPr>
                        </m:ctrlPr>
                      </m:accPr>
                      <m:e>
                        <m:r>
                          <a:rPr lang="en-US" sz="2200" b="1" i="1">
                            <a:solidFill>
                              <a:srgbClr val="FF0000"/>
                            </a:solidFill>
                            <a:latin typeface="Cambria Math" panose="02040503050406030204" pitchFamily="18" charset="0"/>
                          </a:rPr>
                          <m:t>𝑿</m:t>
                        </m:r>
                      </m:e>
                    </m:acc>
                  </m:oMath>
                </a14:m>
                <a:r>
                  <a:rPr lang="en-US" altLang="en-US" sz="2200" dirty="0">
                    <a:solidFill>
                      <a:srgbClr val="FF0000"/>
                    </a:solidFill>
                  </a:rPr>
                  <a:t>+E)=1-</a:t>
                </a:r>
                <a:r>
                  <a:rPr lang="el-GR" altLang="en-US" sz="2200" dirty="0">
                    <a:solidFill>
                      <a:srgbClr val="FF0000"/>
                    </a:solidFill>
                  </a:rPr>
                  <a:t>α</a:t>
                </a:r>
                <a:endParaRPr lang="en-US" sz="2200" b="0" kern="0" dirty="0">
                  <a:ea typeface="Calibri" panose="020F0502020204030204" pitchFamily="34" charset="0"/>
                  <a:cs typeface="Times New Roman" panose="02020603050405020304" pitchFamily="18" charset="0"/>
                </a:endParaRPr>
              </a:p>
              <a:p>
                <a:pPr marL="285750" lvl="1" indent="-285750">
                  <a:lnSpc>
                    <a:spcPct val="107000"/>
                  </a:lnSpc>
                  <a:spcBef>
                    <a:spcPts val="0"/>
                  </a:spcBef>
                  <a:spcAft>
                    <a:spcPts val="800"/>
                  </a:spcAft>
                  <a:buFontTx/>
                  <a:buChar char="•"/>
                </a:pPr>
                <a:r>
                  <a:rPr lang="en-US" altLang="en-US" sz="2200" b="0" dirty="0" err="1"/>
                  <a:t>Chuyển</a:t>
                </a:r>
                <a:r>
                  <a:rPr lang="en-US" altLang="en-US" sz="2200" b="0" dirty="0"/>
                  <a:t> </a:t>
                </a:r>
                <a:r>
                  <a:rPr lang="en-US" altLang="en-US" sz="2200" b="0" dirty="0" err="1"/>
                  <a:t>đổi</a:t>
                </a:r>
                <a:r>
                  <a:rPr lang="en-US" altLang="en-US" sz="2200" b="0" dirty="0"/>
                  <a:t> </a:t>
                </a:r>
                <a:r>
                  <a:rPr lang="en-US" altLang="en-US" sz="2200" b="0" dirty="0" err="1"/>
                  <a:t>về</a:t>
                </a:r>
                <a:r>
                  <a:rPr lang="en-US" altLang="en-US" sz="2200" b="0" dirty="0"/>
                  <a:t> </a:t>
                </a:r>
                <a:r>
                  <a:rPr lang="en-US" altLang="en-US" sz="2200" b="0" dirty="0" err="1"/>
                  <a:t>phân</a:t>
                </a:r>
                <a:r>
                  <a:rPr lang="en-US" altLang="en-US" sz="2200" b="0" dirty="0"/>
                  <a:t> </a:t>
                </a:r>
                <a:r>
                  <a:rPr lang="en-US" altLang="en-US" sz="2200" b="0" dirty="0" err="1"/>
                  <a:t>phối</a:t>
                </a:r>
                <a:r>
                  <a:rPr lang="en-US" altLang="en-US" sz="2200" b="0" dirty="0"/>
                  <a:t> Z </a:t>
                </a:r>
                <a:r>
                  <a:rPr lang="en-US" altLang="en-US" sz="2200" b="0" dirty="0" err="1"/>
                  <a:t>theo</a:t>
                </a:r>
                <a:r>
                  <a:rPr lang="en-US" altLang="en-US" sz="2200" b="0" dirty="0"/>
                  <a:t> </a:t>
                </a:r>
                <a:r>
                  <a:rPr lang="en-US" altLang="en-US" sz="2200" b="0" dirty="0" err="1"/>
                  <a:t>công</a:t>
                </a:r>
                <a:r>
                  <a:rPr lang="en-US" altLang="en-US" sz="2200" b="0" dirty="0"/>
                  <a:t> </a:t>
                </a:r>
                <a:r>
                  <a:rPr lang="en-US" altLang="en-US" sz="2200" b="0" dirty="0" err="1"/>
                  <a:t>thức</a:t>
                </a:r>
                <a:endParaRPr lang="en-US" altLang="en-US" sz="2200" b="0" dirty="0"/>
              </a:p>
              <a:p>
                <a:pPr marL="285750" lvl="1" indent="-285750">
                  <a:lnSpc>
                    <a:spcPct val="107000"/>
                  </a:lnSpc>
                  <a:spcBef>
                    <a:spcPts val="0"/>
                  </a:spcBef>
                  <a:spcAft>
                    <a:spcPts val="800"/>
                  </a:spcAft>
                  <a:buFontTx/>
                  <a:buChar char="•"/>
                </a:pPr>
                <a:r>
                  <a:rPr lang="en-US" altLang="en-US" sz="2200" b="0" dirty="0" err="1"/>
                  <a:t>Suy</a:t>
                </a:r>
                <a:r>
                  <a:rPr lang="en-US" altLang="en-US" sz="2200" b="0" dirty="0"/>
                  <a:t> </a:t>
                </a:r>
                <a:r>
                  <a:rPr lang="en-US" altLang="en-US" sz="2200" b="0" dirty="0" err="1"/>
                  <a:t>ra</a:t>
                </a:r>
                <a:r>
                  <a:rPr lang="en-US" altLang="en-US" sz="2200" b="0" dirty="0"/>
                  <a:t> X=Z*</a:t>
                </a:r>
                <a14:m>
                  <m:oMath xmlns:m="http://schemas.openxmlformats.org/officeDocument/2006/math">
                    <m:sSub>
                      <m:sSubPr>
                        <m:ctrlPr>
                          <a:rPr lang="en-US" altLang="en-US" sz="2200" b="0" i="1" smtClean="0">
                            <a:latin typeface="Cambria Math" panose="02040503050406030204" pitchFamily="18" charset="0"/>
                          </a:rPr>
                        </m:ctrlPr>
                      </m:sSubPr>
                      <m:e>
                        <m:r>
                          <m:rPr>
                            <m:sty m:val="p"/>
                          </m:rPr>
                          <a:rPr lang="el-GR" altLang="en-US" sz="2200" b="0" i="1" smtClean="0">
                            <a:latin typeface="Cambria Math" panose="02040503050406030204" pitchFamily="18" charset="0"/>
                          </a:rPr>
                          <m:t>σ</m:t>
                        </m:r>
                      </m:e>
                      <m:sub>
                        <m:acc>
                          <m:accPr>
                            <m:chr m:val="̅"/>
                            <m:ctrlPr>
                              <a:rPr lang="en-US" altLang="en-US" sz="2200" b="0" i="1" smtClean="0">
                                <a:latin typeface="Cambria Math" panose="02040503050406030204" pitchFamily="18" charset="0"/>
                              </a:rPr>
                            </m:ctrlPr>
                          </m:accPr>
                          <m:e>
                            <m:r>
                              <a:rPr lang="en-US" altLang="en-US" sz="2200" b="0" i="1" smtClean="0">
                                <a:latin typeface="Cambria Math" panose="02040503050406030204" pitchFamily="18" charset="0"/>
                              </a:rPr>
                              <m:t>𝑥</m:t>
                            </m:r>
                          </m:e>
                        </m:acc>
                      </m:sub>
                    </m:sSub>
                  </m:oMath>
                </a14:m>
                <a:r>
                  <a:rPr lang="en-US" altLang="en-US" sz="2200" b="0" dirty="0"/>
                  <a:t>+µ </a:t>
                </a:r>
                <a:r>
                  <a:rPr lang="en-US" altLang="en-US" sz="2200" b="0" dirty="0" err="1"/>
                  <a:t>thay</a:t>
                </a:r>
                <a:r>
                  <a:rPr lang="en-US" altLang="en-US" sz="2200" b="0" dirty="0"/>
                  <a:t> </a:t>
                </a:r>
                <a:r>
                  <a:rPr lang="en-US" altLang="en-US" sz="2200" b="0" dirty="0" err="1"/>
                  <a:t>vào</a:t>
                </a:r>
                <a:r>
                  <a:rPr lang="en-US" altLang="en-US" sz="2200" b="0" dirty="0"/>
                  <a:t> </a:t>
                </a:r>
                <a:r>
                  <a:rPr lang="en-US" altLang="en-US" sz="2200" b="0" dirty="0" err="1"/>
                  <a:t>công</a:t>
                </a:r>
                <a:r>
                  <a:rPr lang="en-US" altLang="en-US" sz="2200" b="0" dirty="0"/>
                  <a:t> </a:t>
                </a:r>
                <a:r>
                  <a:rPr lang="en-US" altLang="en-US" sz="2200" b="0" dirty="0" err="1"/>
                  <a:t>thức</a:t>
                </a:r>
                <a:r>
                  <a:rPr lang="en-US" altLang="en-US" sz="2200" b="0" dirty="0"/>
                  <a:t> </a:t>
                </a:r>
                <a:r>
                  <a:rPr lang="en-US" altLang="en-US" sz="2200" b="0" dirty="0" err="1"/>
                  <a:t>trên</a:t>
                </a:r>
                <a:r>
                  <a:rPr lang="en-US" altLang="en-US" sz="2200" b="0" dirty="0"/>
                  <a:t> ta </a:t>
                </a:r>
                <a:r>
                  <a:rPr lang="en-US" altLang="en-US" sz="2200" b="0" dirty="0" err="1"/>
                  <a:t>có</a:t>
                </a:r>
                <a:endParaRPr lang="en-US" altLang="en-US" sz="2200" b="0" dirty="0"/>
              </a:p>
              <a:p>
                <a:pPr marL="285750" lvl="1" indent="-285750">
                  <a:lnSpc>
                    <a:spcPct val="107000"/>
                  </a:lnSpc>
                  <a:spcBef>
                    <a:spcPts val="0"/>
                  </a:spcBef>
                  <a:spcAft>
                    <a:spcPts val="800"/>
                  </a:spcAft>
                  <a:buFontTx/>
                  <a:buChar char="•"/>
                </a:pPr>
                <a:r>
                  <a:rPr lang="en-US" altLang="en-US" sz="2200" b="0" dirty="0"/>
                  <a:t>P(µ-E&lt;Z*</a:t>
                </a:r>
                <a14:m>
                  <m:oMath xmlns:m="http://schemas.openxmlformats.org/officeDocument/2006/math">
                    <m:sSub>
                      <m:sSubPr>
                        <m:ctrlPr>
                          <a:rPr lang="en-US" altLang="en-US" sz="2200" b="0" i="1">
                            <a:latin typeface="Cambria Math" panose="02040503050406030204" pitchFamily="18" charset="0"/>
                          </a:rPr>
                        </m:ctrlPr>
                      </m:sSubPr>
                      <m:e>
                        <m:r>
                          <m:rPr>
                            <m:sty m:val="p"/>
                          </m:rPr>
                          <a:rPr lang="el-GR" altLang="en-US" sz="2200" b="0" i="1">
                            <a:latin typeface="Cambria Math" panose="02040503050406030204" pitchFamily="18" charset="0"/>
                          </a:rPr>
                          <m:t>σ</m:t>
                        </m:r>
                      </m:e>
                      <m:sub>
                        <m:acc>
                          <m:accPr>
                            <m:chr m:val="̅"/>
                            <m:ctrlPr>
                              <a:rPr lang="en-US" altLang="en-US" sz="2200" b="0" i="1">
                                <a:latin typeface="Cambria Math" panose="02040503050406030204" pitchFamily="18" charset="0"/>
                              </a:rPr>
                            </m:ctrlPr>
                          </m:accPr>
                          <m:e>
                            <m:r>
                              <a:rPr lang="en-US" altLang="en-US" sz="2200" b="0" i="1">
                                <a:latin typeface="Cambria Math" panose="02040503050406030204" pitchFamily="18" charset="0"/>
                              </a:rPr>
                              <m:t>𝑥</m:t>
                            </m:r>
                          </m:e>
                        </m:acc>
                      </m:sub>
                    </m:sSub>
                  </m:oMath>
                </a14:m>
                <a:r>
                  <a:rPr lang="en-US" altLang="en-US" sz="2200" b="0" dirty="0"/>
                  <a:t>+µ&lt;µ+E)=P (</a:t>
                </a:r>
                <a14:m>
                  <m:oMath xmlns:m="http://schemas.openxmlformats.org/officeDocument/2006/math">
                    <m:f>
                      <m:fPr>
                        <m:ctrlPr>
                          <a:rPr lang="en-US" altLang="en-US" sz="2200" b="0" i="1" smtClean="0">
                            <a:latin typeface="Cambria Math" panose="02040503050406030204" pitchFamily="18" charset="0"/>
                          </a:rPr>
                        </m:ctrlPr>
                      </m:fPr>
                      <m:num>
                        <m:r>
                          <a:rPr lang="en-US" altLang="en-US" sz="2200" b="0" i="1" smtClean="0">
                            <a:latin typeface="Cambria Math" panose="02040503050406030204" pitchFamily="18" charset="0"/>
                          </a:rPr>
                          <m:t>−</m:t>
                        </m:r>
                        <m:r>
                          <a:rPr lang="en-US" altLang="en-US" sz="2200" b="0" i="1" smtClean="0">
                            <a:latin typeface="Cambria Math" panose="02040503050406030204" pitchFamily="18" charset="0"/>
                          </a:rPr>
                          <m:t>𝐸</m:t>
                        </m:r>
                      </m:num>
                      <m:den>
                        <m:sSub>
                          <m:sSubPr>
                            <m:ctrlPr>
                              <a:rPr lang="en-US" altLang="en-US" sz="2200" b="0" i="1">
                                <a:latin typeface="Cambria Math" panose="02040503050406030204" pitchFamily="18" charset="0"/>
                              </a:rPr>
                            </m:ctrlPr>
                          </m:sSubPr>
                          <m:e>
                            <m:r>
                              <m:rPr>
                                <m:sty m:val="p"/>
                              </m:rPr>
                              <a:rPr lang="el-GR" altLang="en-US" sz="2200" b="0" i="1">
                                <a:latin typeface="Cambria Math" panose="02040503050406030204" pitchFamily="18" charset="0"/>
                              </a:rPr>
                              <m:t>σ</m:t>
                            </m:r>
                          </m:e>
                          <m:sub>
                            <m:acc>
                              <m:accPr>
                                <m:chr m:val="̅"/>
                                <m:ctrlPr>
                                  <a:rPr lang="en-US" altLang="en-US" sz="2200" b="0" i="1">
                                    <a:latin typeface="Cambria Math" panose="02040503050406030204" pitchFamily="18" charset="0"/>
                                  </a:rPr>
                                </m:ctrlPr>
                              </m:accPr>
                              <m:e>
                                <m:r>
                                  <a:rPr lang="en-US" altLang="en-US" sz="2200" b="0" i="1">
                                    <a:latin typeface="Cambria Math" panose="02040503050406030204" pitchFamily="18" charset="0"/>
                                  </a:rPr>
                                  <m:t>𝑥</m:t>
                                </m:r>
                              </m:e>
                            </m:acc>
                          </m:sub>
                        </m:sSub>
                      </m:den>
                    </m:f>
                  </m:oMath>
                </a14:m>
                <a:r>
                  <a:rPr lang="en-US" altLang="en-US" sz="2200" b="0" dirty="0"/>
                  <a:t>&lt;Z&lt;</a:t>
                </a:r>
                <a14:m>
                  <m:oMath xmlns:m="http://schemas.openxmlformats.org/officeDocument/2006/math">
                    <m:f>
                      <m:fPr>
                        <m:ctrlPr>
                          <a:rPr lang="en-US" altLang="en-US" sz="2200" b="0" i="1">
                            <a:latin typeface="Cambria Math" panose="02040503050406030204" pitchFamily="18" charset="0"/>
                          </a:rPr>
                        </m:ctrlPr>
                      </m:fPr>
                      <m:num>
                        <m:r>
                          <a:rPr lang="en-US" altLang="en-US" sz="2200" b="0" i="1" smtClean="0">
                            <a:latin typeface="Cambria Math" panose="02040503050406030204" pitchFamily="18" charset="0"/>
                          </a:rPr>
                          <m:t>𝐸</m:t>
                        </m:r>
                      </m:num>
                      <m:den>
                        <m:sSub>
                          <m:sSubPr>
                            <m:ctrlPr>
                              <a:rPr lang="en-US" altLang="en-US" sz="2200" b="0" i="1">
                                <a:latin typeface="Cambria Math" panose="02040503050406030204" pitchFamily="18" charset="0"/>
                              </a:rPr>
                            </m:ctrlPr>
                          </m:sSubPr>
                          <m:e>
                            <m:r>
                              <m:rPr>
                                <m:sty m:val="p"/>
                              </m:rPr>
                              <a:rPr lang="el-GR" altLang="en-US" sz="2200" b="0" i="1">
                                <a:latin typeface="Cambria Math" panose="02040503050406030204" pitchFamily="18" charset="0"/>
                              </a:rPr>
                              <m:t>σ</m:t>
                            </m:r>
                          </m:e>
                          <m:sub>
                            <m:acc>
                              <m:accPr>
                                <m:chr m:val="̅"/>
                                <m:ctrlPr>
                                  <a:rPr lang="en-US" altLang="en-US" sz="2200" b="0" i="1">
                                    <a:latin typeface="Cambria Math" panose="02040503050406030204" pitchFamily="18" charset="0"/>
                                  </a:rPr>
                                </m:ctrlPr>
                              </m:accPr>
                              <m:e>
                                <m:r>
                                  <a:rPr lang="en-US" altLang="en-US" sz="2200" b="0" i="1">
                                    <a:latin typeface="Cambria Math" panose="02040503050406030204" pitchFamily="18" charset="0"/>
                                  </a:rPr>
                                  <m:t>𝑥</m:t>
                                </m:r>
                              </m:e>
                            </m:acc>
                          </m:sub>
                        </m:sSub>
                      </m:den>
                    </m:f>
                  </m:oMath>
                </a14:m>
                <a:r>
                  <a:rPr lang="en-US" altLang="en-US" sz="2200" b="0" dirty="0"/>
                  <a:t>) </a:t>
                </a:r>
              </a:p>
              <a:p>
                <a:pPr marL="285750" lvl="1" indent="-285750">
                  <a:lnSpc>
                    <a:spcPct val="107000"/>
                  </a:lnSpc>
                  <a:spcBef>
                    <a:spcPts val="0"/>
                  </a:spcBef>
                  <a:spcAft>
                    <a:spcPts val="800"/>
                  </a:spcAft>
                  <a:buFontTx/>
                  <a:buChar char="•"/>
                </a:pPr>
                <a:r>
                  <a:rPr lang="en-US" altLang="en-US" sz="2200" b="0" dirty="0" err="1"/>
                  <a:t>Thay</a:t>
                </a:r>
                <a:r>
                  <a:rPr lang="en-US" altLang="en-US" sz="2200" b="0" dirty="0"/>
                  <a:t> </a:t>
                </a:r>
                <a14:m>
                  <m:oMath xmlns:m="http://schemas.openxmlformats.org/officeDocument/2006/math">
                    <m:sSub>
                      <m:sSubPr>
                        <m:ctrlPr>
                          <a:rPr lang="en-US" altLang="en-US" sz="2200" b="0" i="1">
                            <a:latin typeface="Cambria Math" panose="02040503050406030204" pitchFamily="18" charset="0"/>
                          </a:rPr>
                        </m:ctrlPr>
                      </m:sSubPr>
                      <m:e>
                        <m:r>
                          <m:rPr>
                            <m:sty m:val="p"/>
                          </m:rPr>
                          <a:rPr lang="el-GR" altLang="en-US" sz="2200" b="0" i="1">
                            <a:latin typeface="Cambria Math" panose="02040503050406030204" pitchFamily="18" charset="0"/>
                          </a:rPr>
                          <m:t>σ</m:t>
                        </m:r>
                      </m:e>
                      <m:sub>
                        <m:acc>
                          <m:accPr>
                            <m:chr m:val="̅"/>
                            <m:ctrlPr>
                              <a:rPr lang="en-US" altLang="en-US" sz="2200" b="0" i="1">
                                <a:latin typeface="Cambria Math" panose="02040503050406030204" pitchFamily="18" charset="0"/>
                              </a:rPr>
                            </m:ctrlPr>
                          </m:accPr>
                          <m:e>
                            <m:r>
                              <a:rPr lang="en-US" altLang="en-US" sz="2200" b="0" i="1">
                                <a:latin typeface="Cambria Math" panose="02040503050406030204" pitchFamily="18" charset="0"/>
                              </a:rPr>
                              <m:t>𝑥</m:t>
                            </m:r>
                          </m:e>
                        </m:acc>
                      </m:sub>
                    </m:sSub>
                  </m:oMath>
                </a14:m>
                <a:r>
                  <a:rPr lang="en-US" altLang="en-US" sz="2200" b="0" dirty="0"/>
                  <a:t>= </a:t>
                </a:r>
                <a14:m>
                  <m:oMath xmlns:m="http://schemas.openxmlformats.org/officeDocument/2006/math">
                    <m:f>
                      <m:fPr>
                        <m:ctrlPr>
                          <a:rPr lang="en-US" altLang="en-US" sz="2200" b="0" i="1">
                            <a:latin typeface="Cambria Math" panose="02040503050406030204" pitchFamily="18" charset="0"/>
                          </a:rPr>
                        </m:ctrlPr>
                      </m:fPr>
                      <m:num>
                        <m:r>
                          <m:rPr>
                            <m:sty m:val="p"/>
                          </m:rPr>
                          <a:rPr lang="en-US" altLang="en-US" sz="2200" b="0" i="1" smtClean="0">
                            <a:latin typeface="Cambria Math" panose="02040503050406030204" pitchFamily="18" charset="0"/>
                          </a:rPr>
                          <m:t>σ</m:t>
                        </m:r>
                      </m:num>
                      <m:den>
                        <m:rad>
                          <m:radPr>
                            <m:degHide m:val="on"/>
                            <m:ctrlPr>
                              <a:rPr lang="en-US" altLang="en-US" sz="2200" b="0" i="1" smtClean="0">
                                <a:latin typeface="Cambria Math" panose="02040503050406030204" pitchFamily="18" charset="0"/>
                              </a:rPr>
                            </m:ctrlPr>
                          </m:radPr>
                          <m:deg/>
                          <m:e>
                            <m:r>
                              <a:rPr lang="en-US" altLang="en-US" sz="2200" b="0" i="1">
                                <a:latin typeface="Cambria Math" panose="02040503050406030204" pitchFamily="18" charset="0"/>
                              </a:rPr>
                              <m:t>𝑛</m:t>
                            </m:r>
                          </m:e>
                        </m:rad>
                      </m:den>
                    </m:f>
                  </m:oMath>
                </a14:m>
                <a:r>
                  <a:rPr lang="en-US" altLang="en-US" sz="2200" b="0" dirty="0"/>
                  <a:t> (</a:t>
                </a:r>
                <a:r>
                  <a:rPr lang="el-GR" altLang="en-US" sz="2200" b="0" dirty="0"/>
                  <a:t>σ</a:t>
                </a:r>
                <a:r>
                  <a:rPr lang="en-US" altLang="en-US" sz="2200" b="0" dirty="0"/>
                  <a:t> </a:t>
                </a:r>
                <a:r>
                  <a:rPr lang="en-US" altLang="en-US" sz="2200" b="0" dirty="0" err="1"/>
                  <a:t>là</a:t>
                </a:r>
                <a:r>
                  <a:rPr lang="en-US" altLang="en-US" sz="2200" b="0" dirty="0"/>
                  <a:t> </a:t>
                </a:r>
                <a:r>
                  <a:rPr lang="en-US" altLang="en-US" sz="2200" b="0" dirty="0" err="1"/>
                  <a:t>độ</a:t>
                </a:r>
                <a:r>
                  <a:rPr lang="en-US" altLang="en-US" sz="2200" b="0" dirty="0"/>
                  <a:t> </a:t>
                </a:r>
                <a:r>
                  <a:rPr lang="en-US" altLang="en-US" sz="2200" b="0" dirty="0" err="1"/>
                  <a:t>lệch</a:t>
                </a:r>
                <a:r>
                  <a:rPr lang="en-US" altLang="en-US" sz="2200" b="0" dirty="0"/>
                  <a:t> </a:t>
                </a:r>
                <a:r>
                  <a:rPr lang="en-US" altLang="en-US" sz="2200" b="0" dirty="0" err="1"/>
                  <a:t>chuẩn</a:t>
                </a:r>
                <a:r>
                  <a:rPr lang="en-US" altLang="en-US" sz="2200" b="0" dirty="0"/>
                  <a:t> </a:t>
                </a:r>
                <a:r>
                  <a:rPr lang="en-US" altLang="en-US" sz="2200" b="0" dirty="0" err="1"/>
                  <a:t>của</a:t>
                </a:r>
                <a:r>
                  <a:rPr lang="en-US" altLang="en-US" sz="2200" b="0" dirty="0"/>
                  <a:t> </a:t>
                </a:r>
                <a:r>
                  <a:rPr lang="en-US" altLang="en-US" sz="2200" b="0" dirty="0" err="1"/>
                  <a:t>trung</a:t>
                </a:r>
                <a:r>
                  <a:rPr lang="en-US" altLang="en-US" sz="2200" b="0" dirty="0"/>
                  <a:t> </a:t>
                </a:r>
                <a:r>
                  <a:rPr lang="en-US" altLang="en-US" sz="2200" b="0" dirty="0" err="1"/>
                  <a:t>bình</a:t>
                </a:r>
                <a:r>
                  <a:rPr lang="en-US" altLang="en-US" sz="2200" b="0" dirty="0"/>
                  <a:t> </a:t>
                </a:r>
                <a:r>
                  <a:rPr lang="en-US" altLang="en-US" sz="2200" b="0" dirty="0" err="1"/>
                  <a:t>quần</a:t>
                </a:r>
                <a:r>
                  <a:rPr lang="en-US" altLang="en-US" sz="2200" b="0" dirty="0"/>
                  <a:t> </a:t>
                </a:r>
                <a:r>
                  <a:rPr lang="en-US" altLang="en-US" sz="2200" b="0" dirty="0" err="1"/>
                  <a:t>thể</a:t>
                </a:r>
                <a:r>
                  <a:rPr lang="en-US" altLang="en-US" sz="2200" b="0" dirty="0"/>
                  <a:t>)</a:t>
                </a:r>
              </a:p>
              <a:p>
                <a:pPr marL="285750" lvl="1" indent="-285750">
                  <a:lnSpc>
                    <a:spcPct val="107000"/>
                  </a:lnSpc>
                  <a:spcBef>
                    <a:spcPts val="0"/>
                  </a:spcBef>
                  <a:spcAft>
                    <a:spcPts val="800"/>
                  </a:spcAft>
                  <a:buFontTx/>
                  <a:buChar char="•"/>
                </a:pPr>
                <a:r>
                  <a:rPr lang="en-US" altLang="en-US" sz="2200" b="0" dirty="0"/>
                  <a:t>P (</a:t>
                </a:r>
                <a14:m>
                  <m:oMath xmlns:m="http://schemas.openxmlformats.org/officeDocument/2006/math">
                    <m:f>
                      <m:fPr>
                        <m:ctrlPr>
                          <a:rPr lang="en-US" altLang="en-US" sz="2200" b="0" i="1">
                            <a:latin typeface="Cambria Math" panose="02040503050406030204" pitchFamily="18" charset="0"/>
                          </a:rPr>
                        </m:ctrlPr>
                      </m:fPr>
                      <m:num>
                        <m:r>
                          <a:rPr lang="en-US" altLang="en-US" sz="2200" b="0" i="1">
                            <a:latin typeface="Cambria Math" panose="02040503050406030204" pitchFamily="18" charset="0"/>
                          </a:rPr>
                          <m:t>−</m:t>
                        </m:r>
                        <m:r>
                          <a:rPr lang="en-US" altLang="en-US" sz="2200" b="0" i="1" smtClean="0">
                            <a:latin typeface="Cambria Math" panose="02040503050406030204" pitchFamily="18" charset="0"/>
                          </a:rPr>
                          <m:t>𝐸</m:t>
                        </m:r>
                      </m:num>
                      <m:den>
                        <m:f>
                          <m:fPr>
                            <m:ctrlPr>
                              <a:rPr lang="en-US" altLang="en-US" sz="2200" b="0" i="1">
                                <a:latin typeface="Cambria Math" panose="02040503050406030204" pitchFamily="18" charset="0"/>
                              </a:rPr>
                            </m:ctrlPr>
                          </m:fPr>
                          <m:num>
                            <m:r>
                              <m:rPr>
                                <m:sty m:val="p"/>
                              </m:rPr>
                              <a:rPr lang="en-US" altLang="en-US" sz="2200" b="0" i="1">
                                <a:latin typeface="Cambria Math" panose="02040503050406030204" pitchFamily="18" charset="0"/>
                              </a:rPr>
                              <m:t>σ</m:t>
                            </m:r>
                          </m:num>
                          <m:den>
                            <m:rad>
                              <m:radPr>
                                <m:degHide m:val="on"/>
                                <m:ctrlPr>
                                  <a:rPr lang="en-US" altLang="en-US" sz="2200" b="0" i="1">
                                    <a:latin typeface="Cambria Math" panose="02040503050406030204" pitchFamily="18" charset="0"/>
                                  </a:rPr>
                                </m:ctrlPr>
                              </m:radPr>
                              <m:deg/>
                              <m:e>
                                <m:r>
                                  <a:rPr lang="en-US" altLang="en-US" sz="2200" b="0" i="1">
                                    <a:latin typeface="Cambria Math" panose="02040503050406030204" pitchFamily="18" charset="0"/>
                                  </a:rPr>
                                  <m:t>𝑛</m:t>
                                </m:r>
                              </m:e>
                            </m:rad>
                          </m:den>
                        </m:f>
                      </m:den>
                    </m:f>
                  </m:oMath>
                </a14:m>
                <a:r>
                  <a:rPr lang="en-US" altLang="en-US" sz="2200" b="0" dirty="0"/>
                  <a:t>&lt;Z&lt;</a:t>
                </a:r>
                <a14:m>
                  <m:oMath xmlns:m="http://schemas.openxmlformats.org/officeDocument/2006/math">
                    <m:f>
                      <m:fPr>
                        <m:ctrlPr>
                          <a:rPr lang="en-US" altLang="en-US" sz="2200" b="0" i="1">
                            <a:latin typeface="Cambria Math" panose="02040503050406030204" pitchFamily="18" charset="0"/>
                          </a:rPr>
                        </m:ctrlPr>
                      </m:fPr>
                      <m:num>
                        <m:r>
                          <a:rPr lang="en-US" altLang="en-US" sz="2200" b="0" i="1" smtClean="0">
                            <a:latin typeface="Cambria Math" panose="02040503050406030204" pitchFamily="18" charset="0"/>
                          </a:rPr>
                          <m:t>𝐸</m:t>
                        </m:r>
                      </m:num>
                      <m:den>
                        <m:f>
                          <m:fPr>
                            <m:ctrlPr>
                              <a:rPr lang="en-US" altLang="en-US" sz="2200" b="0" i="1">
                                <a:latin typeface="Cambria Math" panose="02040503050406030204" pitchFamily="18" charset="0"/>
                              </a:rPr>
                            </m:ctrlPr>
                          </m:fPr>
                          <m:num>
                            <m:r>
                              <m:rPr>
                                <m:sty m:val="p"/>
                              </m:rPr>
                              <a:rPr lang="en-US" altLang="en-US" sz="2200" b="0" i="1">
                                <a:latin typeface="Cambria Math" panose="02040503050406030204" pitchFamily="18" charset="0"/>
                              </a:rPr>
                              <m:t>σ</m:t>
                            </m:r>
                          </m:num>
                          <m:den>
                            <m:rad>
                              <m:radPr>
                                <m:degHide m:val="on"/>
                                <m:ctrlPr>
                                  <a:rPr lang="en-US" altLang="en-US" sz="2200" b="0" i="1">
                                    <a:latin typeface="Cambria Math" panose="02040503050406030204" pitchFamily="18" charset="0"/>
                                  </a:rPr>
                                </m:ctrlPr>
                              </m:radPr>
                              <m:deg/>
                              <m:e>
                                <m:r>
                                  <a:rPr lang="en-US" altLang="en-US" sz="2200" b="0" i="1">
                                    <a:latin typeface="Cambria Math" panose="02040503050406030204" pitchFamily="18" charset="0"/>
                                  </a:rPr>
                                  <m:t>𝑛</m:t>
                                </m:r>
                              </m:e>
                            </m:rad>
                          </m:den>
                        </m:f>
                      </m:den>
                    </m:f>
                  </m:oMath>
                </a14:m>
                <a:r>
                  <a:rPr lang="en-US" altLang="en-US" sz="2200" b="0" dirty="0"/>
                  <a:t>) </a:t>
                </a:r>
                <a:r>
                  <a:rPr lang="en-US" altLang="en-US" sz="2200" b="0" dirty="0">
                    <a:solidFill>
                      <a:schemeClr val="tx1"/>
                    </a:solidFill>
                  </a:rPr>
                  <a:t>=P(-b&lt;Z&lt;b)=</a:t>
                </a:r>
                <a:r>
                  <a:rPr lang="en-US" altLang="en-US" sz="2200" b="0" dirty="0"/>
                  <a:t>1-</a:t>
                </a:r>
                <a:r>
                  <a:rPr lang="el-GR" altLang="en-US" sz="2200" b="0" dirty="0"/>
                  <a:t>α</a:t>
                </a:r>
                <a:r>
                  <a:rPr lang="en-US" altLang="en-US" sz="2200" b="0" dirty="0">
                    <a:solidFill>
                      <a:schemeClr val="tx1"/>
                    </a:solidFill>
                  </a:rPr>
                  <a:t> (</a:t>
                </a:r>
                <a:r>
                  <a:rPr lang="en-US" altLang="en-US" sz="2200" b="0" dirty="0" err="1">
                    <a:solidFill>
                      <a:schemeClr val="tx1"/>
                    </a:solidFill>
                  </a:rPr>
                  <a:t>trong</a:t>
                </a:r>
                <a:r>
                  <a:rPr lang="en-US" altLang="en-US" sz="2200" b="0" dirty="0">
                    <a:solidFill>
                      <a:schemeClr val="tx1"/>
                    </a:solidFill>
                  </a:rPr>
                  <a:t> </a:t>
                </a:r>
                <a:r>
                  <a:rPr lang="en-US" altLang="en-US" sz="2200" b="0" dirty="0" err="1">
                    <a:solidFill>
                      <a:schemeClr val="tx1"/>
                    </a:solidFill>
                  </a:rPr>
                  <a:t>đó</a:t>
                </a:r>
                <a:r>
                  <a:rPr lang="en-US" altLang="en-US" sz="2200" b="0" dirty="0">
                    <a:solidFill>
                      <a:schemeClr val="tx1"/>
                    </a:solidFill>
                  </a:rPr>
                  <a:t> Z </a:t>
                </a:r>
                <a:r>
                  <a:rPr lang="en-US" altLang="en-US" sz="2200" b="0" dirty="0" err="1">
                    <a:solidFill>
                      <a:schemeClr val="tx1"/>
                    </a:solidFill>
                  </a:rPr>
                  <a:t>có</a:t>
                </a:r>
                <a:r>
                  <a:rPr lang="en-US" altLang="en-US" sz="2200" b="0" dirty="0">
                    <a:solidFill>
                      <a:schemeClr val="tx1"/>
                    </a:solidFill>
                  </a:rPr>
                  <a:t> </a:t>
                </a:r>
                <a:r>
                  <a:rPr lang="en-US" altLang="en-US" sz="2200" b="0" dirty="0" err="1">
                    <a:solidFill>
                      <a:schemeClr val="tx1"/>
                    </a:solidFill>
                  </a:rPr>
                  <a:t>phân</a:t>
                </a:r>
                <a:r>
                  <a:rPr lang="en-US" altLang="en-US" sz="2200" b="0" dirty="0">
                    <a:solidFill>
                      <a:schemeClr val="tx1"/>
                    </a:solidFill>
                  </a:rPr>
                  <a:t> </a:t>
                </a:r>
                <a:r>
                  <a:rPr lang="en-US" altLang="en-US" sz="2200" b="0" dirty="0" err="1">
                    <a:solidFill>
                      <a:schemeClr val="tx1"/>
                    </a:solidFill>
                  </a:rPr>
                  <a:t>phối</a:t>
                </a:r>
                <a:r>
                  <a:rPr lang="en-US" altLang="en-US" sz="2200" b="0" dirty="0">
                    <a:solidFill>
                      <a:schemeClr val="tx1"/>
                    </a:solidFill>
                  </a:rPr>
                  <a:t> </a:t>
                </a:r>
                <a:r>
                  <a:rPr lang="en-US" altLang="en-US" sz="2200" b="0" dirty="0" err="1">
                    <a:solidFill>
                      <a:schemeClr val="tx1"/>
                    </a:solidFill>
                  </a:rPr>
                  <a:t>chuẩn</a:t>
                </a:r>
                <a:r>
                  <a:rPr lang="en-US" altLang="en-US" sz="2200" b="0" dirty="0">
                    <a:solidFill>
                      <a:schemeClr val="tx1"/>
                    </a:solidFill>
                  </a:rPr>
                  <a:t> </a:t>
                </a:r>
                <a:r>
                  <a:rPr lang="en-US" altLang="en-US" sz="2200" b="0" dirty="0" err="1">
                    <a:solidFill>
                      <a:schemeClr val="tx1"/>
                    </a:solidFill>
                  </a:rPr>
                  <a:t>chính</a:t>
                </a:r>
                <a:r>
                  <a:rPr lang="en-US" altLang="en-US" sz="2200" b="0" dirty="0">
                    <a:solidFill>
                      <a:schemeClr val="tx1"/>
                    </a:solidFill>
                  </a:rPr>
                  <a:t> </a:t>
                </a:r>
                <a:r>
                  <a:rPr lang="en-US" altLang="en-US" sz="2200" b="0" dirty="0" err="1">
                    <a:solidFill>
                      <a:schemeClr val="tx1"/>
                    </a:solidFill>
                  </a:rPr>
                  <a:t>tắc</a:t>
                </a:r>
                <a:r>
                  <a:rPr lang="en-US" altLang="en-US" sz="2200" b="0" dirty="0">
                    <a:solidFill>
                      <a:schemeClr val="tx1"/>
                    </a:solidFill>
                  </a:rPr>
                  <a:t>, b=</a:t>
                </a:r>
                <a14:m>
                  <m:oMath xmlns:m="http://schemas.openxmlformats.org/officeDocument/2006/math">
                    <m:f>
                      <m:fPr>
                        <m:ctrlPr>
                          <a:rPr lang="en-US" altLang="en-US" sz="2200" b="0" i="1">
                            <a:latin typeface="Cambria Math" panose="02040503050406030204" pitchFamily="18" charset="0"/>
                          </a:rPr>
                        </m:ctrlPr>
                      </m:fPr>
                      <m:num>
                        <m:r>
                          <a:rPr lang="en-US" altLang="en-US" sz="2200" b="0" i="1">
                            <a:latin typeface="Cambria Math" panose="02040503050406030204" pitchFamily="18" charset="0"/>
                          </a:rPr>
                          <m:t>−</m:t>
                        </m:r>
                        <m:r>
                          <a:rPr lang="en-US" altLang="en-US" sz="2200" b="0" i="1">
                            <a:latin typeface="Cambria Math" panose="02040503050406030204" pitchFamily="18" charset="0"/>
                          </a:rPr>
                          <m:t>𝐸</m:t>
                        </m:r>
                      </m:num>
                      <m:den>
                        <m:f>
                          <m:fPr>
                            <m:ctrlPr>
                              <a:rPr lang="en-US" altLang="en-US" sz="2200" b="0" i="1">
                                <a:latin typeface="Cambria Math" panose="02040503050406030204" pitchFamily="18" charset="0"/>
                              </a:rPr>
                            </m:ctrlPr>
                          </m:fPr>
                          <m:num>
                            <m:r>
                              <m:rPr>
                                <m:sty m:val="p"/>
                              </m:rPr>
                              <a:rPr lang="en-US" altLang="en-US" sz="2200" b="0" i="1">
                                <a:latin typeface="Cambria Math" panose="02040503050406030204" pitchFamily="18" charset="0"/>
                              </a:rPr>
                              <m:t>σ</m:t>
                            </m:r>
                          </m:num>
                          <m:den>
                            <m:rad>
                              <m:radPr>
                                <m:degHide m:val="on"/>
                                <m:ctrlPr>
                                  <a:rPr lang="en-US" altLang="en-US" sz="2200" b="0" i="1">
                                    <a:latin typeface="Cambria Math" panose="02040503050406030204" pitchFamily="18" charset="0"/>
                                  </a:rPr>
                                </m:ctrlPr>
                              </m:radPr>
                              <m:deg/>
                              <m:e>
                                <m:r>
                                  <a:rPr lang="en-US" altLang="en-US" sz="2200" b="0" i="1">
                                    <a:latin typeface="Cambria Math" panose="02040503050406030204" pitchFamily="18" charset="0"/>
                                  </a:rPr>
                                  <m:t>𝑛</m:t>
                                </m:r>
                              </m:e>
                            </m:rad>
                          </m:den>
                        </m:f>
                      </m:den>
                    </m:f>
                  </m:oMath>
                </a14:m>
                <a:r>
                  <a:rPr lang="en-US" altLang="en-US" sz="2200" b="0" dirty="0">
                    <a:solidFill>
                      <a:schemeClr val="tx1"/>
                    </a:solidFill>
                  </a:rPr>
                  <a:t>)</a:t>
                </a:r>
              </a:p>
              <a:p>
                <a:pPr marL="285750" lvl="1" indent="-285750">
                  <a:lnSpc>
                    <a:spcPct val="107000"/>
                  </a:lnSpc>
                  <a:spcBef>
                    <a:spcPts val="0"/>
                  </a:spcBef>
                  <a:spcAft>
                    <a:spcPts val="800"/>
                  </a:spcAft>
                  <a:buFontTx/>
                  <a:buChar char="•"/>
                </a:pPr>
                <a:r>
                  <a:rPr lang="en-US" altLang="en-US" sz="2200" b="0" dirty="0"/>
                  <a:t>P(Z&lt;-b)=</a:t>
                </a:r>
                <a:r>
                  <a:rPr lang="el-GR" altLang="en-US" sz="2200" b="0" dirty="0"/>
                  <a:t>α</a:t>
                </a:r>
                <a:r>
                  <a:rPr lang="en-US" altLang="en-US" sz="2200" b="0" dirty="0"/>
                  <a:t>/2</a:t>
                </a:r>
              </a:p>
              <a:p>
                <a:pPr marL="285750" lvl="1" indent="-285750">
                  <a:lnSpc>
                    <a:spcPct val="107000"/>
                  </a:lnSpc>
                  <a:spcBef>
                    <a:spcPts val="0"/>
                  </a:spcBef>
                  <a:spcAft>
                    <a:spcPts val="800"/>
                  </a:spcAft>
                  <a:buFontTx/>
                  <a:buChar char="•"/>
                </a:pPr>
                <a:r>
                  <a:rPr lang="en-US" altLang="en-US" sz="2200" b="0" dirty="0">
                    <a:sym typeface="Wingdings" panose="05000000000000000000" pitchFamily="2" charset="2"/>
                  </a:rPr>
                  <a:t></a:t>
                </a:r>
                <a:r>
                  <a:rPr lang="en-US" altLang="en-US" sz="2200" b="0" dirty="0"/>
                  <a:t>b</a:t>
                </a:r>
                <a:r>
                  <a:rPr lang="en-US" altLang="en-US" sz="2200" b="0" dirty="0">
                    <a:solidFill>
                      <a:schemeClr val="tx1"/>
                    </a:solidFill>
                  </a:rPr>
                  <a:t>=</a:t>
                </a:r>
                <a14:m>
                  <m:oMath xmlns:m="http://schemas.openxmlformats.org/officeDocument/2006/math">
                    <m:sSub>
                      <m:sSubPr>
                        <m:ctrlPr>
                          <a:rPr lang="vi-VN" sz="2400" b="0" i="1">
                            <a:latin typeface="Cambria Math" panose="02040503050406030204" pitchFamily="18" charset="0"/>
                          </a:rPr>
                        </m:ctrlPr>
                      </m:sSubPr>
                      <m:e>
                        <m:r>
                          <a:rPr lang="vi-VN" sz="2400" b="0" i="1">
                            <a:latin typeface="Cambria Math"/>
                          </a:rPr>
                          <m:t>𝑧</m:t>
                        </m:r>
                      </m:e>
                      <m:sub>
                        <m:r>
                          <a:rPr lang="vi-VN" sz="2400" b="0" i="1">
                            <a:latin typeface="Cambria Math"/>
                            <a:ea typeface="Cambria Math"/>
                          </a:rPr>
                          <m:t>𝛼</m:t>
                        </m:r>
                        <m:r>
                          <a:rPr lang="vi-VN" sz="2400" b="0" i="1">
                            <a:latin typeface="Cambria Math"/>
                            <a:ea typeface="Cambria Math"/>
                          </a:rPr>
                          <m:t>/2</m:t>
                        </m:r>
                      </m:sub>
                    </m:sSub>
                  </m:oMath>
                </a14:m>
                <a:endParaRPr lang="en-US" altLang="en-US" sz="2200" b="0" dirty="0">
                  <a:solidFill>
                    <a:schemeClr val="tx1"/>
                  </a:solidFill>
                </a:endParaRPr>
              </a:p>
              <a:p>
                <a:pPr marL="285750" lvl="1" indent="-285750">
                  <a:lnSpc>
                    <a:spcPct val="107000"/>
                  </a:lnSpc>
                  <a:spcBef>
                    <a:spcPts val="0"/>
                  </a:spcBef>
                  <a:spcAft>
                    <a:spcPts val="800"/>
                  </a:spcAft>
                  <a:buFontTx/>
                  <a:buChar char="•"/>
                </a:pPr>
                <a:r>
                  <a:rPr lang="en-US" altLang="en-US" sz="2200" b="0" dirty="0" err="1"/>
                  <a:t>Tra</a:t>
                </a:r>
                <a:r>
                  <a:rPr lang="en-US" altLang="en-US" sz="2200" b="0" dirty="0"/>
                  <a:t> </a:t>
                </a:r>
                <a:r>
                  <a:rPr lang="en-US" altLang="en-US" sz="2200" b="0" dirty="0" err="1"/>
                  <a:t>bảng</a:t>
                </a:r>
                <a:r>
                  <a:rPr lang="en-US" altLang="en-US" sz="2200" b="0" dirty="0"/>
                  <a:t> Z </a:t>
                </a:r>
                <a:r>
                  <a:rPr lang="en-US" altLang="en-US" sz="2200" b="0" dirty="0">
                    <a:sym typeface="Wingdings" panose="05000000000000000000" pitchFamily="2" charset="2"/>
                  </a:rPr>
                  <a:t></a:t>
                </a:r>
                <a:r>
                  <a:rPr lang="en-US" altLang="en-US" sz="2200" b="0" dirty="0"/>
                  <a:t>b=</a:t>
                </a:r>
                <a14:m>
                  <m:oMath xmlns:m="http://schemas.openxmlformats.org/officeDocument/2006/math">
                    <m:sSub>
                      <m:sSubPr>
                        <m:ctrlPr>
                          <a:rPr lang="vi-VN" b="0" i="1">
                            <a:latin typeface="Cambria Math" panose="02040503050406030204" pitchFamily="18" charset="0"/>
                          </a:rPr>
                        </m:ctrlPr>
                      </m:sSubPr>
                      <m:e>
                        <m:r>
                          <a:rPr lang="vi-VN" b="0" i="1">
                            <a:latin typeface="Cambria Math"/>
                          </a:rPr>
                          <m:t>𝑧</m:t>
                        </m:r>
                      </m:e>
                      <m:sub>
                        <m:r>
                          <a:rPr lang="vi-VN" b="0" i="1">
                            <a:latin typeface="Cambria Math"/>
                            <a:ea typeface="Cambria Math"/>
                          </a:rPr>
                          <m:t>𝛼</m:t>
                        </m:r>
                        <m:r>
                          <a:rPr lang="vi-VN" b="0" i="1">
                            <a:latin typeface="Cambria Math"/>
                            <a:ea typeface="Cambria Math"/>
                          </a:rPr>
                          <m:t>/2</m:t>
                        </m:r>
                      </m:sub>
                    </m:sSub>
                  </m:oMath>
                </a14:m>
                <a:r>
                  <a:rPr lang="en-US" altLang="en-US" sz="2200" b="0" dirty="0"/>
                  <a:t>=1.95</a:t>
                </a:r>
                <a:r>
                  <a:rPr lang="en-US" altLang="en-US" sz="2200" b="0" dirty="0">
                    <a:solidFill>
                      <a:schemeClr val="tx1"/>
                    </a:solidFill>
                  </a:rPr>
                  <a:t> </a:t>
                </a:r>
                <a:endParaRPr lang="en-US" sz="2200" b="0" kern="0" dirty="0">
                  <a:solidFill>
                    <a:schemeClr val="tx1"/>
                  </a:solidFill>
                  <a:ea typeface="Calibri" panose="020F0502020204030204" pitchFamily="34" charset="0"/>
                  <a:cs typeface="Times New Roman" panose="02020603050405020304" pitchFamily="18" charset="0"/>
                </a:endParaRPr>
              </a:p>
              <a:p>
                <a:pPr>
                  <a:lnSpc>
                    <a:spcPct val="107000"/>
                  </a:lnSpc>
                  <a:spcBef>
                    <a:spcPts val="0"/>
                  </a:spcBef>
                  <a:spcAft>
                    <a:spcPts val="800"/>
                  </a:spcAft>
                </a:pPr>
                <a:endParaRPr lang="en-US" sz="2200" b="0" kern="0" dirty="0">
                  <a:ea typeface="Calibri" panose="020F0502020204030204" pitchFamily="34" charset="0"/>
                  <a:cs typeface="Times New Roman" panose="02020603050405020304" pitchFamily="18" charset="0"/>
                </a:endParaRPr>
              </a:p>
              <a:p>
                <a:pPr>
                  <a:lnSpc>
                    <a:spcPct val="107000"/>
                  </a:lnSpc>
                  <a:spcBef>
                    <a:spcPts val="0"/>
                  </a:spcBef>
                  <a:spcAft>
                    <a:spcPts val="800"/>
                  </a:spcAft>
                </a:pPr>
                <a:endParaRPr lang="en-US" sz="2200" b="0" kern="0" dirty="0">
                  <a:ea typeface="Calibri" panose="020F0502020204030204" pitchFamily="34" charset="0"/>
                  <a:cs typeface="Times New Roman" panose="02020603050405020304" pitchFamily="18" charset="0"/>
                </a:endParaRPr>
              </a:p>
              <a:p>
                <a:pPr>
                  <a:lnSpc>
                    <a:spcPct val="107000"/>
                  </a:lnSpc>
                  <a:spcBef>
                    <a:spcPts val="0"/>
                  </a:spcBef>
                  <a:spcAft>
                    <a:spcPts val="800"/>
                  </a:spcAft>
                </a:pPr>
                <a:endParaRPr lang="en-US" sz="2200" b="0" kern="0" dirty="0">
                  <a:ea typeface="Calibri" panose="020F0502020204030204" pitchFamily="34" charset="0"/>
                  <a:cs typeface="Times New Roman" panose="02020603050405020304" pitchFamily="18" charset="0"/>
                </a:endParaRP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0" y="838200"/>
                <a:ext cx="9144000" cy="2286000"/>
              </a:xfrm>
              <a:prstGeom prst="rect">
                <a:avLst/>
              </a:prstGeom>
              <a:blipFill>
                <a:blip r:embed="rId4"/>
                <a:stretch>
                  <a:fillRect l="-800" t="-1867" b="-145600"/>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6" name="Picture 5"/>
          <p:cNvPicPr/>
          <p:nvPr/>
        </p:nvPicPr>
        <p:blipFill>
          <a:blip r:embed="rId5" cstate="print">
            <a:extLst>
              <a:ext uri="{28A0092B-C50C-407E-A947-70E740481C1C}">
                <a14:useLocalDpi xmlns:a14="http://schemas.microsoft.com/office/drawing/2010/main" val="0"/>
              </a:ext>
            </a:extLst>
          </a:blip>
          <a:stretch>
            <a:fillRect/>
          </a:stretch>
        </p:blipFill>
        <p:spPr>
          <a:xfrm>
            <a:off x="4269924" y="4495800"/>
            <a:ext cx="3731076" cy="1703186"/>
          </a:xfrm>
          <a:prstGeom prst="rect">
            <a:avLst/>
          </a:prstGeom>
        </p:spPr>
      </p:pic>
      <p:cxnSp>
        <p:nvCxnSpPr>
          <p:cNvPr id="7" name="Straight Connector 6"/>
          <p:cNvCxnSpPr/>
          <p:nvPr/>
        </p:nvCxnSpPr>
        <p:spPr bwMode="auto">
          <a:xfrm flipV="1">
            <a:off x="6076406" y="4733493"/>
            <a:ext cx="0" cy="1283341"/>
          </a:xfrm>
          <a:prstGeom prst="line">
            <a:avLst/>
          </a:prstGeom>
          <a:solidFill>
            <a:srgbClr val="144097"/>
          </a:solidFill>
          <a:ln w="127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6566919" y="5495219"/>
            <a:ext cx="0" cy="518068"/>
          </a:xfrm>
          <a:prstGeom prst="line">
            <a:avLst/>
          </a:prstGeom>
          <a:solidFill>
            <a:srgbClr val="144097"/>
          </a:solidFill>
          <a:ln w="12700" cap="flat" cmpd="sng" algn="ctr">
            <a:solidFill>
              <a:schemeClr val="tx1"/>
            </a:solidFill>
            <a:prstDash val="solid"/>
            <a:round/>
            <a:headEnd type="none" w="med" len="med"/>
            <a:tailEnd type="none" w="med" len="med"/>
          </a:ln>
          <a:effectLst/>
        </p:spPr>
      </p:cxnSp>
      <p:sp>
        <p:nvSpPr>
          <p:cNvPr id="9" name="TextBox 8"/>
          <p:cNvSpPr txBox="1"/>
          <p:nvPr/>
        </p:nvSpPr>
        <p:spPr>
          <a:xfrm>
            <a:off x="5965819" y="6031027"/>
            <a:ext cx="308576" cy="400110"/>
          </a:xfrm>
          <a:prstGeom prst="rect">
            <a:avLst/>
          </a:prstGeom>
          <a:noFill/>
        </p:spPr>
        <p:txBody>
          <a:bodyPr wrap="square" rtlCol="0">
            <a:spAutoFit/>
          </a:bodyPr>
          <a:lstStyle/>
          <a:p>
            <a:r>
              <a:rPr lang="en-US" dirty="0"/>
              <a:t>0</a:t>
            </a:r>
          </a:p>
        </p:txBody>
      </p:sp>
      <p:sp>
        <p:nvSpPr>
          <p:cNvPr id="10" name="TextBox 9"/>
          <p:cNvSpPr txBox="1"/>
          <p:nvPr/>
        </p:nvSpPr>
        <p:spPr>
          <a:xfrm>
            <a:off x="5378986" y="6023012"/>
            <a:ext cx="499431" cy="400110"/>
          </a:xfrm>
          <a:prstGeom prst="rect">
            <a:avLst/>
          </a:prstGeom>
          <a:noFill/>
        </p:spPr>
        <p:txBody>
          <a:bodyPr wrap="square" rtlCol="0">
            <a:spAutoFit/>
          </a:bodyPr>
          <a:lstStyle/>
          <a:p>
            <a:r>
              <a:rPr lang="en-US" dirty="0"/>
              <a:t>-b</a:t>
            </a:r>
          </a:p>
        </p:txBody>
      </p:sp>
      <p:sp>
        <p:nvSpPr>
          <p:cNvPr id="11" name="TextBox 10"/>
          <p:cNvSpPr txBox="1"/>
          <p:nvPr/>
        </p:nvSpPr>
        <p:spPr>
          <a:xfrm>
            <a:off x="6440277" y="6025114"/>
            <a:ext cx="686718" cy="400110"/>
          </a:xfrm>
          <a:prstGeom prst="rect">
            <a:avLst/>
          </a:prstGeom>
          <a:noFill/>
        </p:spPr>
        <p:txBody>
          <a:bodyPr wrap="square" rtlCol="0">
            <a:spAutoFit/>
          </a:bodyPr>
          <a:lstStyle/>
          <a:p>
            <a:r>
              <a:rPr lang="en-US" dirty="0"/>
              <a:t>b</a:t>
            </a:r>
          </a:p>
        </p:txBody>
      </p:sp>
      <p:cxnSp>
        <p:nvCxnSpPr>
          <p:cNvPr id="12" name="Straight Connector 11"/>
          <p:cNvCxnSpPr/>
          <p:nvPr/>
        </p:nvCxnSpPr>
        <p:spPr bwMode="auto">
          <a:xfrm>
            <a:off x="5585892" y="5495219"/>
            <a:ext cx="0" cy="518068"/>
          </a:xfrm>
          <a:prstGeom prst="line">
            <a:avLst/>
          </a:prstGeom>
          <a:solidFill>
            <a:srgbClr val="144097"/>
          </a:solidFill>
          <a:ln w="12700" cap="flat" cmpd="sng" algn="ctr">
            <a:solidFill>
              <a:schemeClr val="tx1"/>
            </a:solidFill>
            <a:prstDash val="solid"/>
            <a:round/>
            <a:headEnd type="none" w="med" len="med"/>
            <a:tailEnd type="none" w="med" len="med"/>
          </a:ln>
          <a:effectLst/>
        </p:spPr>
      </p:cxnSp>
      <p:sp>
        <p:nvSpPr>
          <p:cNvPr id="13" name="TextBox 12"/>
          <p:cNvSpPr txBox="1"/>
          <p:nvPr/>
        </p:nvSpPr>
        <p:spPr>
          <a:xfrm>
            <a:off x="4114800" y="5105400"/>
            <a:ext cx="1560723" cy="399387"/>
          </a:xfrm>
          <a:prstGeom prst="rect">
            <a:avLst/>
          </a:prstGeom>
          <a:noFill/>
        </p:spPr>
        <p:txBody>
          <a:bodyPr wrap="square" rtlCol="0">
            <a:spAutoFit/>
          </a:bodyPr>
          <a:lstStyle/>
          <a:p>
            <a:r>
              <a:rPr lang="en-US" dirty="0"/>
              <a:t>P(Z&lt;-b)</a:t>
            </a:r>
          </a:p>
        </p:txBody>
      </p:sp>
      <p:sp>
        <p:nvSpPr>
          <p:cNvPr id="14" name="TextBox 13"/>
          <p:cNvSpPr txBox="1"/>
          <p:nvPr/>
        </p:nvSpPr>
        <p:spPr>
          <a:xfrm>
            <a:off x="6877280" y="5619413"/>
            <a:ext cx="2266720" cy="400110"/>
          </a:xfrm>
          <a:prstGeom prst="rect">
            <a:avLst/>
          </a:prstGeom>
          <a:noFill/>
        </p:spPr>
        <p:txBody>
          <a:bodyPr wrap="square" rtlCol="0">
            <a:spAutoFit/>
          </a:bodyPr>
          <a:lstStyle/>
          <a:p>
            <a:r>
              <a:rPr lang="en-US" dirty="0"/>
              <a:t>(1-0.95)/2=0.025</a:t>
            </a:r>
          </a:p>
        </p:txBody>
      </p:sp>
      <p:sp>
        <p:nvSpPr>
          <p:cNvPr id="15" name="TextBox 14"/>
          <p:cNvSpPr txBox="1"/>
          <p:nvPr/>
        </p:nvSpPr>
        <p:spPr>
          <a:xfrm>
            <a:off x="3505200" y="5619413"/>
            <a:ext cx="2209800" cy="400110"/>
          </a:xfrm>
          <a:prstGeom prst="rect">
            <a:avLst/>
          </a:prstGeom>
          <a:noFill/>
        </p:spPr>
        <p:txBody>
          <a:bodyPr wrap="square" rtlCol="0">
            <a:spAutoFit/>
          </a:bodyPr>
          <a:lstStyle/>
          <a:p>
            <a:r>
              <a:rPr lang="en-US" dirty="0"/>
              <a:t>(1-0.95)/2=0.025</a:t>
            </a:r>
          </a:p>
        </p:txBody>
      </p:sp>
      <p:sp>
        <p:nvSpPr>
          <p:cNvPr id="16" name="TextBox 15"/>
          <p:cNvSpPr txBox="1"/>
          <p:nvPr/>
        </p:nvSpPr>
        <p:spPr>
          <a:xfrm>
            <a:off x="5691130" y="5329626"/>
            <a:ext cx="938270" cy="400110"/>
          </a:xfrm>
          <a:prstGeom prst="rect">
            <a:avLst/>
          </a:prstGeom>
          <a:noFill/>
        </p:spPr>
        <p:txBody>
          <a:bodyPr wrap="square" rtlCol="0">
            <a:spAutoFit/>
          </a:bodyPr>
          <a:lstStyle/>
          <a:p>
            <a:r>
              <a:rPr lang="en-US" dirty="0"/>
              <a:t>0.95</a:t>
            </a:r>
          </a:p>
        </p:txBody>
      </p:sp>
      <p:cxnSp>
        <p:nvCxnSpPr>
          <p:cNvPr id="17" name="Straight Connector 16"/>
          <p:cNvCxnSpPr/>
          <p:nvPr/>
        </p:nvCxnSpPr>
        <p:spPr bwMode="auto">
          <a:xfrm>
            <a:off x="5889119" y="4922742"/>
            <a:ext cx="374573"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78417" y="4998442"/>
            <a:ext cx="437002"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5815988" y="5081238"/>
            <a:ext cx="56186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5753559" y="5164034"/>
            <a:ext cx="66531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5715000" y="5257800"/>
            <a:ext cx="749147"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5587677" y="5937587"/>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5587677" y="5861888"/>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5587677" y="5793286"/>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5585892" y="5723500"/>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5585892" y="5653714"/>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5612674" y="5499463"/>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5588726" y="5575663"/>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5625737" y="5436326"/>
            <a:ext cx="93643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5701937" y="5347063"/>
            <a:ext cx="811576"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5651863" y="5347063"/>
            <a:ext cx="811576"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32" name="Object 3"/>
          <p:cNvGraphicFramePr>
            <a:graphicFrameLocks noChangeAspect="1"/>
          </p:cNvGraphicFramePr>
          <p:nvPr>
            <p:extLst>
              <p:ext uri="{D42A27DB-BD31-4B8C-83A1-F6EECF244321}">
                <p14:modId xmlns:p14="http://schemas.microsoft.com/office/powerpoint/2010/main" val="1541954802"/>
              </p:ext>
            </p:extLst>
          </p:nvPr>
        </p:nvGraphicFramePr>
        <p:xfrm>
          <a:off x="6248400" y="1219200"/>
          <a:ext cx="1905000" cy="685800"/>
        </p:xfrm>
        <a:graphic>
          <a:graphicData uri="http://schemas.openxmlformats.org/presentationml/2006/ole">
            <mc:AlternateContent xmlns:mc="http://schemas.openxmlformats.org/markup-compatibility/2006">
              <mc:Choice xmlns:v="urn:schemas-microsoft-com:vml" Requires="v">
                <p:oleObj name="Equation" r:id="rId6" imgW="736560" imgH="393480" progId="Equation.DSMT4">
                  <p:embed/>
                </p:oleObj>
              </mc:Choice>
              <mc:Fallback>
                <p:oleObj name="Equation" r:id="rId6" imgW="736560" imgH="393480" progId="Equation.DSMT4">
                  <p:embed/>
                  <p:pic>
                    <p:nvPicPr>
                      <p:cNvPr id="4098"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8400" y="1219200"/>
                        <a:ext cx="1905000" cy="685800"/>
                      </a:xfrm>
                      <a:prstGeom prst="rect">
                        <a:avLst/>
                      </a:prstGeom>
                      <a:noFill/>
                    </p:spPr>
                  </p:pic>
                </p:oleObj>
              </mc:Fallback>
            </mc:AlternateContent>
          </a:graphicData>
        </a:graphic>
      </p:graphicFrame>
    </p:spTree>
    <p:extLst>
      <p:ext uri="{BB962C8B-B14F-4D97-AF65-F5344CB8AC3E}">
        <p14:creationId xmlns:p14="http://schemas.microsoft.com/office/powerpoint/2010/main" val="79881944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6"/>
          <p:cNvSpPr>
            <a:spLocks noGrp="1" noChangeArrowheads="1"/>
          </p:cNvSpPr>
          <p:nvPr>
            <p:ph type="title" idx="4294967295"/>
          </p:nvPr>
        </p:nvSpPr>
        <p:spPr bwMode="auto">
          <a:xfrm>
            <a:off x="0" y="381000"/>
            <a:ext cx="9144000" cy="838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a:lnSpc>
                <a:spcPct val="125000"/>
              </a:lnSpc>
              <a:spcBef>
                <a:spcPct val="4000"/>
              </a:spcBef>
            </a:pPr>
            <a:r>
              <a:rPr lang="en-US" altLang="en-US" dirty="0" err="1"/>
              <a:t>Ví</a:t>
            </a:r>
            <a:r>
              <a:rPr lang="en-US" altLang="en-US" dirty="0"/>
              <a:t> </a:t>
            </a:r>
            <a:r>
              <a:rPr lang="en-US" altLang="en-US" dirty="0" err="1"/>
              <a:t>dụ</a:t>
            </a:r>
            <a:endParaRPr lang="en-US" altLang="en-US" dirty="0">
              <a:solidFill>
                <a:schemeClr val="tx1"/>
              </a:solidFill>
            </a:endParaRP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0" y="838200"/>
                <a:ext cx="9144000" cy="2286000"/>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0488" tIns="44450" rIns="90488" bIns="44450"/>
              <a:lstStyle>
                <a:lvl1pPr marL="285750" indent="-285750" algn="l" rtl="0" eaLnBrk="0" fontAlgn="base" hangingPunct="0">
                  <a:lnSpc>
                    <a:spcPct val="90000"/>
                  </a:lnSpc>
                  <a:spcBef>
                    <a:spcPct val="30000"/>
                  </a:spcBef>
                  <a:spcAft>
                    <a:spcPct val="0"/>
                  </a:spcAft>
                  <a:buSzPct val="100000"/>
                  <a:buChar char="•"/>
                  <a:defRPr sz="2400" b="1">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tx1"/>
                    </a:solidFill>
                    <a:latin typeface="+mn-lt"/>
                  </a:defRPr>
                </a:lvl2pPr>
                <a:lvl3pPr marL="1143000" indent="-228600" algn="l" rtl="0" eaLnBrk="0" fontAlgn="base" hangingPunct="0">
                  <a:lnSpc>
                    <a:spcPct val="90000"/>
                  </a:lnSpc>
                  <a:spcBef>
                    <a:spcPct val="30000"/>
                  </a:spcBef>
                  <a:spcAft>
                    <a:spcPct val="0"/>
                  </a:spcAft>
                  <a:buSzPct val="100000"/>
                  <a:buChar char="»"/>
                  <a:defRPr b="1">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defRPr>
                </a:lvl4pPr>
                <a:lvl5pPr marL="2000250" indent="-171450" algn="ctr" rtl="0" eaLnBrk="0" fontAlgn="base" hangingPunct="0">
                  <a:lnSpc>
                    <a:spcPct val="90000"/>
                  </a:lnSpc>
                  <a:spcBef>
                    <a:spcPct val="30000"/>
                  </a:spcBef>
                  <a:spcAft>
                    <a:spcPct val="0"/>
                  </a:spcAft>
                  <a:defRPr sz="800">
                    <a:solidFill>
                      <a:schemeClr val="tx1"/>
                    </a:solidFill>
                    <a:latin typeface="Times New Roman" pitchFamily="18" charset="0"/>
                  </a:defRPr>
                </a:lvl5pPr>
                <a:lvl6pPr marL="2457450" indent="-171450" algn="ctr" rtl="0" eaLnBrk="0" fontAlgn="base" hangingPunct="0">
                  <a:lnSpc>
                    <a:spcPct val="90000"/>
                  </a:lnSpc>
                  <a:spcBef>
                    <a:spcPct val="30000"/>
                  </a:spcBef>
                  <a:spcAft>
                    <a:spcPct val="0"/>
                  </a:spcAft>
                  <a:defRPr sz="800">
                    <a:solidFill>
                      <a:schemeClr val="tx1"/>
                    </a:solidFill>
                    <a:latin typeface="Times New Roman" pitchFamily="18" charset="0"/>
                  </a:defRPr>
                </a:lvl6pPr>
                <a:lvl7pPr marL="2914650" indent="-171450" algn="ctr" rtl="0" eaLnBrk="0" fontAlgn="base" hangingPunct="0">
                  <a:lnSpc>
                    <a:spcPct val="90000"/>
                  </a:lnSpc>
                  <a:spcBef>
                    <a:spcPct val="30000"/>
                  </a:spcBef>
                  <a:spcAft>
                    <a:spcPct val="0"/>
                  </a:spcAft>
                  <a:defRPr sz="800">
                    <a:solidFill>
                      <a:schemeClr val="tx1"/>
                    </a:solidFill>
                    <a:latin typeface="Times New Roman" pitchFamily="18" charset="0"/>
                  </a:defRPr>
                </a:lvl7pPr>
                <a:lvl8pPr marL="3371850" indent="-171450" algn="ctr" rtl="0" eaLnBrk="0" fontAlgn="base" hangingPunct="0">
                  <a:lnSpc>
                    <a:spcPct val="90000"/>
                  </a:lnSpc>
                  <a:spcBef>
                    <a:spcPct val="30000"/>
                  </a:spcBef>
                  <a:spcAft>
                    <a:spcPct val="0"/>
                  </a:spcAft>
                  <a:defRPr sz="800">
                    <a:solidFill>
                      <a:schemeClr val="tx1"/>
                    </a:solidFill>
                    <a:latin typeface="Times New Roman" pitchFamily="18" charset="0"/>
                  </a:defRPr>
                </a:lvl8pPr>
                <a:lvl9pPr marL="3829050" indent="-171450" algn="ctr" rtl="0" eaLnBrk="0" fontAlgn="base" hangingPunct="0">
                  <a:lnSpc>
                    <a:spcPct val="90000"/>
                  </a:lnSpc>
                  <a:spcBef>
                    <a:spcPct val="30000"/>
                  </a:spcBef>
                  <a:spcAft>
                    <a:spcPct val="0"/>
                  </a:spcAft>
                  <a:defRPr sz="800">
                    <a:solidFill>
                      <a:schemeClr val="tx1"/>
                    </a:solidFill>
                    <a:latin typeface="Times New Roman" pitchFamily="18" charset="0"/>
                  </a:defRPr>
                </a:lvl9pPr>
              </a:lstStyle>
              <a:p>
                <a:pPr marL="457200" lvl="1" indent="0">
                  <a:lnSpc>
                    <a:spcPct val="107000"/>
                  </a:lnSpc>
                  <a:spcBef>
                    <a:spcPts val="0"/>
                  </a:spcBef>
                  <a:spcAft>
                    <a:spcPts val="800"/>
                  </a:spcAft>
                  <a:buNone/>
                </a:pPr>
                <a:r>
                  <a:rPr lang="en-US" altLang="en-US" sz="2400" b="0" dirty="0">
                    <a:solidFill>
                      <a:srgbClr val="FF0000"/>
                    </a:solidFill>
                  </a:rPr>
                  <a:t>	</a:t>
                </a:r>
                <a:r>
                  <a:rPr lang="en-US" altLang="en-US" sz="2400" b="0" dirty="0"/>
                  <a:t>P (</a:t>
                </a:r>
                <a14:m>
                  <m:oMath xmlns:m="http://schemas.openxmlformats.org/officeDocument/2006/math">
                    <m:f>
                      <m:fPr>
                        <m:ctrlPr>
                          <a:rPr lang="en-US" altLang="en-US" sz="2400" b="0" i="1">
                            <a:latin typeface="Cambria Math" panose="02040503050406030204" pitchFamily="18" charset="0"/>
                          </a:rPr>
                        </m:ctrlPr>
                      </m:fPr>
                      <m:num>
                        <m:r>
                          <a:rPr lang="en-US" altLang="en-US" sz="2400" b="0" i="1">
                            <a:latin typeface="Cambria Math" panose="02040503050406030204" pitchFamily="18" charset="0"/>
                          </a:rPr>
                          <m:t>−</m:t>
                        </m:r>
                        <m:r>
                          <a:rPr lang="en-US" altLang="en-US" sz="2400" b="0" i="1" smtClean="0">
                            <a:latin typeface="Cambria Math" panose="02040503050406030204" pitchFamily="18" charset="0"/>
                          </a:rPr>
                          <m:t>𝐸</m:t>
                        </m:r>
                      </m:num>
                      <m:den>
                        <m:f>
                          <m:fPr>
                            <m:ctrlPr>
                              <a:rPr lang="en-US" altLang="en-US" sz="2400" b="0" i="1">
                                <a:latin typeface="Cambria Math" panose="02040503050406030204" pitchFamily="18" charset="0"/>
                              </a:rPr>
                            </m:ctrlPr>
                          </m:fPr>
                          <m:num>
                            <m:r>
                              <m:rPr>
                                <m:sty m:val="p"/>
                              </m:rPr>
                              <a:rPr lang="en-US" altLang="en-US" sz="2400" b="0" i="1">
                                <a:latin typeface="Cambria Math" panose="02040503050406030204" pitchFamily="18" charset="0"/>
                              </a:rPr>
                              <m:t>σ</m:t>
                            </m:r>
                          </m:num>
                          <m:den>
                            <m:rad>
                              <m:radPr>
                                <m:degHide m:val="on"/>
                                <m:ctrlPr>
                                  <a:rPr lang="en-US" altLang="en-US" sz="2400" b="0" i="1">
                                    <a:latin typeface="Cambria Math" panose="02040503050406030204" pitchFamily="18" charset="0"/>
                                  </a:rPr>
                                </m:ctrlPr>
                              </m:radPr>
                              <m:deg/>
                              <m:e>
                                <m:r>
                                  <a:rPr lang="en-US" altLang="en-US" sz="2400" b="0" i="1">
                                    <a:latin typeface="Cambria Math" panose="02040503050406030204" pitchFamily="18" charset="0"/>
                                  </a:rPr>
                                  <m:t>𝑛</m:t>
                                </m:r>
                              </m:e>
                            </m:rad>
                          </m:den>
                        </m:f>
                      </m:den>
                    </m:f>
                  </m:oMath>
                </a14:m>
                <a:r>
                  <a:rPr lang="en-US" altLang="en-US" sz="2400" b="0" dirty="0"/>
                  <a:t>&lt;Z&lt;</a:t>
                </a:r>
                <a14:m>
                  <m:oMath xmlns:m="http://schemas.openxmlformats.org/officeDocument/2006/math">
                    <m:f>
                      <m:fPr>
                        <m:ctrlPr>
                          <a:rPr lang="en-US" altLang="en-US" sz="2400" b="0" i="1">
                            <a:latin typeface="Cambria Math" panose="02040503050406030204" pitchFamily="18" charset="0"/>
                          </a:rPr>
                        </m:ctrlPr>
                      </m:fPr>
                      <m:num>
                        <m:r>
                          <a:rPr lang="en-US" altLang="en-US" sz="2400" b="0" i="1" smtClean="0">
                            <a:latin typeface="Cambria Math" panose="02040503050406030204" pitchFamily="18" charset="0"/>
                          </a:rPr>
                          <m:t>𝐸</m:t>
                        </m:r>
                      </m:num>
                      <m:den>
                        <m:f>
                          <m:fPr>
                            <m:ctrlPr>
                              <a:rPr lang="en-US" altLang="en-US" sz="2400" b="0" i="1">
                                <a:latin typeface="Cambria Math" panose="02040503050406030204" pitchFamily="18" charset="0"/>
                              </a:rPr>
                            </m:ctrlPr>
                          </m:fPr>
                          <m:num>
                            <m:r>
                              <m:rPr>
                                <m:sty m:val="p"/>
                              </m:rPr>
                              <a:rPr lang="en-US" altLang="en-US" sz="2400" b="0" i="1">
                                <a:latin typeface="Cambria Math" panose="02040503050406030204" pitchFamily="18" charset="0"/>
                              </a:rPr>
                              <m:t>σ</m:t>
                            </m:r>
                          </m:num>
                          <m:den>
                            <m:rad>
                              <m:radPr>
                                <m:degHide m:val="on"/>
                                <m:ctrlPr>
                                  <a:rPr lang="en-US" altLang="en-US" sz="2400" b="0" i="1">
                                    <a:latin typeface="Cambria Math" panose="02040503050406030204" pitchFamily="18" charset="0"/>
                                  </a:rPr>
                                </m:ctrlPr>
                              </m:radPr>
                              <m:deg/>
                              <m:e>
                                <m:r>
                                  <a:rPr lang="en-US" altLang="en-US" sz="2400" b="0" i="1">
                                    <a:latin typeface="Cambria Math" panose="02040503050406030204" pitchFamily="18" charset="0"/>
                                  </a:rPr>
                                  <m:t>𝑛</m:t>
                                </m:r>
                              </m:e>
                            </m:rad>
                          </m:den>
                        </m:f>
                      </m:den>
                    </m:f>
                  </m:oMath>
                </a14:m>
                <a:r>
                  <a:rPr lang="en-US" altLang="en-US" sz="2400" b="0" dirty="0"/>
                  <a:t>) </a:t>
                </a:r>
                <a:r>
                  <a:rPr lang="en-US" altLang="en-US" sz="2400" b="0" dirty="0">
                    <a:solidFill>
                      <a:schemeClr val="tx1"/>
                    </a:solidFill>
                  </a:rPr>
                  <a:t>=P(-b&lt;Z&lt;b)</a:t>
                </a:r>
                <a:r>
                  <a:rPr lang="en-US" altLang="en-US" sz="2400" b="0" dirty="0"/>
                  <a:t>=1-</a:t>
                </a:r>
                <a:r>
                  <a:rPr lang="el-GR" altLang="en-US" sz="2400" b="0" dirty="0"/>
                  <a:t>α</a:t>
                </a:r>
                <a:endParaRPr lang="en-US" altLang="en-US" sz="2400" b="0" dirty="0">
                  <a:solidFill>
                    <a:schemeClr val="tx1"/>
                  </a:solidFill>
                </a:endParaRPr>
              </a:p>
              <a:p>
                <a:pPr marL="285750" lvl="1" indent="-285750">
                  <a:lnSpc>
                    <a:spcPct val="107000"/>
                  </a:lnSpc>
                  <a:spcBef>
                    <a:spcPts val="0"/>
                  </a:spcBef>
                  <a:spcAft>
                    <a:spcPts val="800"/>
                  </a:spcAft>
                  <a:buFontTx/>
                  <a:buChar char="•"/>
                </a:pPr>
                <a:r>
                  <a:rPr lang="en-US" altLang="en-US" sz="2400" b="0" dirty="0">
                    <a:solidFill>
                      <a:schemeClr val="tx1"/>
                    </a:solidFill>
                  </a:rPr>
                  <a:t> </a:t>
                </a:r>
                <a14:m>
                  <m:oMath xmlns:m="http://schemas.openxmlformats.org/officeDocument/2006/math">
                    <m:f>
                      <m:fPr>
                        <m:ctrlPr>
                          <a:rPr lang="en-US" altLang="en-US" sz="2400" b="0" i="1">
                            <a:latin typeface="Cambria Math" panose="02040503050406030204" pitchFamily="18" charset="0"/>
                          </a:rPr>
                        </m:ctrlPr>
                      </m:fPr>
                      <m:num>
                        <m:r>
                          <a:rPr lang="en-US" altLang="en-US" sz="2400" b="0" i="1">
                            <a:latin typeface="Cambria Math" panose="02040503050406030204" pitchFamily="18" charset="0"/>
                          </a:rPr>
                          <m:t>−</m:t>
                        </m:r>
                        <m:r>
                          <a:rPr lang="en-US" altLang="en-US" sz="2400" b="0" i="1" smtClean="0">
                            <a:latin typeface="Cambria Math" panose="02040503050406030204" pitchFamily="18" charset="0"/>
                          </a:rPr>
                          <m:t>𝐸</m:t>
                        </m:r>
                      </m:num>
                      <m:den>
                        <m:f>
                          <m:fPr>
                            <m:ctrlPr>
                              <a:rPr lang="en-US" altLang="en-US" sz="2400" b="0" i="1">
                                <a:latin typeface="Cambria Math" panose="02040503050406030204" pitchFamily="18" charset="0"/>
                              </a:rPr>
                            </m:ctrlPr>
                          </m:fPr>
                          <m:num>
                            <m:r>
                              <m:rPr>
                                <m:sty m:val="p"/>
                              </m:rPr>
                              <a:rPr lang="en-US" altLang="en-US" sz="2400" b="0" i="1">
                                <a:latin typeface="Cambria Math" panose="02040503050406030204" pitchFamily="18" charset="0"/>
                              </a:rPr>
                              <m:t>σ</m:t>
                            </m:r>
                          </m:num>
                          <m:den>
                            <m:rad>
                              <m:radPr>
                                <m:degHide m:val="on"/>
                                <m:ctrlPr>
                                  <a:rPr lang="en-US" altLang="en-US" sz="2400" b="0" i="1">
                                    <a:latin typeface="Cambria Math" panose="02040503050406030204" pitchFamily="18" charset="0"/>
                                  </a:rPr>
                                </m:ctrlPr>
                              </m:radPr>
                              <m:deg/>
                              <m:e>
                                <m:r>
                                  <a:rPr lang="en-US" altLang="en-US" sz="2400" b="0" i="1">
                                    <a:latin typeface="Cambria Math" panose="02040503050406030204" pitchFamily="18" charset="0"/>
                                  </a:rPr>
                                  <m:t>𝑛</m:t>
                                </m:r>
                              </m:e>
                            </m:rad>
                          </m:den>
                        </m:f>
                      </m:den>
                    </m:f>
                  </m:oMath>
                </a14:m>
                <a:r>
                  <a:rPr lang="en-US" sz="2400" b="0" kern="0" dirty="0">
                    <a:solidFill>
                      <a:schemeClr val="tx1"/>
                    </a:solidFill>
                    <a:ea typeface="Calibri" panose="020F0502020204030204" pitchFamily="34" charset="0"/>
                    <a:cs typeface="Times New Roman" panose="02020603050405020304" pitchFamily="18" charset="0"/>
                  </a:rPr>
                  <a:t>=</a:t>
                </a:r>
                <a:r>
                  <a:rPr lang="en-US" sz="2200" b="0" dirty="0"/>
                  <a:t> </a:t>
                </a:r>
                <a14:m>
                  <m:oMath xmlns:m="http://schemas.openxmlformats.org/officeDocument/2006/math">
                    <m:sSub>
                      <m:sSubPr>
                        <m:ctrlPr>
                          <a:rPr lang="vi-VN" sz="2400" b="0" i="1" smtClean="0">
                            <a:latin typeface="Cambria Math" panose="02040503050406030204" pitchFamily="18" charset="0"/>
                          </a:rPr>
                        </m:ctrlPr>
                      </m:sSubPr>
                      <m:e>
                        <m:r>
                          <a:rPr lang="en-US" sz="2400" b="0" i="1" smtClean="0">
                            <a:latin typeface="Cambria Math" panose="02040503050406030204" pitchFamily="18" charset="0"/>
                          </a:rPr>
                          <m:t>−</m:t>
                        </m:r>
                        <m:r>
                          <a:rPr lang="vi-VN" sz="2400" b="0" i="1">
                            <a:latin typeface="Cambria Math"/>
                          </a:rPr>
                          <m:t>𝑧</m:t>
                        </m:r>
                      </m:e>
                      <m:sub>
                        <m:r>
                          <a:rPr lang="vi-VN" sz="2400" b="0" i="1">
                            <a:latin typeface="Cambria Math"/>
                            <a:ea typeface="Cambria Math"/>
                          </a:rPr>
                          <m:t>𝛼</m:t>
                        </m:r>
                        <m:r>
                          <a:rPr lang="vi-VN" sz="2400" b="0" i="1">
                            <a:latin typeface="Cambria Math"/>
                            <a:ea typeface="Cambria Math"/>
                          </a:rPr>
                          <m:t>/2</m:t>
                        </m:r>
                      </m:sub>
                    </m:sSub>
                  </m:oMath>
                </a14:m>
                <a:r>
                  <a:rPr lang="en-US" sz="2400" b="0" kern="0" dirty="0">
                    <a:solidFill>
                      <a:schemeClr val="tx1"/>
                    </a:solidFill>
                    <a:ea typeface="Calibri" panose="020F0502020204030204" pitchFamily="34" charset="0"/>
                    <a:cs typeface="Times New Roman" panose="02020603050405020304" pitchFamily="18" charset="0"/>
                  </a:rPr>
                  <a:t> </a:t>
                </a:r>
                <a:r>
                  <a:rPr lang="en-US" sz="2400" b="0" kern="0" dirty="0">
                    <a:solidFill>
                      <a:schemeClr val="tx1"/>
                    </a:solidFill>
                    <a:ea typeface="Calibri" panose="020F0502020204030204" pitchFamily="34" charset="0"/>
                    <a:cs typeface="Times New Roman" panose="02020603050405020304" pitchFamily="18" charset="0"/>
                    <a:sym typeface="Wingdings" panose="05000000000000000000" pitchFamily="2" charset="2"/>
                  </a:rPr>
                  <a:t>E=</a:t>
                </a:r>
                <a14:m>
                  <m:oMath xmlns:m="http://schemas.openxmlformats.org/officeDocument/2006/math">
                    <m:sSub>
                      <m:sSubPr>
                        <m:ctrlPr>
                          <a:rPr lang="vi-VN" sz="2400" b="0" i="1">
                            <a:latin typeface="Cambria Math" panose="02040503050406030204" pitchFamily="18" charset="0"/>
                          </a:rPr>
                        </m:ctrlPr>
                      </m:sSubPr>
                      <m:e>
                        <m:r>
                          <a:rPr lang="vi-VN" sz="2400" b="0" i="1">
                            <a:latin typeface="Cambria Math"/>
                          </a:rPr>
                          <m:t>𝑧</m:t>
                        </m:r>
                      </m:e>
                      <m:sub>
                        <m:r>
                          <a:rPr lang="vi-VN" sz="2400" b="0" i="1">
                            <a:latin typeface="Cambria Math"/>
                            <a:ea typeface="Cambria Math"/>
                          </a:rPr>
                          <m:t>𝛼</m:t>
                        </m:r>
                        <m:r>
                          <a:rPr lang="vi-VN" sz="2400" b="0" i="1">
                            <a:latin typeface="Cambria Math"/>
                            <a:ea typeface="Cambria Math"/>
                          </a:rPr>
                          <m:t>/2</m:t>
                        </m:r>
                      </m:sub>
                    </m:sSub>
                  </m:oMath>
                </a14:m>
                <a:r>
                  <a:rPr lang="en-US" sz="2400" b="0" kern="0" dirty="0">
                    <a:solidFill>
                      <a:schemeClr val="tx1"/>
                    </a:solidFill>
                    <a:ea typeface="Calibri" panose="020F0502020204030204" pitchFamily="34" charset="0"/>
                    <a:cs typeface="Times New Roman" panose="02020603050405020304" pitchFamily="18" charset="0"/>
                    <a:sym typeface="Wingdings" panose="05000000000000000000" pitchFamily="2" charset="2"/>
                  </a:rPr>
                  <a:t>*</a:t>
                </a:r>
                <a14:m>
                  <m:oMath xmlns:m="http://schemas.openxmlformats.org/officeDocument/2006/math">
                    <m:f>
                      <m:fPr>
                        <m:ctrlPr>
                          <a:rPr lang="en-US" altLang="en-US" sz="2400" b="0" i="1">
                            <a:latin typeface="Cambria Math" panose="02040503050406030204" pitchFamily="18" charset="0"/>
                          </a:rPr>
                        </m:ctrlPr>
                      </m:fPr>
                      <m:num>
                        <m:r>
                          <m:rPr>
                            <m:sty m:val="p"/>
                          </m:rPr>
                          <a:rPr lang="en-US" altLang="en-US" sz="2400" b="0" i="1">
                            <a:latin typeface="Cambria Math" panose="02040503050406030204" pitchFamily="18" charset="0"/>
                          </a:rPr>
                          <m:t>σ</m:t>
                        </m:r>
                      </m:num>
                      <m:den>
                        <m:rad>
                          <m:radPr>
                            <m:degHide m:val="on"/>
                            <m:ctrlPr>
                              <a:rPr lang="en-US" altLang="en-US" sz="2400" b="0" i="1">
                                <a:latin typeface="Cambria Math" panose="02040503050406030204" pitchFamily="18" charset="0"/>
                              </a:rPr>
                            </m:ctrlPr>
                          </m:radPr>
                          <m:deg/>
                          <m:e>
                            <m:r>
                              <a:rPr lang="en-US" altLang="en-US" sz="2400" b="0" i="1">
                                <a:latin typeface="Cambria Math" panose="02040503050406030204" pitchFamily="18" charset="0"/>
                              </a:rPr>
                              <m:t>𝑛</m:t>
                            </m:r>
                          </m:e>
                        </m:rad>
                      </m:den>
                    </m:f>
                  </m:oMath>
                </a14:m>
                <a:r>
                  <a:rPr lang="en-US" sz="2400" b="0" kern="0" dirty="0">
                    <a:solidFill>
                      <a:schemeClr val="tx1"/>
                    </a:solidFill>
                    <a:ea typeface="Calibri" panose="020F0502020204030204" pitchFamily="34" charset="0"/>
                    <a:cs typeface="Times New Roman" panose="02020603050405020304" pitchFamily="18" charset="0"/>
                  </a:rPr>
                  <a:t>=1.95*</a:t>
                </a:r>
                <a14:m>
                  <m:oMath xmlns:m="http://schemas.openxmlformats.org/officeDocument/2006/math">
                    <m:f>
                      <m:fPr>
                        <m:ctrlPr>
                          <a:rPr lang="en-US" sz="2400" b="0" i="1" kern="0" smtClean="0">
                            <a:solidFill>
                              <a:schemeClr val="tx1"/>
                            </a:solidFill>
                            <a:latin typeface="Cambria Math" panose="02040503050406030204" pitchFamily="18" charset="0"/>
                            <a:cs typeface="Times New Roman" panose="02020603050405020304" pitchFamily="18" charset="0"/>
                          </a:rPr>
                        </m:ctrlPr>
                      </m:fPr>
                      <m:num>
                        <m:r>
                          <a:rPr lang="en-US" sz="2400" b="0" i="1" kern="0" smtClean="0">
                            <a:solidFill>
                              <a:schemeClr val="tx1"/>
                            </a:solidFill>
                            <a:latin typeface="Cambria Math" panose="02040503050406030204" pitchFamily="18" charset="0"/>
                            <a:cs typeface="Times New Roman" panose="02020603050405020304" pitchFamily="18" charset="0"/>
                          </a:rPr>
                          <m:t>5</m:t>
                        </m:r>
                      </m:num>
                      <m:den>
                        <m:rad>
                          <m:radPr>
                            <m:degHide m:val="on"/>
                            <m:ctrlPr>
                              <a:rPr lang="en-US" sz="2400" b="0" i="1" kern="0" smtClean="0">
                                <a:solidFill>
                                  <a:schemeClr val="tx1"/>
                                </a:solidFill>
                                <a:latin typeface="Cambria Math" panose="02040503050406030204" pitchFamily="18" charset="0"/>
                              </a:rPr>
                            </m:ctrlPr>
                          </m:radPr>
                          <m:deg/>
                          <m:e>
                            <m:r>
                              <a:rPr lang="en-US" sz="2400" b="0" i="1" kern="0" smtClean="0">
                                <a:solidFill>
                                  <a:schemeClr val="tx1"/>
                                </a:solidFill>
                                <a:latin typeface="Cambria Math" panose="02040503050406030204" pitchFamily="18" charset="0"/>
                              </a:rPr>
                              <m:t>35</m:t>
                            </m:r>
                          </m:e>
                        </m:rad>
                      </m:den>
                    </m:f>
                  </m:oMath>
                </a14:m>
                <a:r>
                  <a:rPr lang="en-US" sz="2400" b="0" kern="0" dirty="0">
                    <a:solidFill>
                      <a:schemeClr val="tx1"/>
                    </a:solidFill>
                    <a:ea typeface="Calibri" panose="020F0502020204030204" pitchFamily="34" charset="0"/>
                    <a:cs typeface="Times New Roman" panose="02020603050405020304" pitchFamily="18" charset="0"/>
                  </a:rPr>
                  <a:t>= 1.65</a:t>
                </a:r>
              </a:p>
              <a:p>
                <a:pPr>
                  <a:lnSpc>
                    <a:spcPct val="107000"/>
                  </a:lnSpc>
                  <a:spcBef>
                    <a:spcPts val="0"/>
                  </a:spcBef>
                  <a:spcAft>
                    <a:spcPts val="800"/>
                  </a:spcAft>
                </a:pPr>
                <a:r>
                  <a:rPr lang="en-US" b="0" kern="0" dirty="0" err="1">
                    <a:ea typeface="Calibri" panose="020F0502020204030204" pitchFamily="34" charset="0"/>
                    <a:cs typeface="Times New Roman" panose="02020603050405020304" pitchFamily="18" charset="0"/>
                  </a:rPr>
                  <a:t>Vậy</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khoảng</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ước</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lượng</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cho</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trung</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bình</a:t>
                </a:r>
                <a:r>
                  <a:rPr lang="en-US" b="0" kern="0" dirty="0">
                    <a:ea typeface="Calibri" panose="020F0502020204030204" pitchFamily="34" charset="0"/>
                    <a:cs typeface="Times New Roman" panose="02020603050405020304" pitchFamily="18" charset="0"/>
                  </a:rPr>
                  <a:t> µ </a:t>
                </a:r>
                <a:r>
                  <a:rPr lang="en-US" b="0" kern="0" dirty="0" err="1">
                    <a:ea typeface="Calibri" panose="020F0502020204030204" pitchFamily="34" charset="0"/>
                    <a:cs typeface="Times New Roman" panose="02020603050405020304" pitchFamily="18" charset="0"/>
                  </a:rPr>
                  <a:t>quần</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thể</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các</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bao</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gạo</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với</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độ</a:t>
                </a:r>
                <a:r>
                  <a:rPr lang="en-US" b="0" kern="0" dirty="0">
                    <a:ea typeface="Calibri" panose="020F0502020204030204" pitchFamily="34" charset="0"/>
                    <a:cs typeface="Times New Roman" panose="02020603050405020304" pitchFamily="18" charset="0"/>
                  </a:rPr>
                  <a:t> tin </a:t>
                </a:r>
                <a:r>
                  <a:rPr lang="en-US" b="0" kern="0" dirty="0" err="1">
                    <a:ea typeface="Calibri" panose="020F0502020204030204" pitchFamily="34" charset="0"/>
                    <a:cs typeface="Times New Roman" panose="02020603050405020304" pitchFamily="18" charset="0"/>
                  </a:rPr>
                  <a:t>cậy</a:t>
                </a:r>
                <a:r>
                  <a:rPr lang="en-US" b="0" kern="0" dirty="0">
                    <a:ea typeface="Calibri" panose="020F0502020204030204" pitchFamily="34" charset="0"/>
                    <a:cs typeface="Times New Roman" panose="02020603050405020304" pitchFamily="18" charset="0"/>
                  </a:rPr>
                  <a:t> </a:t>
                </a:r>
                <a:r>
                  <a:rPr lang="en-US" b="0" kern="0" dirty="0" err="1">
                    <a:ea typeface="Calibri" panose="020F0502020204030204" pitchFamily="34" charset="0"/>
                    <a:cs typeface="Times New Roman" panose="02020603050405020304" pitchFamily="18" charset="0"/>
                  </a:rPr>
                  <a:t>là</a:t>
                </a:r>
                <a:r>
                  <a:rPr lang="en-US" b="0" kern="0" dirty="0">
                    <a:ea typeface="Calibri" panose="020F0502020204030204" pitchFamily="34" charset="0"/>
                    <a:cs typeface="Times New Roman" panose="02020603050405020304" pitchFamily="18" charset="0"/>
                  </a:rPr>
                  <a:t> 0.95 </a:t>
                </a:r>
                <a:r>
                  <a:rPr lang="en-US" b="0" kern="0" dirty="0" err="1">
                    <a:ea typeface="Calibri" panose="020F0502020204030204" pitchFamily="34" charset="0"/>
                    <a:cs typeface="Times New Roman" panose="02020603050405020304" pitchFamily="18" charset="0"/>
                  </a:rPr>
                  <a:t>là</a:t>
                </a:r>
                <a:r>
                  <a:rPr lang="en-US" b="0" kern="0" dirty="0">
                    <a:ea typeface="Calibri" panose="020F0502020204030204" pitchFamily="34" charset="0"/>
                    <a:cs typeface="Times New Roman" panose="02020603050405020304" pitchFamily="18" charset="0"/>
                  </a:rPr>
                  <a:t> </a:t>
                </a:r>
                <a14:m>
                  <m:oMath xmlns:m="http://schemas.openxmlformats.org/officeDocument/2006/math">
                    <m:acc>
                      <m:accPr>
                        <m:chr m:val="̅"/>
                        <m:ctrlPr>
                          <a:rPr lang="en-US" altLang="en-US" b="0" i="1">
                            <a:latin typeface="Cambria Math" panose="02040503050406030204" pitchFamily="18" charset="0"/>
                          </a:rPr>
                        </m:ctrlPr>
                      </m:accPr>
                      <m:e>
                        <m:r>
                          <a:rPr lang="en-US" altLang="en-US" b="0" i="1">
                            <a:latin typeface="Cambria Math" panose="02040503050406030204" pitchFamily="18" charset="0"/>
                          </a:rPr>
                          <m:t>𝑋</m:t>
                        </m:r>
                      </m:e>
                    </m:acc>
                    <m:r>
                      <a:rPr lang="en-US" altLang="en-US" b="0" i="1">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𝐸</m:t>
                    </m:r>
                  </m:oMath>
                </a14:m>
                <a:r>
                  <a:rPr lang="en-US" b="0" kern="0" dirty="0">
                    <a:ea typeface="Calibri" panose="020F0502020204030204" pitchFamily="34" charset="0"/>
                    <a:cs typeface="Times New Roman" panose="02020603050405020304" pitchFamily="18" charset="0"/>
                  </a:rPr>
                  <a:t> hay</a:t>
                </a:r>
              </a:p>
              <a:p>
                <a:pPr marL="1371600" lvl="3" indent="0">
                  <a:lnSpc>
                    <a:spcPct val="107000"/>
                  </a:lnSpc>
                  <a:spcBef>
                    <a:spcPts val="0"/>
                  </a:spcBef>
                  <a:spcAft>
                    <a:spcPts val="800"/>
                  </a:spcAft>
                  <a:buNone/>
                </a:pPr>
                <a:r>
                  <a:rPr lang="en-US" sz="2400" b="0" kern="0" dirty="0">
                    <a:solidFill>
                      <a:srgbClr val="FF0000"/>
                    </a:solidFill>
                    <a:ea typeface="Calibri" panose="020F0502020204030204" pitchFamily="34" charset="0"/>
                    <a:cs typeface="Times New Roman" panose="02020603050405020304" pitchFamily="18" charset="0"/>
                  </a:rPr>
                  <a:t>362.3</a:t>
                </a:r>
                <a14:m>
                  <m:oMath xmlns:m="http://schemas.openxmlformats.org/officeDocument/2006/math">
                    <m:r>
                      <a:rPr lang="en-US" altLang="en-US" sz="2400" b="0" i="1">
                        <a:solidFill>
                          <a:srgbClr val="FF0000"/>
                        </a:solidFill>
                        <a:latin typeface="Cambria Math" panose="02040503050406030204" pitchFamily="18" charset="0"/>
                      </a:rPr>
                      <m:t>−</m:t>
                    </m:r>
                    <m:r>
                      <a:rPr lang="en-US" altLang="en-US" sz="2400" b="0" i="1" smtClean="0">
                        <a:solidFill>
                          <a:srgbClr val="FF0000"/>
                        </a:solidFill>
                        <a:latin typeface="Cambria Math" panose="02040503050406030204" pitchFamily="18" charset="0"/>
                      </a:rPr>
                      <m:t>1.65</m:t>
                    </m:r>
                    <m:r>
                      <a:rPr lang="en-US" altLang="en-US" sz="2400" b="0" i="1">
                        <a:solidFill>
                          <a:srgbClr val="FF0000"/>
                        </a:solidFill>
                        <a:latin typeface="Cambria Math" panose="02040503050406030204" pitchFamily="18" charset="0"/>
                      </a:rPr>
                      <m:t>&lt;µ&lt;</m:t>
                    </m:r>
                  </m:oMath>
                </a14:m>
                <a:r>
                  <a:rPr lang="en-US" altLang="en-US" sz="2400" b="0" dirty="0">
                    <a:solidFill>
                      <a:srgbClr val="FF0000"/>
                    </a:solidFill>
                  </a:rPr>
                  <a:t>  362.3</a:t>
                </a:r>
                <a14:m>
                  <m:oMath xmlns:m="http://schemas.openxmlformats.org/officeDocument/2006/math">
                    <m:r>
                      <a:rPr lang="en-US" altLang="en-US" sz="2400" b="0" i="1">
                        <a:solidFill>
                          <a:srgbClr val="FF0000"/>
                        </a:solidFill>
                        <a:latin typeface="Cambria Math" panose="02040503050406030204" pitchFamily="18" charset="0"/>
                      </a:rPr>
                      <m:t>+</m:t>
                    </m:r>
                    <m:r>
                      <a:rPr lang="en-US" altLang="en-US" sz="2400" b="0" i="1" smtClean="0">
                        <a:solidFill>
                          <a:srgbClr val="FF0000"/>
                        </a:solidFill>
                        <a:latin typeface="Cambria Math" panose="02040503050406030204" pitchFamily="18" charset="0"/>
                      </a:rPr>
                      <m:t>1.65</m:t>
                    </m:r>
                  </m:oMath>
                </a14:m>
                <a:r>
                  <a:rPr lang="en-US" sz="2400" b="0" kern="0" dirty="0">
                    <a:solidFill>
                      <a:srgbClr val="FF0000"/>
                    </a:solidFill>
                    <a:ea typeface="Calibri" panose="020F0502020204030204" pitchFamily="34" charset="0"/>
                    <a:cs typeface="Times New Roman" panose="02020603050405020304" pitchFamily="18" charset="0"/>
                  </a:rPr>
                  <a:t> </a:t>
                </a:r>
              </a:p>
              <a:p>
                <a:pPr>
                  <a:lnSpc>
                    <a:spcPct val="107000"/>
                  </a:lnSpc>
                  <a:spcBef>
                    <a:spcPts val="0"/>
                  </a:spcBef>
                  <a:spcAft>
                    <a:spcPts val="800"/>
                  </a:spcAft>
                </a:pPr>
                <a:endParaRPr lang="en-US" b="0" kern="0" dirty="0">
                  <a:ea typeface="Calibri" panose="020F0502020204030204" pitchFamily="34" charset="0"/>
                  <a:cs typeface="Times New Roman" panose="02020603050405020304" pitchFamily="18" charset="0"/>
                </a:endParaRPr>
              </a:p>
              <a:p>
                <a:pPr>
                  <a:lnSpc>
                    <a:spcPct val="107000"/>
                  </a:lnSpc>
                  <a:spcBef>
                    <a:spcPts val="0"/>
                  </a:spcBef>
                  <a:spcAft>
                    <a:spcPts val="800"/>
                  </a:spcAft>
                </a:pPr>
                <a:endParaRPr lang="en-US" b="0" kern="0" dirty="0">
                  <a:ea typeface="Calibri" panose="020F0502020204030204" pitchFamily="34" charset="0"/>
                  <a:cs typeface="Times New Roman" panose="02020603050405020304" pitchFamily="18" charset="0"/>
                </a:endParaRPr>
              </a:p>
              <a:p>
                <a:pPr>
                  <a:lnSpc>
                    <a:spcPct val="107000"/>
                  </a:lnSpc>
                  <a:spcBef>
                    <a:spcPts val="0"/>
                  </a:spcBef>
                  <a:spcAft>
                    <a:spcPts val="800"/>
                  </a:spcAft>
                </a:pPr>
                <a:endParaRPr lang="en-US" b="0" kern="0" dirty="0">
                  <a:ea typeface="Calibri" panose="020F0502020204030204" pitchFamily="34" charset="0"/>
                  <a:cs typeface="Times New Roman" panose="02020603050405020304" pitchFamily="18" charset="0"/>
                </a:endParaRP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0" y="838200"/>
                <a:ext cx="9144000" cy="2286000"/>
              </a:xfrm>
              <a:prstGeom prst="rect">
                <a:avLst/>
              </a:prstGeom>
              <a:blipFill>
                <a:blip r:embed="rId3"/>
                <a:stretch>
                  <a:fillRect l="-933" b="-36800"/>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6" name="Picture 5"/>
          <p:cNvPicPr/>
          <p:nvPr/>
        </p:nvPicPr>
        <p:blipFill>
          <a:blip r:embed="rId4" cstate="print">
            <a:extLst>
              <a:ext uri="{28A0092B-C50C-407E-A947-70E740481C1C}">
                <a14:useLocalDpi xmlns:a14="http://schemas.microsoft.com/office/drawing/2010/main" val="0"/>
              </a:ext>
            </a:extLst>
          </a:blip>
          <a:stretch>
            <a:fillRect/>
          </a:stretch>
        </p:blipFill>
        <p:spPr>
          <a:xfrm>
            <a:off x="4269924" y="4495800"/>
            <a:ext cx="3731076" cy="1703186"/>
          </a:xfrm>
          <a:prstGeom prst="rect">
            <a:avLst/>
          </a:prstGeom>
        </p:spPr>
      </p:pic>
      <p:cxnSp>
        <p:nvCxnSpPr>
          <p:cNvPr id="7" name="Straight Connector 6"/>
          <p:cNvCxnSpPr/>
          <p:nvPr/>
        </p:nvCxnSpPr>
        <p:spPr bwMode="auto">
          <a:xfrm flipV="1">
            <a:off x="6076406" y="4733493"/>
            <a:ext cx="0" cy="1283341"/>
          </a:xfrm>
          <a:prstGeom prst="line">
            <a:avLst/>
          </a:prstGeom>
          <a:solidFill>
            <a:srgbClr val="144097"/>
          </a:solidFill>
          <a:ln w="127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6566919" y="5495219"/>
            <a:ext cx="0" cy="518068"/>
          </a:xfrm>
          <a:prstGeom prst="line">
            <a:avLst/>
          </a:prstGeom>
          <a:solidFill>
            <a:srgbClr val="144097"/>
          </a:solidFill>
          <a:ln w="12700" cap="flat" cmpd="sng" algn="ctr">
            <a:solidFill>
              <a:schemeClr val="tx1"/>
            </a:solidFill>
            <a:prstDash val="solid"/>
            <a:round/>
            <a:headEnd type="none" w="med" len="med"/>
            <a:tailEnd type="none" w="med" len="med"/>
          </a:ln>
          <a:effectLst/>
        </p:spPr>
      </p:cxnSp>
      <p:sp>
        <p:nvSpPr>
          <p:cNvPr id="9" name="TextBox 8"/>
          <p:cNvSpPr txBox="1"/>
          <p:nvPr/>
        </p:nvSpPr>
        <p:spPr>
          <a:xfrm>
            <a:off x="5965819" y="6031027"/>
            <a:ext cx="308576" cy="400110"/>
          </a:xfrm>
          <a:prstGeom prst="rect">
            <a:avLst/>
          </a:prstGeom>
          <a:noFill/>
        </p:spPr>
        <p:txBody>
          <a:bodyPr wrap="square" rtlCol="0">
            <a:spAutoFit/>
          </a:bodyPr>
          <a:lstStyle/>
          <a:p>
            <a:r>
              <a:rPr lang="en-US" dirty="0"/>
              <a:t>0</a:t>
            </a:r>
          </a:p>
        </p:txBody>
      </p:sp>
      <p:sp>
        <p:nvSpPr>
          <p:cNvPr id="10" name="TextBox 9"/>
          <p:cNvSpPr txBox="1"/>
          <p:nvPr/>
        </p:nvSpPr>
        <p:spPr>
          <a:xfrm>
            <a:off x="5378986" y="6023012"/>
            <a:ext cx="499431" cy="400110"/>
          </a:xfrm>
          <a:prstGeom prst="rect">
            <a:avLst/>
          </a:prstGeom>
          <a:noFill/>
        </p:spPr>
        <p:txBody>
          <a:bodyPr wrap="square" rtlCol="0">
            <a:spAutoFit/>
          </a:bodyPr>
          <a:lstStyle/>
          <a:p>
            <a:r>
              <a:rPr lang="en-US" dirty="0"/>
              <a:t>-b</a:t>
            </a:r>
          </a:p>
        </p:txBody>
      </p:sp>
      <p:sp>
        <p:nvSpPr>
          <p:cNvPr id="11" name="TextBox 10"/>
          <p:cNvSpPr txBox="1"/>
          <p:nvPr/>
        </p:nvSpPr>
        <p:spPr>
          <a:xfrm>
            <a:off x="6440277" y="6025114"/>
            <a:ext cx="686718" cy="400110"/>
          </a:xfrm>
          <a:prstGeom prst="rect">
            <a:avLst/>
          </a:prstGeom>
          <a:noFill/>
        </p:spPr>
        <p:txBody>
          <a:bodyPr wrap="square" rtlCol="0">
            <a:spAutoFit/>
          </a:bodyPr>
          <a:lstStyle/>
          <a:p>
            <a:r>
              <a:rPr lang="en-US" dirty="0"/>
              <a:t>b</a:t>
            </a:r>
          </a:p>
        </p:txBody>
      </p:sp>
      <p:cxnSp>
        <p:nvCxnSpPr>
          <p:cNvPr id="12" name="Straight Connector 11"/>
          <p:cNvCxnSpPr/>
          <p:nvPr/>
        </p:nvCxnSpPr>
        <p:spPr bwMode="auto">
          <a:xfrm>
            <a:off x="5585892" y="5495219"/>
            <a:ext cx="0" cy="518068"/>
          </a:xfrm>
          <a:prstGeom prst="line">
            <a:avLst/>
          </a:prstGeom>
          <a:solidFill>
            <a:srgbClr val="144097"/>
          </a:solidFill>
          <a:ln w="12700" cap="flat" cmpd="sng" algn="ctr">
            <a:solidFill>
              <a:schemeClr val="tx1"/>
            </a:solidFill>
            <a:prstDash val="solid"/>
            <a:round/>
            <a:headEnd type="none" w="med" len="med"/>
            <a:tailEnd type="none" w="med" len="med"/>
          </a:ln>
          <a:effectLst/>
        </p:spPr>
      </p:cxnSp>
      <p:sp>
        <p:nvSpPr>
          <p:cNvPr id="13" name="TextBox 12"/>
          <p:cNvSpPr txBox="1"/>
          <p:nvPr/>
        </p:nvSpPr>
        <p:spPr>
          <a:xfrm>
            <a:off x="4114800" y="5105400"/>
            <a:ext cx="1560723" cy="399387"/>
          </a:xfrm>
          <a:prstGeom prst="rect">
            <a:avLst/>
          </a:prstGeom>
          <a:noFill/>
        </p:spPr>
        <p:txBody>
          <a:bodyPr wrap="square" rtlCol="0">
            <a:spAutoFit/>
          </a:bodyPr>
          <a:lstStyle/>
          <a:p>
            <a:r>
              <a:rPr lang="en-US" dirty="0"/>
              <a:t>P(Z&lt;-b)</a:t>
            </a:r>
          </a:p>
        </p:txBody>
      </p:sp>
      <p:sp>
        <p:nvSpPr>
          <p:cNvPr id="14" name="TextBox 13"/>
          <p:cNvSpPr txBox="1"/>
          <p:nvPr/>
        </p:nvSpPr>
        <p:spPr>
          <a:xfrm>
            <a:off x="6877280" y="5619413"/>
            <a:ext cx="2266720" cy="400110"/>
          </a:xfrm>
          <a:prstGeom prst="rect">
            <a:avLst/>
          </a:prstGeom>
          <a:noFill/>
        </p:spPr>
        <p:txBody>
          <a:bodyPr wrap="square" rtlCol="0">
            <a:spAutoFit/>
          </a:bodyPr>
          <a:lstStyle/>
          <a:p>
            <a:r>
              <a:rPr lang="en-US" dirty="0"/>
              <a:t>(1-0.95)/2=0.025</a:t>
            </a:r>
          </a:p>
        </p:txBody>
      </p:sp>
      <p:sp>
        <p:nvSpPr>
          <p:cNvPr id="15" name="TextBox 14"/>
          <p:cNvSpPr txBox="1"/>
          <p:nvPr/>
        </p:nvSpPr>
        <p:spPr>
          <a:xfrm>
            <a:off x="3505200" y="5619413"/>
            <a:ext cx="2209800" cy="400110"/>
          </a:xfrm>
          <a:prstGeom prst="rect">
            <a:avLst/>
          </a:prstGeom>
          <a:noFill/>
        </p:spPr>
        <p:txBody>
          <a:bodyPr wrap="square" rtlCol="0">
            <a:spAutoFit/>
          </a:bodyPr>
          <a:lstStyle/>
          <a:p>
            <a:r>
              <a:rPr lang="en-US" dirty="0"/>
              <a:t>(1-0.95)/2=0.025</a:t>
            </a:r>
          </a:p>
        </p:txBody>
      </p:sp>
      <p:sp>
        <p:nvSpPr>
          <p:cNvPr id="16" name="TextBox 15"/>
          <p:cNvSpPr txBox="1"/>
          <p:nvPr/>
        </p:nvSpPr>
        <p:spPr>
          <a:xfrm>
            <a:off x="5691130" y="5329626"/>
            <a:ext cx="938270" cy="400110"/>
          </a:xfrm>
          <a:prstGeom prst="rect">
            <a:avLst/>
          </a:prstGeom>
          <a:noFill/>
        </p:spPr>
        <p:txBody>
          <a:bodyPr wrap="square" rtlCol="0">
            <a:spAutoFit/>
          </a:bodyPr>
          <a:lstStyle/>
          <a:p>
            <a:r>
              <a:rPr lang="en-US" dirty="0"/>
              <a:t>0.95</a:t>
            </a:r>
          </a:p>
        </p:txBody>
      </p:sp>
      <p:cxnSp>
        <p:nvCxnSpPr>
          <p:cNvPr id="17" name="Straight Connector 16"/>
          <p:cNvCxnSpPr/>
          <p:nvPr/>
        </p:nvCxnSpPr>
        <p:spPr bwMode="auto">
          <a:xfrm>
            <a:off x="5889119" y="4922742"/>
            <a:ext cx="374573"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78417" y="4998442"/>
            <a:ext cx="437002"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5815988" y="5081238"/>
            <a:ext cx="56186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5753559" y="5164034"/>
            <a:ext cx="66531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5715000" y="5257800"/>
            <a:ext cx="749147"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5587677" y="5937587"/>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5587677" y="5861888"/>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5587677" y="5793286"/>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5585892" y="5723500"/>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5585892" y="5653714"/>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5612674" y="5499463"/>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5588726" y="5575663"/>
            <a:ext cx="97745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5625737" y="5436326"/>
            <a:ext cx="93643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5701937" y="5347063"/>
            <a:ext cx="811576"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5651863" y="5347063"/>
            <a:ext cx="811576"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70314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7" descr="07_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143000"/>
            <a:ext cx="7659688"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Rectangle 3"/>
          <p:cNvSpPr>
            <a:spLocks noChangeArrowheads="1"/>
          </p:cNvSpPr>
          <p:nvPr/>
        </p:nvSpPr>
        <p:spPr bwMode="auto">
          <a:xfrm>
            <a:off x="457200" y="457200"/>
            <a:ext cx="8539163"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pPr>
            <a:r>
              <a:rPr lang="en-US" altLang="en-US" sz="3600" dirty="0" err="1">
                <a:solidFill>
                  <a:srgbClr val="008000"/>
                </a:solidFill>
              </a:rPr>
              <a:t>Chọn</a:t>
            </a:r>
            <a:r>
              <a:rPr lang="en-US" altLang="en-US" sz="3600" dirty="0">
                <a:solidFill>
                  <a:srgbClr val="008000"/>
                </a:solidFill>
              </a:rPr>
              <a:t> </a:t>
            </a:r>
            <a:r>
              <a:rPr lang="en-US" altLang="en-US" sz="3600" dirty="0" err="1">
                <a:solidFill>
                  <a:srgbClr val="008000"/>
                </a:solidFill>
              </a:rPr>
              <a:t>phân</a:t>
            </a:r>
            <a:r>
              <a:rPr lang="en-US" altLang="en-US" sz="3600" dirty="0">
                <a:solidFill>
                  <a:srgbClr val="008000"/>
                </a:solidFill>
              </a:rPr>
              <a:t> </a:t>
            </a:r>
            <a:r>
              <a:rPr lang="en-US" altLang="en-US" sz="3600" dirty="0" err="1">
                <a:solidFill>
                  <a:srgbClr val="008000"/>
                </a:solidFill>
              </a:rPr>
              <a:t>phối</a:t>
            </a:r>
            <a:r>
              <a:rPr lang="en-US" altLang="en-US" sz="3600" dirty="0">
                <a:solidFill>
                  <a:srgbClr val="008000"/>
                </a:solidFill>
              </a:rPr>
              <a:t> </a:t>
            </a:r>
            <a:r>
              <a:rPr lang="en-US" altLang="en-US" sz="3600" dirty="0" err="1">
                <a:solidFill>
                  <a:srgbClr val="008000"/>
                </a:solidFill>
              </a:rPr>
              <a:t>phù</a:t>
            </a:r>
            <a:r>
              <a:rPr lang="en-US" altLang="en-US" sz="3600" dirty="0">
                <a:solidFill>
                  <a:srgbClr val="008000"/>
                </a:solidFill>
              </a:rPr>
              <a:t> </a:t>
            </a:r>
            <a:r>
              <a:rPr lang="en-US" altLang="en-US" sz="3600" dirty="0" err="1">
                <a:solidFill>
                  <a:srgbClr val="008000"/>
                </a:solidFill>
              </a:rPr>
              <a:t>hợp</a:t>
            </a:r>
            <a:endParaRPr lang="en-US" altLang="en-US" sz="3600" dirty="0">
              <a:solidFill>
                <a:srgbClr val="008000"/>
              </a:solidFill>
            </a:endParaRPr>
          </a:p>
        </p:txBody>
      </p:sp>
    </p:spTree>
    <p:extLst>
      <p:ext uri="{BB962C8B-B14F-4D97-AF65-F5344CB8AC3E}">
        <p14:creationId xmlns:p14="http://schemas.microsoft.com/office/powerpoint/2010/main" val="7748466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bwMode="auto">
          <a:xfrm>
            <a:off x="304800" y="381000"/>
            <a:ext cx="8566150" cy="787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3200"/>
              <a:t>Chọn phân phối phù hợp</a:t>
            </a:r>
          </a:p>
        </p:txBody>
      </p:sp>
      <p:sp>
        <p:nvSpPr>
          <p:cNvPr id="67587" name="Rectangle 3"/>
          <p:cNvSpPr>
            <a:spLocks noGrp="1" noChangeArrowheads="1"/>
          </p:cNvSpPr>
          <p:nvPr>
            <p:ph type="body" idx="4294967295"/>
          </p:nvPr>
        </p:nvSpPr>
        <p:spPr bwMode="auto">
          <a:xfrm>
            <a:off x="0" y="1219200"/>
            <a:ext cx="4129088" cy="21383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0" indent="1588" defTabSz="342900">
              <a:spcBef>
                <a:spcPct val="35000"/>
              </a:spcBef>
              <a:spcAft>
                <a:spcPct val="35000"/>
              </a:spcAft>
              <a:buFont typeface="Wingdings" panose="05000000000000000000" pitchFamily="2" charset="2"/>
              <a:buNone/>
            </a:pPr>
            <a:r>
              <a:rPr lang="en-US" altLang="en-US" b="0" dirty="0" err="1"/>
              <a:t>Sử</a:t>
            </a:r>
            <a:r>
              <a:rPr lang="en-US" altLang="en-US" b="0" dirty="0"/>
              <a:t> </a:t>
            </a:r>
            <a:r>
              <a:rPr lang="en-US" altLang="en-US" b="0" dirty="0" err="1"/>
              <a:t>dụng</a:t>
            </a:r>
            <a:r>
              <a:rPr lang="en-US" altLang="en-US" b="0" dirty="0"/>
              <a:t> </a:t>
            </a:r>
            <a:r>
              <a:rPr lang="en-US" altLang="en-US" b="0" dirty="0" err="1"/>
              <a:t>phân</a:t>
            </a:r>
            <a:r>
              <a:rPr lang="en-US" altLang="en-US" b="0" dirty="0"/>
              <a:t> </a:t>
            </a:r>
            <a:r>
              <a:rPr lang="en-US" altLang="en-US" b="0" dirty="0" err="1"/>
              <a:t>phối</a:t>
            </a:r>
            <a:r>
              <a:rPr lang="en-US" altLang="en-US" b="0" dirty="0"/>
              <a:t> </a:t>
            </a:r>
            <a:r>
              <a:rPr lang="en-US" altLang="en-US" b="0" dirty="0" err="1"/>
              <a:t>chuẩn</a:t>
            </a:r>
            <a:endParaRPr lang="en-US" altLang="en-US" b="0" dirty="0"/>
          </a:p>
        </p:txBody>
      </p:sp>
      <p:sp>
        <p:nvSpPr>
          <p:cNvPr id="67588" name="Rectangle 4"/>
          <p:cNvSpPr>
            <a:spLocks noChangeArrowheads="1"/>
          </p:cNvSpPr>
          <p:nvPr/>
        </p:nvSpPr>
        <p:spPr bwMode="auto">
          <a:xfrm>
            <a:off x="4510088" y="1277938"/>
            <a:ext cx="4302125" cy="161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indent="1588" defTabSz="342900">
              <a:defRPr sz="2000" b="1">
                <a:solidFill>
                  <a:schemeClr val="tx1"/>
                </a:solidFill>
                <a:latin typeface="Arial" panose="020B0604020202020204" pitchFamily="34" charset="0"/>
              </a:defRPr>
            </a:lvl1pPr>
            <a:lvl2pPr marL="742950" indent="-285750" defTabSz="342900">
              <a:defRPr sz="2000" b="1">
                <a:solidFill>
                  <a:schemeClr val="tx1"/>
                </a:solidFill>
                <a:latin typeface="Arial" panose="020B0604020202020204" pitchFamily="34" charset="0"/>
              </a:defRPr>
            </a:lvl2pPr>
            <a:lvl3pPr marL="1143000" indent="-228600" defTabSz="342900">
              <a:defRPr sz="2000" b="1">
                <a:solidFill>
                  <a:schemeClr val="tx1"/>
                </a:solidFill>
                <a:latin typeface="Arial" panose="020B0604020202020204" pitchFamily="34" charset="0"/>
              </a:defRPr>
            </a:lvl3pPr>
            <a:lvl4pPr marL="1600200" indent="-228600" defTabSz="342900">
              <a:defRPr sz="2000" b="1">
                <a:solidFill>
                  <a:schemeClr val="tx1"/>
                </a:solidFill>
                <a:latin typeface="Arial" panose="020B0604020202020204" pitchFamily="34" charset="0"/>
              </a:defRPr>
            </a:lvl4pPr>
            <a:lvl5pPr marL="2057400" indent="-228600" defTabSz="342900">
              <a:defRPr sz="2000" b="1">
                <a:solidFill>
                  <a:schemeClr val="tx1"/>
                </a:solidFill>
                <a:latin typeface="Arial" panose="020B0604020202020204" pitchFamily="34" charset="0"/>
              </a:defRPr>
            </a:lvl5pPr>
            <a:lvl6pPr marL="2514600" indent="-228600" defTabSz="342900" eaLnBrk="0" fontAlgn="base" hangingPunct="0">
              <a:spcBef>
                <a:spcPct val="0"/>
              </a:spcBef>
              <a:spcAft>
                <a:spcPct val="0"/>
              </a:spcAft>
              <a:defRPr sz="2000" b="1">
                <a:solidFill>
                  <a:schemeClr val="tx1"/>
                </a:solidFill>
                <a:latin typeface="Arial" panose="020B0604020202020204" pitchFamily="34" charset="0"/>
              </a:defRPr>
            </a:lvl6pPr>
            <a:lvl7pPr marL="2971800" indent="-228600" defTabSz="342900" eaLnBrk="0" fontAlgn="base" hangingPunct="0">
              <a:spcBef>
                <a:spcPct val="0"/>
              </a:spcBef>
              <a:spcAft>
                <a:spcPct val="0"/>
              </a:spcAft>
              <a:defRPr sz="2000" b="1">
                <a:solidFill>
                  <a:schemeClr val="tx1"/>
                </a:solidFill>
                <a:latin typeface="Arial" panose="020B0604020202020204" pitchFamily="34" charset="0"/>
              </a:defRPr>
            </a:lvl7pPr>
            <a:lvl8pPr marL="3429000" indent="-228600" defTabSz="342900" eaLnBrk="0" fontAlgn="base" hangingPunct="0">
              <a:spcBef>
                <a:spcPct val="0"/>
              </a:spcBef>
              <a:spcAft>
                <a:spcPct val="0"/>
              </a:spcAft>
              <a:defRPr sz="2000" b="1">
                <a:solidFill>
                  <a:schemeClr val="tx1"/>
                </a:solidFill>
                <a:latin typeface="Arial" panose="020B0604020202020204" pitchFamily="34" charset="0"/>
              </a:defRPr>
            </a:lvl8pPr>
            <a:lvl9pPr marL="3886200" indent="-228600" defTabSz="3429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5000"/>
              </a:spcBef>
              <a:spcAft>
                <a:spcPct val="35000"/>
              </a:spcAft>
              <a:buClr>
                <a:schemeClr val="accent2"/>
              </a:buClr>
              <a:buFont typeface="Wingdings" panose="05000000000000000000" pitchFamily="2" charset="2"/>
              <a:buNone/>
            </a:pPr>
            <a:r>
              <a:rPr lang="el-GR" altLang="en-US" sz="2400" b="0" i="1">
                <a:cs typeface="Arial" panose="020B0604020202020204" pitchFamily="34" charset="0"/>
              </a:rPr>
              <a:t>σ</a:t>
            </a:r>
            <a:r>
              <a:rPr lang="en-US" altLang="en-US" sz="2400" b="0">
                <a:cs typeface="Arial" panose="020B0604020202020204" pitchFamily="34" charset="0"/>
              </a:rPr>
              <a:t> </a:t>
            </a:r>
            <a:r>
              <a:rPr lang="en-US" altLang="en-US" sz="2400" b="0"/>
              <a:t>đã biết và quần thể có phân phối chuẩn hoặc </a:t>
            </a:r>
            <a:r>
              <a:rPr lang="en-US" altLang="en-US" sz="2400" b="0" i="1"/>
              <a:t>n</a:t>
            </a:r>
            <a:r>
              <a:rPr lang="en-US" altLang="en-US" sz="2400" b="0"/>
              <a:t> &gt; 30</a:t>
            </a:r>
          </a:p>
        </p:txBody>
      </p:sp>
      <p:sp>
        <p:nvSpPr>
          <p:cNvPr id="67589" name="Rectangle 6"/>
          <p:cNvSpPr>
            <a:spLocks noChangeArrowheads="1"/>
          </p:cNvSpPr>
          <p:nvPr/>
        </p:nvSpPr>
        <p:spPr bwMode="auto">
          <a:xfrm>
            <a:off x="436563" y="3078163"/>
            <a:ext cx="4129087" cy="211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indent="1588" defTabSz="342900">
              <a:defRPr sz="2000" b="1">
                <a:solidFill>
                  <a:schemeClr val="tx1"/>
                </a:solidFill>
                <a:latin typeface="Arial" panose="020B0604020202020204" pitchFamily="34" charset="0"/>
              </a:defRPr>
            </a:lvl1pPr>
            <a:lvl2pPr marL="742950" indent="-285750" defTabSz="342900">
              <a:defRPr sz="2000" b="1">
                <a:solidFill>
                  <a:schemeClr val="tx1"/>
                </a:solidFill>
                <a:latin typeface="Arial" panose="020B0604020202020204" pitchFamily="34" charset="0"/>
              </a:defRPr>
            </a:lvl2pPr>
            <a:lvl3pPr marL="1143000" indent="-228600" defTabSz="342900">
              <a:defRPr sz="2000" b="1">
                <a:solidFill>
                  <a:schemeClr val="tx1"/>
                </a:solidFill>
                <a:latin typeface="Arial" panose="020B0604020202020204" pitchFamily="34" charset="0"/>
              </a:defRPr>
            </a:lvl3pPr>
            <a:lvl4pPr marL="1600200" indent="-228600" defTabSz="342900">
              <a:defRPr sz="2000" b="1">
                <a:solidFill>
                  <a:schemeClr val="tx1"/>
                </a:solidFill>
                <a:latin typeface="Arial" panose="020B0604020202020204" pitchFamily="34" charset="0"/>
              </a:defRPr>
            </a:lvl4pPr>
            <a:lvl5pPr marL="2057400" indent="-228600" defTabSz="342900">
              <a:defRPr sz="2000" b="1">
                <a:solidFill>
                  <a:schemeClr val="tx1"/>
                </a:solidFill>
                <a:latin typeface="Arial" panose="020B0604020202020204" pitchFamily="34" charset="0"/>
              </a:defRPr>
            </a:lvl5pPr>
            <a:lvl6pPr marL="2514600" indent="-228600" defTabSz="342900" eaLnBrk="0" fontAlgn="base" hangingPunct="0">
              <a:spcBef>
                <a:spcPct val="0"/>
              </a:spcBef>
              <a:spcAft>
                <a:spcPct val="0"/>
              </a:spcAft>
              <a:defRPr sz="2000" b="1">
                <a:solidFill>
                  <a:schemeClr val="tx1"/>
                </a:solidFill>
                <a:latin typeface="Arial" panose="020B0604020202020204" pitchFamily="34" charset="0"/>
              </a:defRPr>
            </a:lvl6pPr>
            <a:lvl7pPr marL="2971800" indent="-228600" defTabSz="342900" eaLnBrk="0" fontAlgn="base" hangingPunct="0">
              <a:spcBef>
                <a:spcPct val="0"/>
              </a:spcBef>
              <a:spcAft>
                <a:spcPct val="0"/>
              </a:spcAft>
              <a:defRPr sz="2000" b="1">
                <a:solidFill>
                  <a:schemeClr val="tx1"/>
                </a:solidFill>
                <a:latin typeface="Arial" panose="020B0604020202020204" pitchFamily="34" charset="0"/>
              </a:defRPr>
            </a:lvl7pPr>
            <a:lvl8pPr marL="3429000" indent="-228600" defTabSz="342900" eaLnBrk="0" fontAlgn="base" hangingPunct="0">
              <a:spcBef>
                <a:spcPct val="0"/>
              </a:spcBef>
              <a:spcAft>
                <a:spcPct val="0"/>
              </a:spcAft>
              <a:defRPr sz="2000" b="1">
                <a:solidFill>
                  <a:schemeClr val="tx1"/>
                </a:solidFill>
                <a:latin typeface="Arial" panose="020B0604020202020204" pitchFamily="34" charset="0"/>
              </a:defRPr>
            </a:lvl8pPr>
            <a:lvl9pPr marL="3886200" indent="-228600" defTabSz="3429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5000"/>
              </a:spcBef>
              <a:spcAft>
                <a:spcPct val="35000"/>
              </a:spcAft>
              <a:buClr>
                <a:schemeClr val="accent2"/>
              </a:buClr>
              <a:buFont typeface="Wingdings" panose="05000000000000000000" pitchFamily="2" charset="2"/>
              <a:buNone/>
            </a:pPr>
            <a:r>
              <a:rPr lang="en-US" altLang="en-US" sz="2400" b="0"/>
              <a:t>Sử dụng phân phối t</a:t>
            </a:r>
          </a:p>
        </p:txBody>
      </p:sp>
      <p:sp>
        <p:nvSpPr>
          <p:cNvPr id="67590" name="Rectangle 7"/>
          <p:cNvSpPr>
            <a:spLocks noChangeArrowheads="1"/>
          </p:cNvSpPr>
          <p:nvPr/>
        </p:nvSpPr>
        <p:spPr bwMode="auto">
          <a:xfrm>
            <a:off x="4500563" y="3106738"/>
            <a:ext cx="4302125"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indent="1588" defTabSz="342900">
              <a:defRPr sz="2000" b="1">
                <a:solidFill>
                  <a:schemeClr val="tx1"/>
                </a:solidFill>
                <a:latin typeface="Arial" panose="020B0604020202020204" pitchFamily="34" charset="0"/>
              </a:defRPr>
            </a:lvl1pPr>
            <a:lvl2pPr marL="742950" indent="-285750" defTabSz="342900">
              <a:defRPr sz="2000" b="1">
                <a:solidFill>
                  <a:schemeClr val="tx1"/>
                </a:solidFill>
                <a:latin typeface="Arial" panose="020B0604020202020204" pitchFamily="34" charset="0"/>
              </a:defRPr>
            </a:lvl2pPr>
            <a:lvl3pPr marL="1143000" indent="-228600" defTabSz="342900">
              <a:defRPr sz="2000" b="1">
                <a:solidFill>
                  <a:schemeClr val="tx1"/>
                </a:solidFill>
                <a:latin typeface="Arial" panose="020B0604020202020204" pitchFamily="34" charset="0"/>
              </a:defRPr>
            </a:lvl3pPr>
            <a:lvl4pPr marL="1600200" indent="-228600" defTabSz="342900">
              <a:defRPr sz="2000" b="1">
                <a:solidFill>
                  <a:schemeClr val="tx1"/>
                </a:solidFill>
                <a:latin typeface="Arial" panose="020B0604020202020204" pitchFamily="34" charset="0"/>
              </a:defRPr>
            </a:lvl4pPr>
            <a:lvl5pPr marL="2057400" indent="-228600" defTabSz="342900">
              <a:defRPr sz="2000" b="1">
                <a:solidFill>
                  <a:schemeClr val="tx1"/>
                </a:solidFill>
                <a:latin typeface="Arial" panose="020B0604020202020204" pitchFamily="34" charset="0"/>
              </a:defRPr>
            </a:lvl5pPr>
            <a:lvl6pPr marL="2514600" indent="-228600" defTabSz="342900" eaLnBrk="0" fontAlgn="base" hangingPunct="0">
              <a:spcBef>
                <a:spcPct val="0"/>
              </a:spcBef>
              <a:spcAft>
                <a:spcPct val="0"/>
              </a:spcAft>
              <a:defRPr sz="2000" b="1">
                <a:solidFill>
                  <a:schemeClr val="tx1"/>
                </a:solidFill>
                <a:latin typeface="Arial" panose="020B0604020202020204" pitchFamily="34" charset="0"/>
              </a:defRPr>
            </a:lvl6pPr>
            <a:lvl7pPr marL="2971800" indent="-228600" defTabSz="342900" eaLnBrk="0" fontAlgn="base" hangingPunct="0">
              <a:spcBef>
                <a:spcPct val="0"/>
              </a:spcBef>
              <a:spcAft>
                <a:spcPct val="0"/>
              </a:spcAft>
              <a:defRPr sz="2000" b="1">
                <a:solidFill>
                  <a:schemeClr val="tx1"/>
                </a:solidFill>
                <a:latin typeface="Arial" panose="020B0604020202020204" pitchFamily="34" charset="0"/>
              </a:defRPr>
            </a:lvl7pPr>
            <a:lvl8pPr marL="3429000" indent="-228600" defTabSz="342900" eaLnBrk="0" fontAlgn="base" hangingPunct="0">
              <a:spcBef>
                <a:spcPct val="0"/>
              </a:spcBef>
              <a:spcAft>
                <a:spcPct val="0"/>
              </a:spcAft>
              <a:defRPr sz="2000" b="1">
                <a:solidFill>
                  <a:schemeClr val="tx1"/>
                </a:solidFill>
                <a:latin typeface="Arial" panose="020B0604020202020204" pitchFamily="34" charset="0"/>
              </a:defRPr>
            </a:lvl8pPr>
            <a:lvl9pPr marL="3886200" indent="-228600" defTabSz="3429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5000"/>
              </a:spcBef>
              <a:spcAft>
                <a:spcPct val="35000"/>
              </a:spcAft>
              <a:buClr>
                <a:schemeClr val="accent2"/>
              </a:buClr>
              <a:buFont typeface="Wingdings" panose="05000000000000000000" pitchFamily="2" charset="2"/>
              <a:buNone/>
            </a:pPr>
            <a:r>
              <a:rPr lang="el-GR" altLang="en-US" sz="2400" b="0" i="1">
                <a:cs typeface="Arial" panose="020B0604020202020204" pitchFamily="34" charset="0"/>
              </a:rPr>
              <a:t>σ</a:t>
            </a:r>
            <a:r>
              <a:rPr lang="en-US" altLang="en-US" sz="2400" b="0"/>
              <a:t>  chưa biết và quần thể có phân phối chuẩn hoặc </a:t>
            </a:r>
            <a:r>
              <a:rPr lang="en-US" altLang="en-US" sz="2400" b="0" i="1"/>
              <a:t>n</a:t>
            </a:r>
            <a:r>
              <a:rPr lang="en-US" altLang="en-US" sz="2400" b="0"/>
              <a:t> &gt; 30</a:t>
            </a:r>
          </a:p>
        </p:txBody>
      </p:sp>
      <p:sp>
        <p:nvSpPr>
          <p:cNvPr id="67591" name="Rectangle 8"/>
          <p:cNvSpPr>
            <a:spLocks noChangeArrowheads="1"/>
          </p:cNvSpPr>
          <p:nvPr/>
        </p:nvSpPr>
        <p:spPr bwMode="auto">
          <a:xfrm>
            <a:off x="452438" y="5289550"/>
            <a:ext cx="3814762"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indent="1588" defTabSz="342900">
              <a:defRPr sz="2000" b="1">
                <a:solidFill>
                  <a:schemeClr val="tx1"/>
                </a:solidFill>
                <a:latin typeface="Arial" panose="020B0604020202020204" pitchFamily="34" charset="0"/>
              </a:defRPr>
            </a:lvl1pPr>
            <a:lvl2pPr marL="742950" indent="-285750" defTabSz="342900">
              <a:defRPr sz="2000" b="1">
                <a:solidFill>
                  <a:schemeClr val="tx1"/>
                </a:solidFill>
                <a:latin typeface="Arial" panose="020B0604020202020204" pitchFamily="34" charset="0"/>
              </a:defRPr>
            </a:lvl2pPr>
            <a:lvl3pPr marL="1143000" indent="-228600" defTabSz="342900">
              <a:defRPr sz="2000" b="1">
                <a:solidFill>
                  <a:schemeClr val="tx1"/>
                </a:solidFill>
                <a:latin typeface="Arial" panose="020B0604020202020204" pitchFamily="34" charset="0"/>
              </a:defRPr>
            </a:lvl3pPr>
            <a:lvl4pPr marL="1600200" indent="-228600" defTabSz="342900">
              <a:defRPr sz="2000" b="1">
                <a:solidFill>
                  <a:schemeClr val="tx1"/>
                </a:solidFill>
                <a:latin typeface="Arial" panose="020B0604020202020204" pitchFamily="34" charset="0"/>
              </a:defRPr>
            </a:lvl4pPr>
            <a:lvl5pPr marL="2057400" indent="-228600" defTabSz="342900">
              <a:defRPr sz="2000" b="1">
                <a:solidFill>
                  <a:schemeClr val="tx1"/>
                </a:solidFill>
                <a:latin typeface="Arial" panose="020B0604020202020204" pitchFamily="34" charset="0"/>
              </a:defRPr>
            </a:lvl5pPr>
            <a:lvl6pPr marL="2514600" indent="-228600" defTabSz="342900" eaLnBrk="0" fontAlgn="base" hangingPunct="0">
              <a:spcBef>
                <a:spcPct val="0"/>
              </a:spcBef>
              <a:spcAft>
                <a:spcPct val="0"/>
              </a:spcAft>
              <a:defRPr sz="2000" b="1">
                <a:solidFill>
                  <a:schemeClr val="tx1"/>
                </a:solidFill>
                <a:latin typeface="Arial" panose="020B0604020202020204" pitchFamily="34" charset="0"/>
              </a:defRPr>
            </a:lvl6pPr>
            <a:lvl7pPr marL="2971800" indent="-228600" defTabSz="342900" eaLnBrk="0" fontAlgn="base" hangingPunct="0">
              <a:spcBef>
                <a:spcPct val="0"/>
              </a:spcBef>
              <a:spcAft>
                <a:spcPct val="0"/>
              </a:spcAft>
              <a:defRPr sz="2000" b="1">
                <a:solidFill>
                  <a:schemeClr val="tx1"/>
                </a:solidFill>
                <a:latin typeface="Arial" panose="020B0604020202020204" pitchFamily="34" charset="0"/>
              </a:defRPr>
            </a:lvl7pPr>
            <a:lvl8pPr marL="3429000" indent="-228600" defTabSz="342900" eaLnBrk="0" fontAlgn="base" hangingPunct="0">
              <a:spcBef>
                <a:spcPct val="0"/>
              </a:spcBef>
              <a:spcAft>
                <a:spcPct val="0"/>
              </a:spcAft>
              <a:defRPr sz="2000" b="1">
                <a:solidFill>
                  <a:schemeClr val="tx1"/>
                </a:solidFill>
                <a:latin typeface="Arial" panose="020B0604020202020204" pitchFamily="34" charset="0"/>
              </a:defRPr>
            </a:lvl8pPr>
            <a:lvl9pPr marL="3886200" indent="-228600" defTabSz="3429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5000"/>
              </a:spcBef>
              <a:spcAft>
                <a:spcPct val="35000"/>
              </a:spcAft>
              <a:buClr>
                <a:schemeClr val="accent2"/>
              </a:buClr>
              <a:buFont typeface="Wingdings" panose="05000000000000000000" pitchFamily="2" charset="2"/>
              <a:buNone/>
            </a:pPr>
            <a:r>
              <a:rPr lang="en-US" altLang="en-US" sz="2400" b="0"/>
              <a:t>Sử dụng phương pháp phi tham số</a:t>
            </a:r>
          </a:p>
        </p:txBody>
      </p:sp>
      <p:sp>
        <p:nvSpPr>
          <p:cNvPr id="67592" name="Rectangle 9"/>
          <p:cNvSpPr>
            <a:spLocks noChangeArrowheads="1"/>
          </p:cNvSpPr>
          <p:nvPr/>
        </p:nvSpPr>
        <p:spPr bwMode="auto">
          <a:xfrm>
            <a:off x="4516438" y="5318125"/>
            <a:ext cx="4302125"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indent="1588" defTabSz="342900">
              <a:defRPr sz="2000" b="1">
                <a:solidFill>
                  <a:schemeClr val="tx1"/>
                </a:solidFill>
                <a:latin typeface="Arial" panose="020B0604020202020204" pitchFamily="34" charset="0"/>
              </a:defRPr>
            </a:lvl1pPr>
            <a:lvl2pPr marL="742950" indent="-285750" defTabSz="342900">
              <a:defRPr sz="2000" b="1">
                <a:solidFill>
                  <a:schemeClr val="tx1"/>
                </a:solidFill>
                <a:latin typeface="Arial" panose="020B0604020202020204" pitchFamily="34" charset="0"/>
              </a:defRPr>
            </a:lvl2pPr>
            <a:lvl3pPr marL="1143000" indent="-228600" defTabSz="342900">
              <a:defRPr sz="2000" b="1">
                <a:solidFill>
                  <a:schemeClr val="tx1"/>
                </a:solidFill>
                <a:latin typeface="Arial" panose="020B0604020202020204" pitchFamily="34" charset="0"/>
              </a:defRPr>
            </a:lvl3pPr>
            <a:lvl4pPr marL="1600200" indent="-228600" defTabSz="342900">
              <a:defRPr sz="2000" b="1">
                <a:solidFill>
                  <a:schemeClr val="tx1"/>
                </a:solidFill>
                <a:latin typeface="Arial" panose="020B0604020202020204" pitchFamily="34" charset="0"/>
              </a:defRPr>
            </a:lvl4pPr>
            <a:lvl5pPr marL="2057400" indent="-228600" defTabSz="342900">
              <a:defRPr sz="2000" b="1">
                <a:solidFill>
                  <a:schemeClr val="tx1"/>
                </a:solidFill>
                <a:latin typeface="Arial" panose="020B0604020202020204" pitchFamily="34" charset="0"/>
              </a:defRPr>
            </a:lvl5pPr>
            <a:lvl6pPr marL="2514600" indent="-228600" defTabSz="342900" eaLnBrk="0" fontAlgn="base" hangingPunct="0">
              <a:spcBef>
                <a:spcPct val="0"/>
              </a:spcBef>
              <a:spcAft>
                <a:spcPct val="0"/>
              </a:spcAft>
              <a:defRPr sz="2000" b="1">
                <a:solidFill>
                  <a:schemeClr val="tx1"/>
                </a:solidFill>
                <a:latin typeface="Arial" panose="020B0604020202020204" pitchFamily="34" charset="0"/>
              </a:defRPr>
            </a:lvl6pPr>
            <a:lvl7pPr marL="2971800" indent="-228600" defTabSz="342900" eaLnBrk="0" fontAlgn="base" hangingPunct="0">
              <a:spcBef>
                <a:spcPct val="0"/>
              </a:spcBef>
              <a:spcAft>
                <a:spcPct val="0"/>
              </a:spcAft>
              <a:defRPr sz="2000" b="1">
                <a:solidFill>
                  <a:schemeClr val="tx1"/>
                </a:solidFill>
                <a:latin typeface="Arial" panose="020B0604020202020204" pitchFamily="34" charset="0"/>
              </a:defRPr>
            </a:lvl7pPr>
            <a:lvl8pPr marL="3429000" indent="-228600" defTabSz="342900" eaLnBrk="0" fontAlgn="base" hangingPunct="0">
              <a:spcBef>
                <a:spcPct val="0"/>
              </a:spcBef>
              <a:spcAft>
                <a:spcPct val="0"/>
              </a:spcAft>
              <a:defRPr sz="2000" b="1">
                <a:solidFill>
                  <a:schemeClr val="tx1"/>
                </a:solidFill>
                <a:latin typeface="Arial" panose="020B0604020202020204" pitchFamily="34" charset="0"/>
              </a:defRPr>
            </a:lvl8pPr>
            <a:lvl9pPr marL="3886200" indent="-228600" defTabSz="3429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5000"/>
              </a:spcBef>
              <a:spcAft>
                <a:spcPct val="35000"/>
              </a:spcAft>
              <a:buClr>
                <a:schemeClr val="accent2"/>
              </a:buClr>
              <a:buFont typeface="Wingdings" panose="05000000000000000000" pitchFamily="2" charset="2"/>
              <a:buNone/>
            </a:pPr>
            <a:r>
              <a:rPr lang="en-US" altLang="en-US" sz="2400" b="0"/>
              <a:t>Quần thể không có phân phối chuẩn và</a:t>
            </a:r>
            <a:r>
              <a:rPr lang="en-US" altLang="en-US" sz="2400" b="0" i="1"/>
              <a:t> n </a:t>
            </a:r>
            <a:r>
              <a:rPr lang="en-US" altLang="en-US" sz="2400" b="0"/>
              <a:t>≤ 30 </a:t>
            </a:r>
            <a:r>
              <a:rPr lang="en-US" altLang="en-US" sz="2400" b="0" i="1"/>
              <a:t> </a:t>
            </a:r>
            <a:endParaRPr lang="en-US" altLang="en-US" sz="2400" b="0"/>
          </a:p>
        </p:txBody>
      </p:sp>
      <p:sp>
        <p:nvSpPr>
          <p:cNvPr id="67593" name="Line 10"/>
          <p:cNvSpPr>
            <a:spLocks noChangeShapeType="1"/>
          </p:cNvSpPr>
          <p:nvPr/>
        </p:nvSpPr>
        <p:spPr bwMode="auto">
          <a:xfrm>
            <a:off x="481013" y="2962275"/>
            <a:ext cx="8199437" cy="0"/>
          </a:xfrm>
          <a:prstGeom prst="line">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594" name="Line 11"/>
          <p:cNvSpPr>
            <a:spLocks noChangeShapeType="1"/>
          </p:cNvSpPr>
          <p:nvPr/>
        </p:nvSpPr>
        <p:spPr bwMode="auto">
          <a:xfrm>
            <a:off x="434975" y="5186363"/>
            <a:ext cx="8199438" cy="0"/>
          </a:xfrm>
          <a:prstGeom prst="line">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mc:AlternateContent xmlns:mc="http://schemas.openxmlformats.org/markup-compatibility/2006" xmlns:a14="http://schemas.microsoft.com/office/drawing/2010/main">
        <mc:Choice Requires="a14">
          <p:sp>
            <p:nvSpPr>
              <p:cNvPr id="2" name="Rectangle 1"/>
              <p:cNvSpPr/>
              <p:nvPr/>
            </p:nvSpPr>
            <p:spPr>
              <a:xfrm>
                <a:off x="2667000" y="2209800"/>
                <a:ext cx="3582327" cy="532710"/>
              </a:xfrm>
              <a:prstGeom prst="rect">
                <a:avLst/>
              </a:prstGeom>
            </p:spPr>
            <p:txBody>
              <a:bodyPr wrap="none">
                <a:spAutoFit/>
              </a:bodyPr>
              <a:lstStyle/>
              <a:p>
                <a14:m>
                  <m:oMath xmlns:m="http://schemas.openxmlformats.org/officeDocument/2006/math">
                    <m:acc>
                      <m:accPr>
                        <m:chr m:val="̅"/>
                        <m:ctrlPr>
                          <a:rPr lang="vi-VN" i="1">
                            <a:latin typeface="Cambria Math" panose="02040503050406030204" pitchFamily="18" charset="0"/>
                          </a:rPr>
                        </m:ctrlPr>
                      </m:accPr>
                      <m:e>
                        <m:r>
                          <a:rPr lang="vi-VN" b="0" i="1">
                            <a:latin typeface="Cambria Math"/>
                          </a:rPr>
                          <m:t>𝑥</m:t>
                        </m:r>
                      </m:e>
                    </m:acc>
                    <m:r>
                      <a:rPr lang="vi-VN" b="0" i="1">
                        <a:latin typeface="Cambria Math"/>
                      </a:rPr>
                      <m:t>−</m:t>
                    </m:r>
                    <m:sSub>
                      <m:sSubPr>
                        <m:ctrlPr>
                          <a:rPr lang="vi-VN" b="0" i="1">
                            <a:latin typeface="Cambria Math" panose="02040503050406030204" pitchFamily="18" charset="0"/>
                          </a:rPr>
                        </m:ctrlPr>
                      </m:sSubPr>
                      <m:e>
                        <m:r>
                          <a:rPr lang="vi-VN" b="0" i="1">
                            <a:latin typeface="Cambria Math"/>
                          </a:rPr>
                          <m:t>𝑧</m:t>
                        </m:r>
                      </m:e>
                      <m:sub>
                        <m:r>
                          <a:rPr lang="vi-VN" b="0" i="1">
                            <a:latin typeface="Cambria Math"/>
                            <a:ea typeface="Cambria Math"/>
                          </a:rPr>
                          <m:t>𝛼</m:t>
                        </m:r>
                        <m:r>
                          <a:rPr lang="vi-VN" b="0" i="1">
                            <a:latin typeface="Cambria Math"/>
                            <a:ea typeface="Cambria Math"/>
                          </a:rPr>
                          <m:t>/2</m:t>
                        </m:r>
                      </m:sub>
                    </m:sSub>
                    <m:r>
                      <m:rPr>
                        <m:nor/>
                      </m:rPr>
                      <a:rPr lang="en-US" altLang="en-US" b="0" dirty="0"/>
                      <m:t>∗</m:t>
                    </m:r>
                    <m:f>
                      <m:fPr>
                        <m:ctrlPr>
                          <a:rPr lang="vi-VN" i="1">
                            <a:latin typeface="Cambria Math" panose="02040503050406030204" pitchFamily="18" charset="0"/>
                          </a:rPr>
                        </m:ctrlPr>
                      </m:fPr>
                      <m:num>
                        <m:r>
                          <a:rPr lang="vi-VN" i="1">
                            <a:latin typeface="Cambria Math"/>
                            <a:ea typeface="Cambria Math"/>
                          </a:rPr>
                          <m:t>𝜎</m:t>
                        </m:r>
                      </m:num>
                      <m:den>
                        <m:rad>
                          <m:radPr>
                            <m:degHide m:val="on"/>
                            <m:ctrlPr>
                              <a:rPr lang="vi-VN" i="1">
                                <a:latin typeface="Cambria Math" panose="02040503050406030204" pitchFamily="18" charset="0"/>
                              </a:rPr>
                            </m:ctrlPr>
                          </m:radPr>
                          <m:deg/>
                          <m:e>
                            <m:r>
                              <a:rPr lang="vi-VN" b="0" i="1">
                                <a:latin typeface="Cambria Math"/>
                              </a:rPr>
                              <m:t>𝑛</m:t>
                            </m:r>
                          </m:e>
                        </m:rad>
                      </m:den>
                    </m:f>
                    <m:r>
                      <a:rPr lang="vi-VN" b="0" i="1">
                        <a:latin typeface="Cambria Math"/>
                        <a:ea typeface="Cambria Math"/>
                      </a:rPr>
                      <m:t>≤</m:t>
                    </m:r>
                    <m:r>
                      <a:rPr lang="vi-VN" b="0" i="1">
                        <a:latin typeface="Cambria Math"/>
                        <a:ea typeface="Cambria Math"/>
                      </a:rPr>
                      <m:t>𝜇</m:t>
                    </m:r>
                    <m:r>
                      <a:rPr lang="vi-VN" b="0" i="1">
                        <a:latin typeface="Cambria Math"/>
                        <a:ea typeface="Cambria Math"/>
                      </a:rPr>
                      <m:t>≤</m:t>
                    </m:r>
                    <m:acc>
                      <m:accPr>
                        <m:chr m:val="̅"/>
                        <m:ctrlPr>
                          <a:rPr lang="vi-VN" i="1">
                            <a:latin typeface="Cambria Math" panose="02040503050406030204" pitchFamily="18" charset="0"/>
                          </a:rPr>
                        </m:ctrlPr>
                      </m:accPr>
                      <m:e>
                        <m:r>
                          <a:rPr lang="vi-VN" b="0" i="1">
                            <a:latin typeface="Cambria Math"/>
                          </a:rPr>
                          <m:t>𝑥</m:t>
                        </m:r>
                      </m:e>
                    </m:acc>
                    <m:r>
                      <a:rPr lang="vi-VN" b="0" i="1">
                        <a:latin typeface="Cambria Math"/>
                      </a:rPr>
                      <m:t>+</m:t>
                    </m:r>
                    <m:sSub>
                      <m:sSubPr>
                        <m:ctrlPr>
                          <a:rPr lang="vi-VN" b="0" i="1">
                            <a:latin typeface="Cambria Math" panose="02040503050406030204" pitchFamily="18" charset="0"/>
                          </a:rPr>
                        </m:ctrlPr>
                      </m:sSubPr>
                      <m:e>
                        <m:r>
                          <a:rPr lang="vi-VN" b="0" i="1">
                            <a:latin typeface="Cambria Math"/>
                          </a:rPr>
                          <m:t>𝑧</m:t>
                        </m:r>
                      </m:e>
                      <m:sub>
                        <m:r>
                          <a:rPr lang="vi-VN" b="0" i="1">
                            <a:latin typeface="Cambria Math"/>
                            <a:ea typeface="Cambria Math"/>
                          </a:rPr>
                          <m:t>𝛼</m:t>
                        </m:r>
                        <m:r>
                          <a:rPr lang="vi-VN" b="0" i="1">
                            <a:latin typeface="Cambria Math"/>
                            <a:ea typeface="Cambria Math"/>
                          </a:rPr>
                          <m:t>/2</m:t>
                        </m:r>
                      </m:sub>
                    </m:sSub>
                  </m:oMath>
                </a14:m>
                <a:r>
                  <a:rPr lang="en-US" altLang="en-US" b="0" dirty="0"/>
                  <a:t>*</a:t>
                </a:r>
                <a14:m>
                  <m:oMath xmlns:m="http://schemas.openxmlformats.org/officeDocument/2006/math">
                    <m:f>
                      <m:fPr>
                        <m:ctrlPr>
                          <a:rPr lang="vi-VN" i="1">
                            <a:latin typeface="Cambria Math" panose="02040503050406030204" pitchFamily="18" charset="0"/>
                          </a:rPr>
                        </m:ctrlPr>
                      </m:fPr>
                      <m:num>
                        <m:r>
                          <a:rPr lang="vi-VN" i="1">
                            <a:latin typeface="Cambria Math"/>
                            <a:ea typeface="Cambria Math"/>
                          </a:rPr>
                          <m:t>𝜎</m:t>
                        </m:r>
                      </m:num>
                      <m:den>
                        <m:rad>
                          <m:radPr>
                            <m:degHide m:val="on"/>
                            <m:ctrlPr>
                              <a:rPr lang="vi-VN" i="1">
                                <a:latin typeface="Cambria Math" panose="02040503050406030204" pitchFamily="18" charset="0"/>
                              </a:rPr>
                            </m:ctrlPr>
                          </m:radPr>
                          <m:deg/>
                          <m:e>
                            <m:r>
                              <a:rPr lang="vi-VN" b="0" i="1">
                                <a:latin typeface="Cambria Math"/>
                              </a:rPr>
                              <m:t>𝑛</m:t>
                            </m:r>
                          </m:e>
                        </m:rad>
                      </m:den>
                    </m:f>
                  </m:oMath>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2667000" y="2209800"/>
                <a:ext cx="3582327" cy="532710"/>
              </a:xfrm>
              <a:prstGeom prst="rect">
                <a:avLst/>
              </a:prstGeom>
              <a:blipFill>
                <a:blip r:embed="rId3"/>
                <a:stretch>
                  <a:fillRect t="-11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2667000" y="4343400"/>
                <a:ext cx="3542445" cy="533416"/>
              </a:xfrm>
              <a:prstGeom prst="rect">
                <a:avLst/>
              </a:prstGeom>
            </p:spPr>
            <p:txBody>
              <a:bodyPr wrap="none">
                <a:spAutoFit/>
              </a:bodyPr>
              <a:lstStyle/>
              <a:p>
                <a14:m>
                  <m:oMath xmlns:m="http://schemas.openxmlformats.org/officeDocument/2006/math">
                    <m:acc>
                      <m:accPr>
                        <m:chr m:val="̅"/>
                        <m:ctrlPr>
                          <a:rPr lang="vi-VN" i="1" smtClean="0">
                            <a:latin typeface="Cambria Math" panose="02040503050406030204" pitchFamily="18" charset="0"/>
                          </a:rPr>
                        </m:ctrlPr>
                      </m:accPr>
                      <m:e>
                        <m:r>
                          <a:rPr lang="vi-VN" b="0" i="1">
                            <a:latin typeface="Cambria Math"/>
                          </a:rPr>
                          <m:t>𝑥</m:t>
                        </m:r>
                      </m:e>
                    </m:acc>
                    <m:r>
                      <a:rPr lang="vi-VN" b="0" i="1">
                        <a:latin typeface="Cambria Math"/>
                      </a:rPr>
                      <m:t>−</m:t>
                    </m:r>
                    <m:sSub>
                      <m:sSubPr>
                        <m:ctrlPr>
                          <a:rPr lang="vi-VN" b="0" i="1">
                            <a:latin typeface="Cambria Math" panose="02040503050406030204" pitchFamily="18" charset="0"/>
                          </a:rPr>
                        </m:ctrlPr>
                      </m:sSubPr>
                      <m:e>
                        <m:r>
                          <a:rPr lang="en-US" b="0" i="1">
                            <a:latin typeface="Cambria Math" panose="02040503050406030204" pitchFamily="18" charset="0"/>
                          </a:rPr>
                          <m:t>𝑡</m:t>
                        </m:r>
                      </m:e>
                      <m:sub>
                        <m:r>
                          <a:rPr lang="vi-VN" b="0" i="1">
                            <a:latin typeface="Cambria Math"/>
                            <a:ea typeface="Cambria Math"/>
                          </a:rPr>
                          <m:t>𝛼</m:t>
                        </m:r>
                        <m:r>
                          <a:rPr lang="vi-VN" b="0" i="1">
                            <a:latin typeface="Cambria Math"/>
                            <a:ea typeface="Cambria Math"/>
                          </a:rPr>
                          <m:t>/2</m:t>
                        </m:r>
                      </m:sub>
                    </m:sSub>
                    <m:r>
                      <m:rPr>
                        <m:nor/>
                      </m:rPr>
                      <a:rPr lang="en-US" altLang="en-US" b="0" dirty="0"/>
                      <m:t>∗</m:t>
                    </m:r>
                    <m:f>
                      <m:fPr>
                        <m:ctrlPr>
                          <a:rPr lang="vi-VN" i="1">
                            <a:latin typeface="Cambria Math" panose="02040503050406030204" pitchFamily="18" charset="0"/>
                          </a:rPr>
                        </m:ctrlPr>
                      </m:fPr>
                      <m:num>
                        <m:r>
                          <a:rPr lang="en-US" b="1" i="1" smtClean="0">
                            <a:latin typeface="Cambria Math" panose="02040503050406030204" pitchFamily="18" charset="0"/>
                          </a:rPr>
                          <m:t>𝒔</m:t>
                        </m:r>
                      </m:num>
                      <m:den>
                        <m:rad>
                          <m:radPr>
                            <m:degHide m:val="on"/>
                            <m:ctrlPr>
                              <a:rPr lang="vi-VN" i="1">
                                <a:latin typeface="Cambria Math" panose="02040503050406030204" pitchFamily="18" charset="0"/>
                              </a:rPr>
                            </m:ctrlPr>
                          </m:radPr>
                          <m:deg/>
                          <m:e>
                            <m:r>
                              <a:rPr lang="vi-VN" b="0" i="1">
                                <a:latin typeface="Cambria Math"/>
                              </a:rPr>
                              <m:t>𝑛</m:t>
                            </m:r>
                          </m:e>
                        </m:rad>
                      </m:den>
                    </m:f>
                    <m:r>
                      <a:rPr lang="vi-VN" b="0" i="1">
                        <a:latin typeface="Cambria Math"/>
                        <a:ea typeface="Cambria Math"/>
                      </a:rPr>
                      <m:t>≤</m:t>
                    </m:r>
                    <m:r>
                      <a:rPr lang="vi-VN" b="0" i="1">
                        <a:latin typeface="Cambria Math"/>
                        <a:ea typeface="Cambria Math"/>
                      </a:rPr>
                      <m:t>𝜇</m:t>
                    </m:r>
                    <m:r>
                      <a:rPr lang="vi-VN" b="0" i="1">
                        <a:latin typeface="Cambria Math"/>
                        <a:ea typeface="Cambria Math"/>
                      </a:rPr>
                      <m:t>≤</m:t>
                    </m:r>
                    <m:acc>
                      <m:accPr>
                        <m:chr m:val="̅"/>
                        <m:ctrlPr>
                          <a:rPr lang="vi-VN" i="1">
                            <a:latin typeface="Cambria Math" panose="02040503050406030204" pitchFamily="18" charset="0"/>
                          </a:rPr>
                        </m:ctrlPr>
                      </m:accPr>
                      <m:e>
                        <m:r>
                          <a:rPr lang="vi-VN" b="0" i="1">
                            <a:latin typeface="Cambria Math"/>
                          </a:rPr>
                          <m:t>𝑥</m:t>
                        </m:r>
                      </m:e>
                    </m:acc>
                    <m:r>
                      <a:rPr lang="vi-VN" b="0" i="1">
                        <a:latin typeface="Cambria Math"/>
                      </a:rPr>
                      <m:t>+</m:t>
                    </m:r>
                    <m:sSub>
                      <m:sSubPr>
                        <m:ctrlPr>
                          <a:rPr lang="vi-VN" b="0" i="1">
                            <a:latin typeface="Cambria Math" panose="02040503050406030204" pitchFamily="18" charset="0"/>
                          </a:rPr>
                        </m:ctrlPr>
                      </m:sSubPr>
                      <m:e>
                        <m:r>
                          <a:rPr lang="en-US" b="0" i="1">
                            <a:latin typeface="Cambria Math" panose="02040503050406030204" pitchFamily="18" charset="0"/>
                          </a:rPr>
                          <m:t>𝑡</m:t>
                        </m:r>
                      </m:e>
                      <m:sub>
                        <m:r>
                          <a:rPr lang="vi-VN" b="0" i="1">
                            <a:latin typeface="Cambria Math"/>
                            <a:ea typeface="Cambria Math"/>
                          </a:rPr>
                          <m:t>𝛼</m:t>
                        </m:r>
                        <m:r>
                          <a:rPr lang="vi-VN" b="0" i="1">
                            <a:latin typeface="Cambria Math"/>
                            <a:ea typeface="Cambria Math"/>
                          </a:rPr>
                          <m:t>/2</m:t>
                        </m:r>
                      </m:sub>
                    </m:sSub>
                  </m:oMath>
                </a14:m>
                <a:r>
                  <a:rPr lang="en-US" altLang="en-US" b="0" dirty="0"/>
                  <a:t>*</a:t>
                </a:r>
                <a14:m>
                  <m:oMath xmlns:m="http://schemas.openxmlformats.org/officeDocument/2006/math">
                    <m:f>
                      <m:fPr>
                        <m:ctrlPr>
                          <a:rPr lang="vi-VN" i="1">
                            <a:latin typeface="Cambria Math" panose="02040503050406030204" pitchFamily="18" charset="0"/>
                          </a:rPr>
                        </m:ctrlPr>
                      </m:fPr>
                      <m:num>
                        <m:r>
                          <a:rPr lang="en-US" b="1" i="1" smtClean="0">
                            <a:latin typeface="Cambria Math" panose="02040503050406030204" pitchFamily="18" charset="0"/>
                          </a:rPr>
                          <m:t>𝒔</m:t>
                        </m:r>
                      </m:num>
                      <m:den>
                        <m:rad>
                          <m:radPr>
                            <m:degHide m:val="on"/>
                            <m:ctrlPr>
                              <a:rPr lang="vi-VN" i="1">
                                <a:latin typeface="Cambria Math" panose="02040503050406030204" pitchFamily="18" charset="0"/>
                              </a:rPr>
                            </m:ctrlPr>
                          </m:radPr>
                          <m:deg/>
                          <m:e>
                            <m:r>
                              <a:rPr lang="vi-VN" b="0" i="1">
                                <a:latin typeface="Cambria Math"/>
                              </a:rPr>
                              <m:t>𝑛</m:t>
                            </m:r>
                          </m:e>
                        </m:rad>
                      </m:den>
                    </m:f>
                  </m:oMath>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2667000" y="4343400"/>
                <a:ext cx="3542445" cy="533416"/>
              </a:xfrm>
              <a:prstGeom prst="rect">
                <a:avLst/>
              </a:prstGeom>
              <a:blipFill>
                <a:blip r:embed="rId4"/>
                <a:stretch>
                  <a:fillRect t="-1149"/>
                </a:stretch>
              </a:blipFill>
            </p:spPr>
            <p:txBody>
              <a:bodyPr/>
              <a:lstStyle/>
              <a:p>
                <a:r>
                  <a:rPr lang="en-US">
                    <a:noFill/>
                  </a:rPr>
                  <a:t> </a:t>
                </a:r>
              </a:p>
            </p:txBody>
          </p:sp>
        </mc:Fallback>
      </mc:AlternateContent>
    </p:spTree>
    <p:extLst>
      <p:ext uri="{BB962C8B-B14F-4D97-AF65-F5344CB8AC3E}">
        <p14:creationId xmlns:p14="http://schemas.microsoft.com/office/powerpoint/2010/main" val="355559843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body" idx="4294967295"/>
          </p:nvPr>
        </p:nvSpPr>
        <p:spPr bwMode="auto">
          <a:xfrm>
            <a:off x="666750" y="1244600"/>
            <a:ext cx="8477250" cy="48641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a:buFont typeface="Wingdings" panose="05000000000000000000" pitchFamily="2" charset="2"/>
              <a:buNone/>
            </a:pPr>
            <a:r>
              <a:rPr lang="en-US" altLang="en-US" sz="2700" b="0"/>
              <a:t>	Nếu phân phối của quần thể là phân phối chuẩn thì phân phối của</a:t>
            </a:r>
          </a:p>
        </p:txBody>
      </p:sp>
      <p:sp>
        <p:nvSpPr>
          <p:cNvPr id="20483" name="Rectangle 5"/>
          <p:cNvSpPr>
            <a:spLocks noChangeArrowheads="1"/>
          </p:cNvSpPr>
          <p:nvPr/>
        </p:nvSpPr>
        <p:spPr bwMode="auto">
          <a:xfrm>
            <a:off x="474663" y="4587875"/>
            <a:ext cx="8386762"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marL="282575" indent="-282575">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85000"/>
              </a:lnSpc>
              <a:buClr>
                <a:schemeClr val="accent2"/>
              </a:buClr>
              <a:buFont typeface="Wingdings" panose="05000000000000000000" pitchFamily="2" charset="2"/>
              <a:buNone/>
            </a:pPr>
            <a:r>
              <a:rPr lang="en-US" altLang="en-US" sz="2800" b="0"/>
              <a:t>	là một phân phối </a:t>
            </a:r>
            <a:r>
              <a:rPr lang="en-US" altLang="en-US" sz="2800" b="0" i="1">
                <a:solidFill>
                  <a:schemeClr val="hlink"/>
                </a:solidFill>
              </a:rPr>
              <a:t>t</a:t>
            </a:r>
            <a:r>
              <a:rPr lang="en-US" altLang="en-US" sz="2800" b="0">
                <a:solidFill>
                  <a:schemeClr val="hlink"/>
                </a:solidFill>
              </a:rPr>
              <a:t> </a:t>
            </a:r>
            <a:r>
              <a:rPr lang="en-US" altLang="en-US" sz="2800" b="0"/>
              <a:t>cho tất cả các mẫu có kích thước. </a:t>
            </a:r>
            <a:r>
              <a:rPr lang="vi-VN" altLang="en-US" sz="2800" b="0"/>
              <a:t>Nó thường được gọi là phân phối t và được sử dụng để tìm các </a:t>
            </a:r>
            <a:r>
              <a:rPr lang="en-US" altLang="en-US" sz="2800" b="0"/>
              <a:t>critical values</a:t>
            </a:r>
            <a:r>
              <a:rPr lang="vi-VN" altLang="en-US" sz="2800" b="0"/>
              <a:t> được biểu thị bằng</a:t>
            </a:r>
            <a:r>
              <a:rPr lang="en-US" altLang="en-US" sz="2800" b="0"/>
              <a:t>       .</a:t>
            </a:r>
          </a:p>
        </p:txBody>
      </p:sp>
      <p:sp>
        <p:nvSpPr>
          <p:cNvPr id="20484" name="Rectangle 17"/>
          <p:cNvSpPr>
            <a:spLocks noChangeArrowheads="1"/>
          </p:cNvSpPr>
          <p:nvPr/>
        </p:nvSpPr>
        <p:spPr bwMode="auto">
          <a:xfrm>
            <a:off x="533400" y="5334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pPr>
            <a:r>
              <a:rPr lang="en-US" altLang="en-US" sz="4000" dirty="0" err="1">
                <a:solidFill>
                  <a:srgbClr val="008000"/>
                </a:solidFill>
              </a:rPr>
              <a:t>Phân</a:t>
            </a:r>
            <a:r>
              <a:rPr lang="en-US" altLang="en-US" sz="4000" dirty="0">
                <a:solidFill>
                  <a:srgbClr val="008000"/>
                </a:solidFill>
              </a:rPr>
              <a:t> </a:t>
            </a:r>
            <a:r>
              <a:rPr lang="en-US" altLang="en-US" sz="4000" dirty="0" err="1">
                <a:solidFill>
                  <a:srgbClr val="008000"/>
                </a:solidFill>
              </a:rPr>
              <a:t>phối</a:t>
            </a:r>
            <a:r>
              <a:rPr lang="en-US" altLang="en-US" sz="4000" dirty="0">
                <a:solidFill>
                  <a:srgbClr val="008000"/>
                </a:solidFill>
              </a:rPr>
              <a:t> t</a:t>
            </a:r>
          </a:p>
        </p:txBody>
      </p:sp>
      <p:pic>
        <p:nvPicPr>
          <p:cNvPr id="20485" name="Picture 17" descr="ta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0" y="5703888"/>
            <a:ext cx="4064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19" descr="student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7275" y="2205038"/>
            <a:ext cx="2119313" cy="213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437285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4294967295"/>
          </p:nvPr>
        </p:nvSpPr>
        <p:spPr bwMode="auto">
          <a:xfrm>
            <a:off x="1139825" y="1062038"/>
            <a:ext cx="8004175"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a:buFont typeface="Wingdings" panose="05000000000000000000" pitchFamily="2" charset="2"/>
              <a:buNone/>
            </a:pPr>
            <a:r>
              <a:rPr lang="en-US" altLang="en-US" b="0"/>
              <a:t>   </a:t>
            </a:r>
          </a:p>
        </p:txBody>
      </p:sp>
      <p:sp>
        <p:nvSpPr>
          <p:cNvPr id="22532" name="Rectangle 7"/>
          <p:cNvSpPr>
            <a:spLocks noGrp="1" noChangeArrowheads="1"/>
          </p:cNvSpPr>
          <p:nvPr>
            <p:ph type="title" idx="4294967295"/>
          </p:nvPr>
        </p:nvSpPr>
        <p:spPr bwMode="auto">
          <a:xfrm>
            <a:off x="533400" y="533400"/>
            <a:ext cx="7772400" cy="762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dirty="0" err="1"/>
              <a:t>Định</a:t>
            </a:r>
            <a:r>
              <a:rPr lang="en-US" altLang="en-US" dirty="0"/>
              <a:t> </a:t>
            </a:r>
            <a:r>
              <a:rPr lang="en-US" altLang="en-US" dirty="0" err="1"/>
              <a:t>nghĩa</a:t>
            </a:r>
            <a:endParaRPr lang="en-US" altLang="en-US" dirty="0"/>
          </a:p>
        </p:txBody>
      </p:sp>
      <p:sp>
        <p:nvSpPr>
          <p:cNvPr id="22531" name="Rectangle 4"/>
          <p:cNvSpPr>
            <a:spLocks noChangeArrowheads="1"/>
          </p:cNvSpPr>
          <p:nvPr/>
        </p:nvSpPr>
        <p:spPr bwMode="auto">
          <a:xfrm>
            <a:off x="1219200" y="4114800"/>
            <a:ext cx="6629400" cy="16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20000"/>
              </a:spcBef>
            </a:pPr>
            <a:r>
              <a:rPr lang="en-US" altLang="en-US" sz="3600" b="0">
                <a:solidFill>
                  <a:schemeClr val="hlink"/>
                </a:solidFill>
              </a:rPr>
              <a:t>df</a:t>
            </a:r>
            <a:r>
              <a:rPr lang="en-US" altLang="en-US" sz="3600" b="0" i="1">
                <a:solidFill>
                  <a:schemeClr val="hlink"/>
                </a:solidFill>
                <a:latin typeface="Times New Roman" panose="02020603050405020304" pitchFamily="18" charset="0"/>
              </a:rPr>
              <a:t>= </a:t>
            </a:r>
            <a:r>
              <a:rPr lang="en-US" altLang="en-US" sz="3600" b="0" i="1">
                <a:solidFill>
                  <a:schemeClr val="hlink"/>
                </a:solidFill>
              </a:rPr>
              <a:t>n</a:t>
            </a:r>
            <a:r>
              <a:rPr lang="en-US" altLang="en-US" sz="3600" b="0">
                <a:solidFill>
                  <a:schemeClr val="hlink"/>
                </a:solidFill>
              </a:rPr>
              <a:t> – 1</a:t>
            </a:r>
          </a:p>
          <a:p>
            <a:pPr>
              <a:lnSpc>
                <a:spcPct val="90000"/>
              </a:lnSpc>
              <a:spcBef>
                <a:spcPct val="20000"/>
              </a:spcBef>
            </a:pPr>
            <a:r>
              <a:rPr lang="en-US" altLang="en-US" sz="3600" b="0">
                <a:solidFill>
                  <a:schemeClr val="hlink"/>
                </a:solidFill>
              </a:rPr>
              <a:t>Đối với các phương pháp trong phần này</a:t>
            </a:r>
          </a:p>
        </p:txBody>
      </p:sp>
      <p:sp>
        <p:nvSpPr>
          <p:cNvPr id="22533" name="Text Box 8"/>
          <p:cNvSpPr txBox="1">
            <a:spLocks noChangeArrowheads="1"/>
          </p:cNvSpPr>
          <p:nvPr/>
        </p:nvSpPr>
        <p:spPr bwMode="auto">
          <a:xfrm>
            <a:off x="681038" y="1281113"/>
            <a:ext cx="8099425" cy="185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50000"/>
              </a:spcBef>
            </a:pPr>
            <a:r>
              <a:rPr lang="en-US" altLang="en-US" sz="2800" b="0">
                <a:solidFill>
                  <a:srgbClr val="FF0000"/>
                </a:solidFill>
              </a:rPr>
              <a:t>Số bậc tự do </a:t>
            </a:r>
            <a:r>
              <a:rPr lang="en-US" altLang="en-US" sz="2800" b="0"/>
              <a:t>của tập hợp dữ liệu mẫu là số các giá trị mẫu có thể khác nhau sau khi có ràng buộc cụ thể trên tất cả các giá trị dữ liệu.</a:t>
            </a:r>
          </a:p>
          <a:p>
            <a:pPr>
              <a:lnSpc>
                <a:spcPct val="90000"/>
              </a:lnSpc>
              <a:spcBef>
                <a:spcPct val="50000"/>
              </a:spcBef>
            </a:pPr>
            <a:r>
              <a:rPr lang="en-US" altLang="en-US" sz="2800" b="0"/>
              <a:t>Bậc tự do thường viết tắt là </a:t>
            </a:r>
            <a:r>
              <a:rPr lang="en-US" altLang="en-US" sz="2800" b="0">
                <a:solidFill>
                  <a:schemeClr val="hlink"/>
                </a:solidFill>
              </a:rPr>
              <a:t>df</a:t>
            </a:r>
            <a:r>
              <a:rPr lang="en-US" altLang="en-US" sz="2800" b="0"/>
              <a:t>.</a:t>
            </a:r>
          </a:p>
        </p:txBody>
      </p:sp>
    </p:spTree>
    <p:extLst>
      <p:ext uri="{BB962C8B-B14F-4D97-AF65-F5344CB8AC3E}">
        <p14:creationId xmlns:p14="http://schemas.microsoft.com/office/powerpoint/2010/main" val="143177859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4294967295"/>
          </p:nvPr>
        </p:nvSpPr>
        <p:spPr bwMode="auto">
          <a:xfrm>
            <a:off x="1066800" y="1143000"/>
            <a:ext cx="8077200" cy="44719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fontScale="92500" lnSpcReduction="10000"/>
          </a:bodyPr>
          <a:lstStyle/>
          <a:p>
            <a:pPr marL="914400" indent="-912813" defTabSz="406400">
              <a:lnSpc>
                <a:spcPct val="150000"/>
              </a:lnSpc>
              <a:spcBef>
                <a:spcPct val="0"/>
              </a:spcBef>
              <a:spcAft>
                <a:spcPct val="15000"/>
              </a:spcAft>
              <a:buFont typeface="Wingdings" panose="05000000000000000000" pitchFamily="2" charset="2"/>
              <a:buNone/>
            </a:pPr>
            <a:r>
              <a:rPr lang="el-GR" altLang="en-US" b="0" i="1">
                <a:cs typeface="Arial" panose="020B0604020202020204" pitchFamily="34" charset="0"/>
                <a:sym typeface="Symbol" panose="05050102010706020507" pitchFamily="18" charset="2"/>
              </a:rPr>
              <a:t>μ</a:t>
            </a:r>
            <a:r>
              <a:rPr lang="en-US" altLang="en-US" b="0" i="1">
                <a:cs typeface="Arial" panose="020B0604020202020204" pitchFamily="34" charset="0"/>
                <a:sym typeface="Symbol" panose="05050102010706020507" pitchFamily="18" charset="2"/>
              </a:rPr>
              <a:t> 	</a:t>
            </a:r>
            <a:r>
              <a:rPr lang="en-US" altLang="en-US" b="0"/>
              <a:t>= trung bình quần thể</a:t>
            </a:r>
          </a:p>
          <a:p>
            <a:pPr marL="914400" indent="-912813" defTabSz="406400">
              <a:lnSpc>
                <a:spcPct val="150000"/>
              </a:lnSpc>
              <a:spcBef>
                <a:spcPct val="0"/>
              </a:spcBef>
              <a:spcAft>
                <a:spcPct val="15000"/>
              </a:spcAft>
              <a:buFont typeface="Wingdings" panose="05000000000000000000" pitchFamily="2" charset="2"/>
              <a:buNone/>
            </a:pPr>
            <a:r>
              <a:rPr lang="en-US" altLang="en-US" b="0"/>
              <a:t>   	= trung bình mẫu</a:t>
            </a:r>
          </a:p>
          <a:p>
            <a:pPr marL="914400" indent="-912813" defTabSz="406400">
              <a:lnSpc>
                <a:spcPct val="150000"/>
              </a:lnSpc>
              <a:spcBef>
                <a:spcPct val="0"/>
              </a:spcBef>
              <a:spcAft>
                <a:spcPct val="15000"/>
              </a:spcAft>
              <a:buFont typeface="Wingdings" panose="05000000000000000000" pitchFamily="2" charset="2"/>
              <a:buNone/>
            </a:pPr>
            <a:r>
              <a:rPr lang="en-US" altLang="en-US" b="0" i="1"/>
              <a:t>s</a:t>
            </a:r>
            <a:r>
              <a:rPr lang="en-US" altLang="en-US" b="0"/>
              <a:t> 	= độ lệch chuẩn của mẫu</a:t>
            </a:r>
          </a:p>
          <a:p>
            <a:pPr marL="914400" indent="-912813" defTabSz="406400">
              <a:lnSpc>
                <a:spcPct val="150000"/>
              </a:lnSpc>
              <a:spcBef>
                <a:spcPct val="0"/>
              </a:spcBef>
              <a:spcAft>
                <a:spcPct val="15000"/>
              </a:spcAft>
              <a:buFont typeface="Wingdings" panose="05000000000000000000" pitchFamily="2" charset="2"/>
              <a:buNone/>
            </a:pPr>
            <a:r>
              <a:rPr lang="en-US" altLang="en-US" b="0" i="1"/>
              <a:t>n</a:t>
            </a:r>
            <a:r>
              <a:rPr lang="en-US" altLang="en-US" b="0"/>
              <a:t>   	= kích thước mẫu</a:t>
            </a:r>
          </a:p>
          <a:p>
            <a:pPr marL="914400" indent="-912813" defTabSz="406400">
              <a:lnSpc>
                <a:spcPct val="150000"/>
              </a:lnSpc>
              <a:spcBef>
                <a:spcPct val="0"/>
              </a:spcBef>
              <a:spcAft>
                <a:spcPct val="15000"/>
              </a:spcAft>
              <a:buFont typeface="Wingdings" panose="05000000000000000000" pitchFamily="2" charset="2"/>
              <a:buNone/>
            </a:pPr>
            <a:r>
              <a:rPr lang="en-US" altLang="en-US" b="0" i="1"/>
              <a:t>E  </a:t>
            </a:r>
            <a:r>
              <a:rPr lang="en-US" altLang="en-US" b="0"/>
              <a:t> 	= biên độ lỗi</a:t>
            </a:r>
          </a:p>
          <a:p>
            <a:pPr marL="914400" indent="-912813" defTabSz="406400">
              <a:lnSpc>
                <a:spcPct val="150000"/>
              </a:lnSpc>
              <a:spcBef>
                <a:spcPct val="0"/>
              </a:spcBef>
              <a:spcAft>
                <a:spcPct val="15000"/>
              </a:spcAft>
              <a:buFont typeface="Wingdings" panose="05000000000000000000" pitchFamily="2" charset="2"/>
              <a:buNone/>
            </a:pPr>
            <a:r>
              <a:rPr lang="en-US" altLang="en-US" b="0" i="1"/>
              <a:t>t </a:t>
            </a:r>
            <a:r>
              <a:rPr lang="el-GR" altLang="en-US" b="0" i="1" baseline="-25000"/>
              <a:t>α</a:t>
            </a:r>
            <a:r>
              <a:rPr lang="en-US" altLang="en-US" b="0" baseline="-25000"/>
              <a:t>/2  </a:t>
            </a:r>
            <a:r>
              <a:rPr lang="en-US" altLang="en-US" b="0"/>
              <a:t>	= critical value t  tách một diện tích </a:t>
            </a:r>
            <a:r>
              <a:rPr lang="el-GR" altLang="en-US" b="0"/>
              <a:t>α / 2 </a:t>
            </a:r>
            <a:r>
              <a:rPr lang="en-US" altLang="en-US" b="0"/>
              <a:t>ở đuôi phải của phân bố t.</a:t>
            </a:r>
          </a:p>
        </p:txBody>
      </p:sp>
      <p:sp>
        <p:nvSpPr>
          <p:cNvPr id="24579" name="Rectangle 3"/>
          <p:cNvSpPr>
            <a:spLocks noGrp="1" noChangeArrowheads="1"/>
          </p:cNvSpPr>
          <p:nvPr>
            <p:ph type="title" idx="4294967295"/>
          </p:nvPr>
        </p:nvSpPr>
        <p:spPr bwMode="auto">
          <a:xfrm>
            <a:off x="304800" y="533400"/>
            <a:ext cx="8435975" cy="757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dirty="0" err="1">
                <a:sym typeface="Symbol" panose="05050102010706020507" pitchFamily="18" charset="2"/>
              </a:rPr>
              <a:t>Ký</a:t>
            </a:r>
            <a:r>
              <a:rPr lang="en-US" altLang="en-US" dirty="0">
                <a:sym typeface="Symbol" panose="05050102010706020507" pitchFamily="18" charset="2"/>
              </a:rPr>
              <a:t> </a:t>
            </a:r>
            <a:r>
              <a:rPr lang="en-US" altLang="en-US" dirty="0" err="1">
                <a:sym typeface="Symbol" panose="05050102010706020507" pitchFamily="18" charset="2"/>
              </a:rPr>
              <a:t>hiệu</a:t>
            </a:r>
            <a:endParaRPr lang="el-GR" altLang="en-US" dirty="0">
              <a:cs typeface="Arial" panose="020B0604020202020204" pitchFamily="34" charset="0"/>
            </a:endParaRPr>
          </a:p>
        </p:txBody>
      </p:sp>
      <p:sp>
        <p:nvSpPr>
          <p:cNvPr id="24580" name="Rectangle 4"/>
          <p:cNvSpPr>
            <a:spLocks noChangeArrowheads="1"/>
          </p:cNvSpPr>
          <p:nvPr/>
        </p:nvSpPr>
        <p:spPr bwMode="auto">
          <a:xfrm>
            <a:off x="822325" y="1516063"/>
            <a:ext cx="3382963"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graphicFrame>
        <p:nvGraphicFramePr>
          <p:cNvPr id="24581" name="Object 5"/>
          <p:cNvGraphicFramePr>
            <a:graphicFrameLocks noChangeAspect="1"/>
          </p:cNvGraphicFramePr>
          <p:nvPr/>
        </p:nvGraphicFramePr>
        <p:xfrm>
          <a:off x="1143000" y="1905000"/>
          <a:ext cx="198438" cy="304800"/>
        </p:xfrm>
        <a:graphic>
          <a:graphicData uri="http://schemas.openxmlformats.org/presentationml/2006/ole">
            <mc:AlternateContent xmlns:mc="http://schemas.openxmlformats.org/markup-compatibility/2006">
              <mc:Choice xmlns:v="urn:schemas-microsoft-com:vml" Requires="v">
                <p:oleObj name="Equation" r:id="rId3" imgW="254000" imgH="317500" progId="Equation.DSMT4">
                  <p:embed/>
                </p:oleObj>
              </mc:Choice>
              <mc:Fallback>
                <p:oleObj name="Equation" r:id="rId3" imgW="254000" imgH="317500" progId="Equation.DSMT4">
                  <p:embed/>
                  <p:pic>
                    <p:nvPicPr>
                      <p:cNvPr id="2458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905000"/>
                        <a:ext cx="19843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7069420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ChangeArrowheads="1"/>
          </p:cNvSpPr>
          <p:nvPr/>
        </p:nvSpPr>
        <p:spPr bwMode="auto">
          <a:xfrm>
            <a:off x="1889125" y="3409950"/>
            <a:ext cx="158115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en-US" altLang="en-US" sz="2400"/>
              <a:t>Trong đó </a:t>
            </a:r>
          </a:p>
        </p:txBody>
      </p:sp>
      <p:sp>
        <p:nvSpPr>
          <p:cNvPr id="26627" name="Rectangle 15"/>
          <p:cNvSpPr>
            <a:spLocks noGrp="1" noChangeArrowheads="1"/>
          </p:cNvSpPr>
          <p:nvPr>
            <p:ph type="body" idx="4294967295"/>
          </p:nvPr>
        </p:nvSpPr>
        <p:spPr bwMode="auto">
          <a:xfrm>
            <a:off x="3270250" y="4632325"/>
            <a:ext cx="5873750" cy="401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fontScale="85000" lnSpcReduction="20000"/>
          </a:bodyPr>
          <a:lstStyle/>
          <a:p>
            <a:pPr>
              <a:buFont typeface="Wingdings" panose="05000000000000000000" pitchFamily="2" charset="2"/>
              <a:buNone/>
            </a:pPr>
            <a:r>
              <a:rPr lang="en-US" altLang="en-US" sz="3200"/>
              <a:t>      </a:t>
            </a:r>
            <a:r>
              <a:rPr lang="en-US" altLang="en-US" sz="3200" b="0"/>
              <a:t>tra trong bảng A-3.</a:t>
            </a:r>
          </a:p>
        </p:txBody>
      </p:sp>
      <p:sp>
        <p:nvSpPr>
          <p:cNvPr id="26628" name="Rectangle 22"/>
          <p:cNvSpPr>
            <a:spLocks noGrp="1" noChangeArrowheads="1"/>
          </p:cNvSpPr>
          <p:nvPr>
            <p:ph type="title" idx="4294967295"/>
          </p:nvPr>
        </p:nvSpPr>
        <p:spPr bwMode="auto">
          <a:xfrm>
            <a:off x="387350" y="533400"/>
            <a:ext cx="875665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a:t>Khoảng tin cậy cho ước </a:t>
            </a:r>
            <a:r>
              <a:rPr lang="en-US" altLang="en-US"/>
              <a:t>lượng</a:t>
            </a:r>
            <a:r>
              <a:rPr lang="vi-VN" altLang="en-US"/>
              <a:t> của </a:t>
            </a:r>
            <a:r>
              <a:rPr lang="el-GR" altLang="en-US"/>
              <a:t>μ (</a:t>
            </a:r>
            <a:r>
              <a:rPr lang="vi-VN" altLang="en-US"/>
              <a:t>Với </a:t>
            </a:r>
            <a:r>
              <a:rPr lang="el-GR" altLang="en-US"/>
              <a:t>σ </a:t>
            </a:r>
            <a:r>
              <a:rPr lang="en-US" altLang="en-US"/>
              <a:t>k</a:t>
            </a:r>
            <a:r>
              <a:rPr lang="vi-VN" altLang="en-US"/>
              <a:t>hông biết)</a:t>
            </a:r>
            <a:endParaRPr lang="el-GR" altLang="en-US" i="1">
              <a:cs typeface="Arial" panose="020B0604020202020204" pitchFamily="34" charset="0"/>
            </a:endParaRPr>
          </a:p>
        </p:txBody>
      </p:sp>
      <p:sp>
        <p:nvSpPr>
          <p:cNvPr id="26629" name="Rectangle 23"/>
          <p:cNvSpPr>
            <a:spLocks noChangeArrowheads="1"/>
          </p:cNvSpPr>
          <p:nvPr/>
        </p:nvSpPr>
        <p:spPr bwMode="auto">
          <a:xfrm>
            <a:off x="6629400" y="3438525"/>
            <a:ext cx="17351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en-US" altLang="en-US" sz="2800"/>
              <a:t>df = </a:t>
            </a:r>
            <a:r>
              <a:rPr lang="en-US" altLang="en-US" sz="2800" i="1"/>
              <a:t>n</a:t>
            </a:r>
            <a:r>
              <a:rPr lang="en-US" altLang="en-US" sz="2800"/>
              <a:t> – 1</a:t>
            </a:r>
          </a:p>
        </p:txBody>
      </p:sp>
      <p:pic>
        <p:nvPicPr>
          <p:cNvPr id="26630" name="Picture 22" descr="ta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4267200"/>
            <a:ext cx="6223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23" descr="marginoferro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33763" y="3167063"/>
            <a:ext cx="16764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2" name="Picture 24" descr="confidenceinterval"/>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09800" y="2057400"/>
            <a:ext cx="414178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509416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4"/>
          <p:cNvSpPr>
            <a:spLocks noGrp="1" noChangeArrowheads="1"/>
          </p:cNvSpPr>
          <p:nvPr>
            <p:ph type="title" idx="4294967295"/>
          </p:nvPr>
        </p:nvSpPr>
        <p:spPr bwMode="auto">
          <a:xfrm>
            <a:off x="533400" y="457200"/>
            <a:ext cx="8137525" cy="5461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2800" dirty="0" err="1"/>
              <a:t>Ví</a:t>
            </a:r>
            <a:r>
              <a:rPr lang="en-US" altLang="en-US" sz="2800" dirty="0"/>
              <a:t> </a:t>
            </a:r>
            <a:r>
              <a:rPr lang="en-US" altLang="en-US" sz="2800" dirty="0" err="1"/>
              <a:t>dụ</a:t>
            </a:r>
            <a:endParaRPr lang="en-US" altLang="en-US" sz="2800" dirty="0">
              <a:solidFill>
                <a:schemeClr val="tx1"/>
              </a:solidFill>
            </a:endParaRPr>
          </a:p>
        </p:txBody>
      </p:sp>
      <p:sp>
        <p:nvSpPr>
          <p:cNvPr id="30723" name="Rectangle 24"/>
          <p:cNvSpPr>
            <a:spLocks noChangeArrowheads="1"/>
          </p:cNvSpPr>
          <p:nvPr/>
        </p:nvSpPr>
        <p:spPr bwMode="auto">
          <a:xfrm>
            <a:off x="771525" y="1062038"/>
            <a:ext cx="81010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30724" name="Rectangle 25"/>
          <p:cNvSpPr>
            <a:spLocks noChangeArrowheads="1"/>
          </p:cNvSpPr>
          <p:nvPr/>
        </p:nvSpPr>
        <p:spPr bwMode="auto">
          <a:xfrm>
            <a:off x="671513" y="1000125"/>
            <a:ext cx="8150225"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vi-VN" altLang="en-US" sz="2400" b="0"/>
              <a:t>Một </a:t>
            </a:r>
            <a:r>
              <a:rPr lang="en-US" altLang="en-US" sz="2400" b="0"/>
              <a:t>phát biểu</a:t>
            </a:r>
            <a:r>
              <a:rPr lang="vi-VN" altLang="en-US" sz="2400" b="0"/>
              <a:t> phổ biến là tỏi làm giảm mức cholesterol. Trong một thử nghiệm về hiệu quả của tỏi, 49 đối tượng được điều trị bằng liều tỏi sống, và mức cholesterol của chúng được đo trước và sau khi điều trị.</a:t>
            </a:r>
          </a:p>
          <a:p>
            <a:pPr>
              <a:lnSpc>
                <a:spcPct val="90000"/>
              </a:lnSpc>
            </a:pPr>
            <a:endParaRPr lang="vi-VN" altLang="en-US" sz="2400" b="0"/>
          </a:p>
          <a:p>
            <a:pPr>
              <a:lnSpc>
                <a:spcPct val="90000"/>
              </a:lnSpc>
            </a:pPr>
            <a:r>
              <a:rPr lang="vi-VN" altLang="en-US" sz="2400" b="0"/>
              <a:t>Những thay đổi về nồng độ cholesterol LDL (mg / dL) có </a:t>
            </a:r>
            <a:r>
              <a:rPr lang="en-US" altLang="en-US" sz="2400" b="0"/>
              <a:t>giá trị trung bình là</a:t>
            </a:r>
            <a:r>
              <a:rPr lang="vi-VN" altLang="en-US" sz="2400" b="0"/>
              <a:t> 0,4 và độ lệch chuẩn là 21,0.</a:t>
            </a:r>
          </a:p>
          <a:p>
            <a:pPr>
              <a:lnSpc>
                <a:spcPct val="90000"/>
              </a:lnSpc>
            </a:pPr>
            <a:endParaRPr lang="vi-VN" altLang="en-US" sz="2400" b="0"/>
          </a:p>
          <a:p>
            <a:pPr>
              <a:lnSpc>
                <a:spcPct val="90000"/>
              </a:lnSpc>
            </a:pPr>
            <a:r>
              <a:rPr lang="vi-VN" altLang="en-US" sz="2400" b="0"/>
              <a:t>Sử dụng số liệu thống kê mẫu n = 49, </a:t>
            </a:r>
            <a:r>
              <a:rPr lang="en-US" altLang="en-US" sz="2400" b="0"/>
              <a:t>  </a:t>
            </a:r>
            <a:r>
              <a:rPr lang="vi-VN" altLang="en-US" sz="2400" b="0"/>
              <a:t>= 0,4 và s = ​​21,0 để xây dựng ước </a:t>
            </a:r>
            <a:r>
              <a:rPr lang="en-US" altLang="en-US" sz="2400" b="0"/>
              <a:t>lượng</a:t>
            </a:r>
            <a:r>
              <a:rPr lang="vi-VN" altLang="en-US" sz="2400" b="0"/>
              <a:t> khoảng tin cậy 95% của thay đổi ròng trung bình trong cholesterol</a:t>
            </a:r>
            <a:r>
              <a:rPr lang="en-US" altLang="en-US" sz="2400" b="0"/>
              <a:t> về nồng độ</a:t>
            </a:r>
            <a:r>
              <a:rPr lang="vi-VN" altLang="en-US" sz="2400" b="0"/>
              <a:t> sau khi điều trị bằng tỏi.</a:t>
            </a:r>
          </a:p>
          <a:p>
            <a:pPr>
              <a:lnSpc>
                <a:spcPct val="90000"/>
              </a:lnSpc>
            </a:pPr>
            <a:endParaRPr lang="vi-VN" altLang="en-US" sz="2400" b="0"/>
          </a:p>
          <a:p>
            <a:pPr>
              <a:lnSpc>
                <a:spcPct val="90000"/>
              </a:lnSpc>
            </a:pPr>
            <a:r>
              <a:rPr lang="vi-VN" altLang="en-US" sz="2400" b="0"/>
              <a:t>Khoảng tin cậy cho thấy hiệu quả của tỏi trong việc giảm cholesterol </a:t>
            </a:r>
            <a:r>
              <a:rPr lang="en-US" altLang="en-US" sz="2400" b="0"/>
              <a:t>về nồng độ</a:t>
            </a:r>
            <a:r>
              <a:rPr lang="vi-VN" altLang="en-US" sz="2400" b="0"/>
              <a:t> là gì?</a:t>
            </a:r>
            <a:endParaRPr lang="en-US" altLang="en-US" sz="2400" b="0"/>
          </a:p>
        </p:txBody>
      </p:sp>
      <p:graphicFrame>
        <p:nvGraphicFramePr>
          <p:cNvPr id="30725" name="Object 26"/>
          <p:cNvGraphicFramePr>
            <a:graphicFrameLocks noChangeAspect="1"/>
          </p:cNvGraphicFramePr>
          <p:nvPr/>
        </p:nvGraphicFramePr>
        <p:xfrm>
          <a:off x="5842000" y="3657600"/>
          <a:ext cx="254000" cy="317500"/>
        </p:xfrm>
        <a:graphic>
          <a:graphicData uri="http://schemas.openxmlformats.org/presentationml/2006/ole">
            <mc:AlternateContent xmlns:mc="http://schemas.openxmlformats.org/markup-compatibility/2006">
              <mc:Choice xmlns:v="urn:schemas-microsoft-com:vml" Requires="v">
                <p:oleObj name="Equation" r:id="rId3" imgW="254000" imgH="317500" progId="Equation.DSMT4">
                  <p:embed/>
                </p:oleObj>
              </mc:Choice>
              <mc:Fallback>
                <p:oleObj name="Equation" r:id="rId3" imgW="254000" imgH="317500" progId="Equation.DSMT4">
                  <p:embed/>
                  <p:pic>
                    <p:nvPicPr>
                      <p:cNvPr id="30725"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000" y="3657600"/>
                        <a:ext cx="254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9183449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bwMode="auto">
          <a:xfrm>
            <a:off x="304800" y="457200"/>
            <a:ext cx="8137525" cy="6667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2800" dirty="0" err="1"/>
              <a:t>Ví</a:t>
            </a:r>
            <a:r>
              <a:rPr lang="en-US" altLang="en-US" sz="2800" dirty="0"/>
              <a:t> </a:t>
            </a:r>
            <a:r>
              <a:rPr lang="en-US" altLang="en-US" sz="2800" dirty="0" err="1"/>
              <a:t>dụ</a:t>
            </a:r>
            <a:r>
              <a:rPr lang="en-US" altLang="en-US" sz="2800" dirty="0"/>
              <a:t> (</a:t>
            </a:r>
            <a:r>
              <a:rPr lang="en-US" altLang="en-US" sz="2800" dirty="0" err="1"/>
              <a:t>tt</a:t>
            </a:r>
            <a:r>
              <a:rPr lang="en-US" altLang="en-US" sz="2800" dirty="0"/>
              <a:t>)</a:t>
            </a:r>
            <a:endParaRPr lang="en-US" altLang="en-US" sz="2800" dirty="0">
              <a:solidFill>
                <a:schemeClr val="tx1"/>
              </a:solidFill>
            </a:endParaRPr>
          </a:p>
        </p:txBody>
      </p:sp>
      <p:sp>
        <p:nvSpPr>
          <p:cNvPr id="32771" name="Rectangle 3"/>
          <p:cNvSpPr>
            <a:spLocks noChangeArrowheads="1"/>
          </p:cNvSpPr>
          <p:nvPr/>
        </p:nvSpPr>
        <p:spPr bwMode="auto">
          <a:xfrm>
            <a:off x="771525" y="1062038"/>
            <a:ext cx="8101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32772" name="Rectangle 4"/>
          <p:cNvSpPr>
            <a:spLocks noChangeArrowheads="1"/>
          </p:cNvSpPr>
          <p:nvPr/>
        </p:nvSpPr>
        <p:spPr bwMode="auto">
          <a:xfrm>
            <a:off x="671513" y="1000125"/>
            <a:ext cx="815022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vi-VN" altLang="en-US" sz="2800" b="0" dirty="0"/>
              <a:t>Yêu cầu được thỏa mãn: mẫu ngẫu nhiên đơn giản và n = 49 (tức là n&gt; 30).</a:t>
            </a:r>
            <a:endParaRPr lang="en-US" altLang="en-US" sz="2800" b="0" dirty="0"/>
          </a:p>
        </p:txBody>
      </p:sp>
      <p:graphicFrame>
        <p:nvGraphicFramePr>
          <p:cNvPr id="32773" name="Object 6"/>
          <p:cNvGraphicFramePr>
            <a:graphicFrameLocks noChangeAspect="1"/>
          </p:cNvGraphicFramePr>
          <p:nvPr/>
        </p:nvGraphicFramePr>
        <p:xfrm>
          <a:off x="1600200" y="4648200"/>
          <a:ext cx="5870575" cy="1031875"/>
        </p:xfrm>
        <a:graphic>
          <a:graphicData uri="http://schemas.openxmlformats.org/presentationml/2006/ole">
            <mc:AlternateContent xmlns:mc="http://schemas.openxmlformats.org/markup-compatibility/2006">
              <mc:Choice xmlns:v="urn:schemas-microsoft-com:vml" Requires="v">
                <p:oleObj name="Equation" r:id="rId3" imgW="6502400" imgH="1143000" progId="Equation.DSMT4">
                  <p:embed/>
                </p:oleObj>
              </mc:Choice>
              <mc:Fallback>
                <p:oleObj name="Equation" r:id="rId3" imgW="6502400" imgH="1143000" progId="Equation.DSMT4">
                  <p:embed/>
                  <p:pic>
                    <p:nvPicPr>
                      <p:cNvPr id="32773"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648200"/>
                        <a:ext cx="5870575"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4" name="Rectangle 7"/>
          <p:cNvSpPr>
            <a:spLocks noChangeArrowheads="1"/>
          </p:cNvSpPr>
          <p:nvPr/>
        </p:nvSpPr>
        <p:spPr bwMode="auto">
          <a:xfrm>
            <a:off x="698500" y="2039938"/>
            <a:ext cx="8150225"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en-US" altLang="en-US" sz="2800" b="0" dirty="0"/>
              <a:t>95% </a:t>
            </a:r>
            <a:r>
              <a:rPr lang="en-US" altLang="en-US" sz="2800" b="0" dirty="0" err="1"/>
              <a:t>hàm</a:t>
            </a:r>
            <a:r>
              <a:rPr lang="en-US" altLang="en-US" sz="2800" b="0" dirty="0"/>
              <a:t> ý </a:t>
            </a:r>
            <a:r>
              <a:rPr lang="en-US" altLang="en-US" sz="2800" b="0" dirty="0" err="1"/>
              <a:t>là</a:t>
            </a:r>
            <a:r>
              <a:rPr lang="en-US" altLang="en-US" sz="2800" b="0" dirty="0"/>
              <a:t> </a:t>
            </a:r>
            <a:r>
              <a:rPr lang="el-GR" altLang="en-US" sz="2800" b="0" i="1" dirty="0"/>
              <a:t>α</a:t>
            </a:r>
            <a:r>
              <a:rPr lang="en-US" altLang="en-US" sz="2800" b="0" i="1" dirty="0"/>
              <a:t> </a:t>
            </a:r>
            <a:r>
              <a:rPr lang="en-US" altLang="en-US" sz="2800" b="0" dirty="0"/>
              <a:t>= 0.05.</a:t>
            </a:r>
            <a:br>
              <a:rPr lang="en-US" altLang="en-US" sz="2800" b="0" dirty="0"/>
            </a:br>
            <a:r>
              <a:rPr lang="en-US" altLang="en-US" sz="2800" b="0" dirty="0" err="1"/>
              <a:t>Với</a:t>
            </a:r>
            <a:r>
              <a:rPr lang="en-US" altLang="en-US" sz="2800" b="0" dirty="0"/>
              <a:t> </a:t>
            </a:r>
            <a:r>
              <a:rPr lang="en-US" altLang="en-US" sz="2800" b="0" i="1" dirty="0"/>
              <a:t>n</a:t>
            </a:r>
            <a:r>
              <a:rPr lang="en-US" altLang="en-US" sz="2800" b="0" dirty="0"/>
              <a:t> = 49, </a:t>
            </a:r>
            <a:r>
              <a:rPr lang="en-US" altLang="en-US" sz="2800" b="0" dirty="0" err="1"/>
              <a:t>df</a:t>
            </a:r>
            <a:r>
              <a:rPr lang="en-US" altLang="en-US" sz="2800" b="0" dirty="0"/>
              <a:t> = 49 – 1 = 48</a:t>
            </a:r>
          </a:p>
          <a:p>
            <a:pPr>
              <a:lnSpc>
                <a:spcPct val="90000"/>
              </a:lnSpc>
            </a:pPr>
            <a:r>
              <a:rPr lang="en-US" altLang="en-US" sz="2800" b="0" dirty="0" err="1"/>
              <a:t>df</a:t>
            </a:r>
            <a:r>
              <a:rPr lang="en-US" altLang="en-US" sz="2800" b="0" dirty="0"/>
              <a:t> </a:t>
            </a:r>
            <a:r>
              <a:rPr lang="en-US" altLang="en-US" sz="2800" b="0" dirty="0" err="1"/>
              <a:t>gần</a:t>
            </a:r>
            <a:r>
              <a:rPr lang="en-US" altLang="en-US" sz="2800" b="0" dirty="0"/>
              <a:t> </a:t>
            </a:r>
            <a:r>
              <a:rPr lang="en-US" altLang="en-US" sz="2800" b="0" dirty="0" err="1"/>
              <a:t>nhất</a:t>
            </a:r>
            <a:r>
              <a:rPr lang="en-US" altLang="en-US" sz="2800" b="0" dirty="0"/>
              <a:t> 50, </a:t>
            </a:r>
            <a:r>
              <a:rPr lang="en-US" altLang="en-US" sz="2800" b="0" dirty="0" err="1"/>
              <a:t>vì</a:t>
            </a:r>
            <a:r>
              <a:rPr lang="en-US" altLang="en-US" sz="2800" b="0" dirty="0"/>
              <a:t> </a:t>
            </a:r>
            <a:r>
              <a:rPr lang="en-US" altLang="en-US" sz="2800" b="0" dirty="0" err="1"/>
              <a:t>vậy</a:t>
            </a:r>
            <a:r>
              <a:rPr lang="en-US" altLang="en-US" sz="2800" b="0" dirty="0"/>
              <a:t>       = 2.009</a:t>
            </a:r>
          </a:p>
          <a:p>
            <a:pPr>
              <a:lnSpc>
                <a:spcPct val="90000"/>
              </a:lnSpc>
            </a:pPr>
            <a:endParaRPr lang="en-US" altLang="en-US" sz="2800" b="0" dirty="0"/>
          </a:p>
          <a:p>
            <a:pPr>
              <a:lnSpc>
                <a:spcPct val="90000"/>
              </a:lnSpc>
            </a:pPr>
            <a:r>
              <a:rPr lang="en-US" altLang="en-US" sz="2800" b="0" dirty="0" err="1"/>
              <a:t>Sử</a:t>
            </a:r>
            <a:r>
              <a:rPr lang="en-US" altLang="en-US" sz="2800" b="0" dirty="0"/>
              <a:t> </a:t>
            </a:r>
            <a:r>
              <a:rPr lang="en-US" altLang="en-US" sz="2800" b="0" dirty="0" err="1"/>
              <a:t>dụng</a:t>
            </a:r>
            <a:r>
              <a:rPr lang="en-US" altLang="en-US" sz="2800" b="0" dirty="0"/>
              <a:t>      = 2.009, </a:t>
            </a:r>
            <a:r>
              <a:rPr lang="en-US" altLang="en-US" sz="2800" b="0" i="1" dirty="0"/>
              <a:t>s</a:t>
            </a:r>
            <a:r>
              <a:rPr lang="en-US" altLang="en-US" sz="2800" b="0" dirty="0"/>
              <a:t> = 21.0 </a:t>
            </a:r>
            <a:r>
              <a:rPr lang="en-US" altLang="en-US" sz="2800" b="0" dirty="0" err="1"/>
              <a:t>và</a:t>
            </a:r>
            <a:r>
              <a:rPr lang="en-US" altLang="en-US" sz="2800" b="0" dirty="0"/>
              <a:t> </a:t>
            </a:r>
            <a:r>
              <a:rPr lang="en-US" altLang="en-US" sz="2800" b="0" i="1" dirty="0"/>
              <a:t>n</a:t>
            </a:r>
            <a:r>
              <a:rPr lang="en-US" altLang="en-US" sz="2800" b="0" dirty="0"/>
              <a:t> = 49, </a:t>
            </a:r>
            <a:r>
              <a:rPr lang="en-US" altLang="en-US" sz="2800" b="0" dirty="0" err="1"/>
              <a:t>biên</a:t>
            </a:r>
            <a:r>
              <a:rPr lang="en-US" altLang="en-US" sz="2800" b="0" dirty="0"/>
              <a:t> </a:t>
            </a:r>
            <a:r>
              <a:rPr lang="en-US" altLang="en-US" sz="2800" b="0" dirty="0" err="1"/>
              <a:t>độ</a:t>
            </a:r>
            <a:r>
              <a:rPr lang="en-US" altLang="en-US" sz="2800" b="0" dirty="0"/>
              <a:t> </a:t>
            </a:r>
            <a:r>
              <a:rPr lang="en-US" altLang="en-US" sz="2800" b="0" dirty="0" err="1"/>
              <a:t>lỗi</a:t>
            </a:r>
            <a:r>
              <a:rPr lang="en-US" altLang="en-US" sz="2800" b="0" dirty="0"/>
              <a:t> </a:t>
            </a:r>
            <a:r>
              <a:rPr lang="en-US" altLang="en-US" sz="2800" b="0" dirty="0" err="1"/>
              <a:t>là</a:t>
            </a:r>
            <a:r>
              <a:rPr lang="en-US" altLang="en-US" sz="2800" b="0" dirty="0"/>
              <a:t>:</a:t>
            </a:r>
          </a:p>
        </p:txBody>
      </p:sp>
      <p:pic>
        <p:nvPicPr>
          <p:cNvPr id="32775" name="Picture 7" descr="ta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84675" y="2806700"/>
            <a:ext cx="4064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6" name="Picture 8" descr="ta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86000" y="3444875"/>
            <a:ext cx="4064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915240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bwMode="auto">
          <a:xfrm>
            <a:off x="304800" y="381000"/>
            <a:ext cx="8137525" cy="6667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2800" dirty="0" err="1"/>
              <a:t>Ví</a:t>
            </a:r>
            <a:r>
              <a:rPr lang="en-US" altLang="en-US" sz="2800" dirty="0"/>
              <a:t> </a:t>
            </a:r>
            <a:r>
              <a:rPr lang="en-US" altLang="en-US" sz="2800" dirty="0" err="1"/>
              <a:t>dụ</a:t>
            </a:r>
            <a:r>
              <a:rPr lang="en-US" altLang="en-US" sz="2800" dirty="0"/>
              <a:t> (</a:t>
            </a:r>
            <a:r>
              <a:rPr lang="en-US" altLang="en-US" sz="2800" dirty="0" err="1"/>
              <a:t>tt</a:t>
            </a:r>
            <a:r>
              <a:rPr lang="en-US" altLang="en-US" sz="2800" dirty="0"/>
              <a:t>)</a:t>
            </a:r>
            <a:endParaRPr lang="en-US" altLang="en-US" sz="2800" dirty="0">
              <a:solidFill>
                <a:schemeClr val="tx1"/>
              </a:solidFill>
            </a:endParaRPr>
          </a:p>
        </p:txBody>
      </p:sp>
      <p:sp>
        <p:nvSpPr>
          <p:cNvPr id="34819" name="Rectangle 3"/>
          <p:cNvSpPr>
            <a:spLocks noChangeArrowheads="1"/>
          </p:cNvSpPr>
          <p:nvPr/>
        </p:nvSpPr>
        <p:spPr bwMode="auto">
          <a:xfrm>
            <a:off x="771525" y="1062038"/>
            <a:ext cx="8101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34820" name="Rectangle 4"/>
          <p:cNvSpPr>
            <a:spLocks noChangeArrowheads="1"/>
          </p:cNvSpPr>
          <p:nvPr/>
        </p:nvSpPr>
        <p:spPr bwMode="auto">
          <a:xfrm>
            <a:off x="295275" y="715963"/>
            <a:ext cx="59563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en-US" altLang="en-US" sz="2800" b="0"/>
              <a:t>Xây dựng khoảng tin cậy:</a:t>
            </a:r>
          </a:p>
        </p:txBody>
      </p:sp>
      <p:graphicFrame>
        <p:nvGraphicFramePr>
          <p:cNvPr id="34821" name="Object 5"/>
          <p:cNvGraphicFramePr>
            <a:graphicFrameLocks noChangeAspect="1"/>
          </p:cNvGraphicFramePr>
          <p:nvPr/>
        </p:nvGraphicFramePr>
        <p:xfrm>
          <a:off x="5829300" y="769938"/>
          <a:ext cx="2768600" cy="393700"/>
        </p:xfrm>
        <a:graphic>
          <a:graphicData uri="http://schemas.openxmlformats.org/presentationml/2006/ole">
            <mc:AlternateContent xmlns:mc="http://schemas.openxmlformats.org/markup-compatibility/2006">
              <mc:Choice xmlns:v="urn:schemas-microsoft-com:vml" Requires="v">
                <p:oleObj name="Equation" r:id="rId3" imgW="2768600" imgH="393700" progId="Equation.DSMT4">
                  <p:embed/>
                </p:oleObj>
              </mc:Choice>
              <mc:Fallback>
                <p:oleObj name="Equation" r:id="rId3" imgW="2768600" imgH="393700" progId="Equation.DSMT4">
                  <p:embed/>
                  <p:pic>
                    <p:nvPicPr>
                      <p:cNvPr id="3482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9300" y="769938"/>
                        <a:ext cx="2768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2" name="Rectangle 6"/>
          <p:cNvSpPr>
            <a:spLocks noChangeArrowheads="1"/>
          </p:cNvSpPr>
          <p:nvPr/>
        </p:nvSpPr>
        <p:spPr bwMode="auto">
          <a:xfrm>
            <a:off x="0" y="3048000"/>
            <a:ext cx="9144000" cy="275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vi-VN" altLang="en-US" sz="2400" b="0" dirty="0">
                <a:latin typeface="+mn-lt"/>
              </a:rPr>
              <a:t>Chúng tôi tin tưởng 95% rằng </a:t>
            </a:r>
            <a:r>
              <a:rPr lang="en-US" altLang="en-US" sz="2400" b="0" dirty="0" err="1">
                <a:latin typeface="+mn-lt"/>
              </a:rPr>
              <a:t>khoảng</a:t>
            </a:r>
            <a:r>
              <a:rPr lang="en-US" altLang="en-US" sz="2400" b="0" dirty="0">
                <a:latin typeface="+mn-lt"/>
              </a:rPr>
              <a:t> </a:t>
            </a:r>
            <a:r>
              <a:rPr lang="en-US" altLang="en-US" sz="2400" b="0" dirty="0" err="1">
                <a:latin typeface="+mn-lt"/>
              </a:rPr>
              <a:t>giá</a:t>
            </a:r>
            <a:r>
              <a:rPr lang="en-US" altLang="en-US" sz="2400" b="0" dirty="0">
                <a:latin typeface="+mn-lt"/>
              </a:rPr>
              <a:t> </a:t>
            </a:r>
            <a:r>
              <a:rPr lang="en-US" altLang="en-US" sz="2400" b="0" dirty="0" err="1">
                <a:latin typeface="+mn-lt"/>
              </a:rPr>
              <a:t>trị</a:t>
            </a:r>
            <a:r>
              <a:rPr lang="en-US" altLang="en-US" sz="2400" b="0" dirty="0">
                <a:latin typeface="+mn-lt"/>
              </a:rPr>
              <a:t> </a:t>
            </a:r>
            <a:r>
              <a:rPr lang="vi-VN" altLang="en-US" sz="2400" b="0" dirty="0">
                <a:latin typeface="+mn-lt"/>
              </a:rPr>
              <a:t> –5.6 và 6.4 thực sự chứa giá trị </a:t>
            </a:r>
            <a:r>
              <a:rPr lang="el-GR" altLang="en-US" sz="2400" b="0" dirty="0">
                <a:latin typeface="+mn-lt"/>
              </a:rPr>
              <a:t>μ, </a:t>
            </a:r>
            <a:r>
              <a:rPr lang="vi-VN" altLang="en-US" sz="2400" b="0" dirty="0">
                <a:latin typeface="+mn-lt"/>
              </a:rPr>
              <a:t>trung bình của những thay đổi về </a:t>
            </a:r>
            <a:r>
              <a:rPr lang="en-US" altLang="en-US" sz="2400" b="0" dirty="0" err="1">
                <a:latin typeface="+mn-lt"/>
              </a:rPr>
              <a:t>nồng</a:t>
            </a:r>
            <a:r>
              <a:rPr lang="en-US" altLang="en-US" sz="2400" b="0" dirty="0">
                <a:latin typeface="+mn-lt"/>
              </a:rPr>
              <a:t> </a:t>
            </a:r>
            <a:r>
              <a:rPr lang="en-US" altLang="en-US" sz="2400" b="0" dirty="0" err="1">
                <a:latin typeface="+mn-lt"/>
              </a:rPr>
              <a:t>độ</a:t>
            </a:r>
            <a:r>
              <a:rPr lang="en-US" altLang="en-US" sz="2400" b="0" dirty="0">
                <a:latin typeface="+mn-lt"/>
              </a:rPr>
              <a:t> </a:t>
            </a:r>
            <a:r>
              <a:rPr lang="vi-VN" altLang="en-US" sz="2400" b="0" dirty="0">
                <a:latin typeface="+mn-lt"/>
              </a:rPr>
              <a:t>cholesterol</a:t>
            </a:r>
            <a:r>
              <a:rPr lang="en-US" altLang="en-US" sz="2400" b="0" dirty="0">
                <a:latin typeface="+mn-lt"/>
              </a:rPr>
              <a:t> </a:t>
            </a:r>
            <a:r>
              <a:rPr lang="en-US" altLang="en-US" sz="2400" b="0" dirty="0" err="1">
                <a:latin typeface="+mn-lt"/>
              </a:rPr>
              <a:t>của</a:t>
            </a:r>
            <a:r>
              <a:rPr lang="en-US" altLang="en-US" sz="2400" b="0" dirty="0">
                <a:latin typeface="+mn-lt"/>
              </a:rPr>
              <a:t> </a:t>
            </a:r>
            <a:r>
              <a:rPr lang="en-US" altLang="en-US" sz="2400" b="0" dirty="0" err="1">
                <a:latin typeface="+mn-lt"/>
              </a:rPr>
              <a:t>quần</a:t>
            </a:r>
            <a:r>
              <a:rPr lang="en-US" altLang="en-US" sz="2400" b="0" dirty="0">
                <a:latin typeface="+mn-lt"/>
              </a:rPr>
              <a:t> </a:t>
            </a:r>
            <a:r>
              <a:rPr lang="en-US" altLang="en-US" sz="2400" b="0" dirty="0" err="1">
                <a:latin typeface="+mn-lt"/>
              </a:rPr>
              <a:t>thể</a:t>
            </a:r>
            <a:r>
              <a:rPr lang="vi-VN" altLang="en-US" sz="2400" b="0" dirty="0">
                <a:latin typeface="+mn-lt"/>
              </a:rPr>
              <a:t>.</a:t>
            </a:r>
          </a:p>
          <a:p>
            <a:pPr>
              <a:lnSpc>
                <a:spcPct val="90000"/>
              </a:lnSpc>
            </a:pPr>
            <a:endParaRPr lang="vi-VN" altLang="en-US" sz="2400" b="0" dirty="0">
              <a:latin typeface="+mn-lt"/>
            </a:endParaRPr>
          </a:p>
          <a:p>
            <a:pPr>
              <a:lnSpc>
                <a:spcPct val="90000"/>
              </a:lnSpc>
            </a:pPr>
            <a:r>
              <a:rPr lang="vi-VN" altLang="en-US" sz="2400" b="0" dirty="0">
                <a:latin typeface="+mn-lt"/>
              </a:rPr>
              <a:t>Bởi vì giới hạn khoảng tin cậy chứa giá trị là 0, rất có thể là giá trị trung bình của những thay đổi trong </a:t>
            </a:r>
            <a:r>
              <a:rPr lang="en-US" altLang="en-US" sz="2400" b="0" dirty="0" err="1">
                <a:latin typeface="+mn-lt"/>
              </a:rPr>
              <a:t>nồng</a:t>
            </a:r>
            <a:r>
              <a:rPr lang="en-US" altLang="en-US" sz="2400" b="0" dirty="0">
                <a:latin typeface="+mn-lt"/>
              </a:rPr>
              <a:t> </a:t>
            </a:r>
            <a:r>
              <a:rPr lang="en-US" altLang="en-US" sz="2400" b="0" dirty="0" err="1">
                <a:latin typeface="+mn-lt"/>
              </a:rPr>
              <a:t>độ</a:t>
            </a:r>
            <a:r>
              <a:rPr lang="en-US" altLang="en-US" sz="2400" b="0" dirty="0">
                <a:latin typeface="+mn-lt"/>
              </a:rPr>
              <a:t> </a:t>
            </a:r>
            <a:r>
              <a:rPr lang="vi-VN" altLang="en-US" sz="2400" b="0" dirty="0">
                <a:latin typeface="+mn-lt"/>
              </a:rPr>
              <a:t>cholesterol bằng 0, cho thấy rằng việc điều trị bằng tỏi không ảnh hưởng đến </a:t>
            </a:r>
            <a:r>
              <a:rPr lang="en-US" altLang="en-US" sz="2400" b="0" dirty="0" err="1">
                <a:latin typeface="+mn-lt"/>
              </a:rPr>
              <a:t>nồng</a:t>
            </a:r>
            <a:r>
              <a:rPr lang="en-US" altLang="en-US" sz="2400" b="0" dirty="0">
                <a:latin typeface="+mn-lt"/>
              </a:rPr>
              <a:t> </a:t>
            </a:r>
            <a:r>
              <a:rPr lang="en-US" altLang="en-US" sz="2400" b="0" dirty="0" err="1">
                <a:latin typeface="+mn-lt"/>
              </a:rPr>
              <a:t>độ</a:t>
            </a:r>
            <a:r>
              <a:rPr lang="en-US" altLang="en-US" sz="2400" b="0" dirty="0">
                <a:latin typeface="+mn-lt"/>
              </a:rPr>
              <a:t> </a:t>
            </a:r>
            <a:r>
              <a:rPr lang="vi-VN" altLang="en-US" sz="2400" b="0" dirty="0">
                <a:latin typeface="+mn-lt"/>
              </a:rPr>
              <a:t>cholesterol.</a:t>
            </a:r>
          </a:p>
          <a:p>
            <a:pPr>
              <a:lnSpc>
                <a:spcPct val="90000"/>
              </a:lnSpc>
            </a:pPr>
            <a:endParaRPr lang="vi-VN" altLang="en-US" sz="2400" b="0" dirty="0">
              <a:latin typeface="+mn-lt"/>
            </a:endParaRPr>
          </a:p>
        </p:txBody>
      </p:sp>
      <p:graphicFrame>
        <p:nvGraphicFramePr>
          <p:cNvPr id="34823" name="Object 7"/>
          <p:cNvGraphicFramePr>
            <a:graphicFrameLocks noChangeAspect="1"/>
          </p:cNvGraphicFramePr>
          <p:nvPr/>
        </p:nvGraphicFramePr>
        <p:xfrm>
          <a:off x="2286000" y="1371600"/>
          <a:ext cx="4495800" cy="1547813"/>
        </p:xfrm>
        <a:graphic>
          <a:graphicData uri="http://schemas.openxmlformats.org/presentationml/2006/ole">
            <mc:AlternateContent xmlns:mc="http://schemas.openxmlformats.org/markup-compatibility/2006">
              <mc:Choice xmlns:v="urn:schemas-microsoft-com:vml" Requires="v">
                <p:oleObj name="Equation" r:id="rId5" imgW="5422900" imgH="1866900" progId="Equation.DSMT4">
                  <p:embed/>
                </p:oleObj>
              </mc:Choice>
              <mc:Fallback>
                <p:oleObj name="Equation" r:id="rId5" imgW="5422900" imgH="1866900" progId="Equation.DSMT4">
                  <p:embed/>
                  <p:pic>
                    <p:nvPicPr>
                      <p:cNvPr id="3482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1371600"/>
                        <a:ext cx="4495800" cy="1547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2918757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bwMode="auto">
          <a:xfrm>
            <a:off x="381000" y="457200"/>
            <a:ext cx="8307388" cy="10477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dirty="0" err="1"/>
              <a:t>Các</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quan</a:t>
            </a:r>
            <a:r>
              <a:rPr lang="en-US" altLang="en-US" dirty="0"/>
              <a:t> </a:t>
            </a:r>
            <a:r>
              <a:rPr lang="en-US" altLang="en-US" dirty="0" err="1"/>
              <a:t>trọng</a:t>
            </a:r>
            <a:r>
              <a:rPr lang="en-US" altLang="en-US" dirty="0"/>
              <a:t> </a:t>
            </a:r>
            <a:r>
              <a:rPr lang="en-US" altLang="en-US" dirty="0" err="1"/>
              <a:t>của</a:t>
            </a:r>
            <a:r>
              <a:rPr lang="en-US" altLang="en-US" dirty="0"/>
              <a:t> </a:t>
            </a:r>
            <a:r>
              <a:rPr lang="en-US" altLang="en-US" dirty="0" err="1"/>
              <a:t>phân</a:t>
            </a:r>
            <a:r>
              <a:rPr lang="en-US" altLang="en-US" dirty="0"/>
              <a:t> </a:t>
            </a:r>
            <a:r>
              <a:rPr lang="en-US" altLang="en-US" dirty="0" err="1"/>
              <a:t>phối</a:t>
            </a:r>
            <a:r>
              <a:rPr lang="en-US" altLang="en-US" dirty="0"/>
              <a:t> t</a:t>
            </a:r>
          </a:p>
        </p:txBody>
      </p:sp>
      <p:sp>
        <p:nvSpPr>
          <p:cNvPr id="36867" name="Rectangle 3"/>
          <p:cNvSpPr>
            <a:spLocks noGrp="1" noChangeArrowheads="1"/>
          </p:cNvSpPr>
          <p:nvPr>
            <p:ph type="body" idx="4294967295"/>
          </p:nvPr>
        </p:nvSpPr>
        <p:spPr bwMode="auto">
          <a:xfrm>
            <a:off x="1" y="1581150"/>
            <a:ext cx="9144000" cy="48641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a:bodyPr>
          <a:lstStyle/>
          <a:p>
            <a:pPr marL="457200" indent="-457200" defTabSz="342900">
              <a:spcBef>
                <a:spcPct val="35000"/>
              </a:spcBef>
              <a:spcAft>
                <a:spcPct val="35000"/>
              </a:spcAft>
              <a:buFont typeface="Wingdings" panose="05000000000000000000" pitchFamily="2" charset="2"/>
              <a:buAutoNum type="arabicPeriod"/>
            </a:pPr>
            <a:r>
              <a:rPr lang="vi-VN" altLang="en-US" sz="2400" b="0" dirty="0"/>
              <a:t>Phân </a:t>
            </a:r>
            <a:r>
              <a:rPr lang="en-US" altLang="en-US" sz="2400" b="0" dirty="0" err="1"/>
              <a:t>phối</a:t>
            </a:r>
            <a:r>
              <a:rPr lang="en-US" altLang="en-US" sz="2400" b="0" dirty="0"/>
              <a:t> </a:t>
            </a:r>
            <a:r>
              <a:rPr lang="vi-VN" altLang="en-US" sz="2400" b="0" dirty="0"/>
              <a:t>t khác nhau đối với các cỡ mẫu khác nhau. (Xem slide sau cho các trường hợp n = 3 và n = 12.)</a:t>
            </a:r>
            <a:endParaRPr lang="en-US" altLang="en-US" sz="2400" b="0" dirty="0"/>
          </a:p>
          <a:p>
            <a:pPr marL="457200" indent="-457200" defTabSz="342900">
              <a:spcBef>
                <a:spcPct val="35000"/>
              </a:spcBef>
              <a:spcAft>
                <a:spcPct val="35000"/>
              </a:spcAft>
              <a:buFont typeface="Wingdings" panose="05000000000000000000" pitchFamily="2" charset="2"/>
              <a:buAutoNum type="arabicPeriod"/>
            </a:pPr>
            <a:r>
              <a:rPr lang="vi-VN" altLang="en-US" sz="2400" b="0" dirty="0"/>
              <a:t>Phân </a:t>
            </a:r>
            <a:r>
              <a:rPr lang="en-US" altLang="en-US" sz="2400" b="0" dirty="0" err="1"/>
              <a:t>phối</a:t>
            </a:r>
            <a:r>
              <a:rPr lang="en-US" altLang="en-US" sz="2400" b="0" dirty="0"/>
              <a:t> </a:t>
            </a:r>
            <a:r>
              <a:rPr lang="vi-VN" altLang="en-US" sz="2400" b="0" dirty="0"/>
              <a:t>t có hình dạng chuông đối xứng chung giống như phân bố chuẩn nhưng nó phản ánh sự biến thiên lớn hơn (với phân bố rộng hơn) được mong đợi với các mẫu nhỏ.</a:t>
            </a:r>
            <a:endParaRPr lang="en-US" altLang="en-US" sz="2400" b="0" dirty="0"/>
          </a:p>
          <a:p>
            <a:pPr marL="457200" indent="-457200" defTabSz="342900">
              <a:spcBef>
                <a:spcPct val="35000"/>
              </a:spcBef>
              <a:spcAft>
                <a:spcPct val="35000"/>
              </a:spcAft>
              <a:buFont typeface="Wingdings" panose="05000000000000000000" pitchFamily="2" charset="2"/>
              <a:buAutoNum type="arabicPeriod"/>
            </a:pPr>
            <a:r>
              <a:rPr lang="vi-VN" altLang="en-US" sz="2400" b="0" dirty="0"/>
              <a:t>Phân</a:t>
            </a:r>
            <a:r>
              <a:rPr lang="en-US" altLang="en-US" sz="2400" b="0" dirty="0"/>
              <a:t> </a:t>
            </a:r>
            <a:r>
              <a:rPr lang="en-US" altLang="en-US" sz="2400" b="0" dirty="0" err="1"/>
              <a:t>phối</a:t>
            </a:r>
            <a:r>
              <a:rPr lang="en-US" altLang="en-US" sz="2400" b="0" dirty="0"/>
              <a:t> </a:t>
            </a:r>
            <a:r>
              <a:rPr lang="vi-VN" altLang="en-US" sz="2400" b="0" dirty="0"/>
              <a:t>t có giá trị trung bình là t = 0 (giống như phân bố chuẩn có giá trị trung bình là 0).</a:t>
            </a:r>
            <a:endParaRPr lang="en-US" altLang="en-US" sz="2400" b="0" dirty="0"/>
          </a:p>
          <a:p>
            <a:pPr marL="457200" indent="-457200" defTabSz="342900">
              <a:spcBef>
                <a:spcPct val="35000"/>
              </a:spcBef>
              <a:spcAft>
                <a:spcPct val="35000"/>
              </a:spcAft>
              <a:buFont typeface="Wingdings" panose="05000000000000000000" pitchFamily="2" charset="2"/>
              <a:buAutoNum type="arabicPeriod"/>
            </a:pPr>
            <a:r>
              <a:rPr lang="vi-VN" altLang="en-US" sz="2400" b="0" dirty="0"/>
              <a:t>Độ lệch chuẩn của phân </a:t>
            </a:r>
            <a:r>
              <a:rPr lang="en-US" altLang="en-US" sz="2400" b="0" dirty="0" err="1"/>
              <a:t>phối</a:t>
            </a:r>
            <a:r>
              <a:rPr lang="en-US" altLang="en-US" sz="2400" b="0" dirty="0"/>
              <a:t> </a:t>
            </a:r>
            <a:r>
              <a:rPr lang="vi-VN" altLang="en-US" sz="2400" b="0" dirty="0"/>
              <a:t>t thay đổi theo cỡ mẫu và lớn hơn 1 (không giống như phân bố chuẩn, có </a:t>
            </a:r>
            <a:r>
              <a:rPr lang="el-GR" altLang="en-US" sz="2400" b="0" dirty="0"/>
              <a:t>σ= 1).</a:t>
            </a:r>
            <a:endParaRPr lang="en-US" altLang="en-US" sz="2400" b="0" dirty="0"/>
          </a:p>
          <a:p>
            <a:pPr marL="457200" indent="-457200" defTabSz="342900">
              <a:spcBef>
                <a:spcPct val="35000"/>
              </a:spcBef>
              <a:spcAft>
                <a:spcPct val="35000"/>
              </a:spcAft>
              <a:buFont typeface="Wingdings" panose="05000000000000000000" pitchFamily="2" charset="2"/>
              <a:buAutoNum type="arabicPeriod"/>
            </a:pPr>
            <a:r>
              <a:rPr lang="vi-VN" altLang="en-US" sz="2400" b="0" dirty="0"/>
              <a:t>Khi cỡ mẫu n lớn hơn, phân phối t sẽ gần hơn với phân bố chuẩn</a:t>
            </a:r>
            <a:r>
              <a:rPr lang="en-US" altLang="en-US" sz="2400" b="0" dirty="0"/>
              <a:t>.  </a:t>
            </a:r>
          </a:p>
        </p:txBody>
      </p:sp>
    </p:spTree>
    <p:extLst>
      <p:ext uri="{BB962C8B-B14F-4D97-AF65-F5344CB8AC3E}">
        <p14:creationId xmlns:p14="http://schemas.microsoft.com/office/powerpoint/2010/main" val="115242487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ChangeArrowheads="1"/>
          </p:cNvSpPr>
          <p:nvPr/>
        </p:nvSpPr>
        <p:spPr bwMode="auto">
          <a:xfrm>
            <a:off x="4875213" y="4305300"/>
            <a:ext cx="8397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23555" name="Rectangle 11"/>
          <p:cNvSpPr>
            <a:spLocks noGrp="1" noChangeArrowheads="1"/>
          </p:cNvSpPr>
          <p:nvPr>
            <p:ph type="title" idx="4294967295"/>
          </p:nvPr>
        </p:nvSpPr>
        <p:spPr bwMode="auto">
          <a:xfrm>
            <a:off x="762000" y="457200"/>
            <a:ext cx="7131050" cy="1092200"/>
          </a:xfrm>
          <a:prstGeom prst="rect">
            <a:avLst/>
          </a:prstGeom>
          <a:ln>
            <a:miter lim="800000"/>
            <a:headEnd/>
            <a:tailEnd/>
          </a:ln>
        </p:spPr>
        <p:txBody>
          <a:bodyPr lIns="90488" tIns="44450" rIns="90488" bIns="44450"/>
          <a:lstStyle/>
          <a:p>
            <a:pPr>
              <a:defRPr/>
            </a:pPr>
            <a:r>
              <a:rPr lang="en-US" dirty="0" err="1">
                <a:solidFill>
                  <a:schemeClr val="accent6">
                    <a:lumMod val="75000"/>
                  </a:schemeClr>
                </a:solidFill>
              </a:rPr>
              <a:t>Phân</a:t>
            </a:r>
            <a:r>
              <a:rPr lang="en-US" dirty="0">
                <a:solidFill>
                  <a:schemeClr val="accent6">
                    <a:lumMod val="75000"/>
                  </a:schemeClr>
                </a:solidFill>
              </a:rPr>
              <a:t> </a:t>
            </a:r>
            <a:r>
              <a:rPr lang="en-US" dirty="0" err="1">
                <a:solidFill>
                  <a:schemeClr val="accent6">
                    <a:lumMod val="75000"/>
                  </a:schemeClr>
                </a:solidFill>
              </a:rPr>
              <a:t>phối</a:t>
            </a:r>
            <a:r>
              <a:rPr lang="en-US" dirty="0">
                <a:solidFill>
                  <a:schemeClr val="accent6">
                    <a:lumMod val="75000"/>
                  </a:schemeClr>
                </a:solidFill>
              </a:rPr>
              <a:t> t </a:t>
            </a:r>
            <a:r>
              <a:rPr lang="en-US" dirty="0" err="1">
                <a:solidFill>
                  <a:schemeClr val="accent6">
                    <a:lumMod val="75000"/>
                  </a:schemeClr>
                </a:solidFill>
              </a:rPr>
              <a:t>với</a:t>
            </a:r>
            <a:br>
              <a:rPr lang="en-US" dirty="0">
                <a:solidFill>
                  <a:schemeClr val="accent6">
                    <a:lumMod val="75000"/>
                  </a:schemeClr>
                </a:solidFill>
              </a:rPr>
            </a:br>
            <a:r>
              <a:rPr lang="en-US" i="1" dirty="0">
                <a:solidFill>
                  <a:schemeClr val="accent6">
                    <a:lumMod val="75000"/>
                  </a:schemeClr>
                </a:solidFill>
              </a:rPr>
              <a:t>n</a:t>
            </a:r>
            <a:r>
              <a:rPr lang="en-US" dirty="0">
                <a:solidFill>
                  <a:schemeClr val="accent6">
                    <a:lumMod val="75000"/>
                  </a:schemeClr>
                </a:solidFill>
              </a:rPr>
              <a:t> = 3 </a:t>
            </a:r>
            <a:r>
              <a:rPr lang="en-US" dirty="0" err="1">
                <a:solidFill>
                  <a:schemeClr val="accent6">
                    <a:lumMod val="75000"/>
                  </a:schemeClr>
                </a:solidFill>
              </a:rPr>
              <a:t>và</a:t>
            </a:r>
            <a:r>
              <a:rPr lang="en-US" dirty="0">
                <a:solidFill>
                  <a:schemeClr val="accent6">
                    <a:lumMod val="75000"/>
                  </a:schemeClr>
                </a:solidFill>
              </a:rPr>
              <a:t> </a:t>
            </a:r>
            <a:r>
              <a:rPr lang="en-US" i="1" dirty="0">
                <a:solidFill>
                  <a:schemeClr val="accent6">
                    <a:lumMod val="75000"/>
                  </a:schemeClr>
                </a:solidFill>
              </a:rPr>
              <a:t>n</a:t>
            </a:r>
            <a:r>
              <a:rPr lang="en-US" dirty="0">
                <a:solidFill>
                  <a:schemeClr val="accent6">
                    <a:lumMod val="75000"/>
                  </a:schemeClr>
                </a:solidFill>
              </a:rPr>
              <a:t> = 12</a:t>
            </a:r>
          </a:p>
        </p:txBody>
      </p:sp>
      <p:pic>
        <p:nvPicPr>
          <p:cNvPr id="38916" name="Picture 21" descr="6_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00200"/>
            <a:ext cx="6019800" cy="395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017937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bwMode="auto">
          <a:xfrm>
            <a:off x="0" y="457200"/>
            <a:ext cx="9144000" cy="5683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2800" dirty="0" err="1"/>
              <a:t>Ví</a:t>
            </a:r>
            <a:r>
              <a:rPr lang="en-US" altLang="en-US" sz="2800" dirty="0"/>
              <a:t> </a:t>
            </a:r>
            <a:r>
              <a:rPr lang="en-US" altLang="en-US" sz="2800" dirty="0" err="1"/>
              <a:t>dụ</a:t>
            </a:r>
            <a:endParaRPr lang="en-US" altLang="en-US" sz="2800" dirty="0">
              <a:solidFill>
                <a:schemeClr val="tx1"/>
              </a:solidFill>
            </a:endParaRPr>
          </a:p>
        </p:txBody>
      </p:sp>
      <p:sp>
        <p:nvSpPr>
          <p:cNvPr id="65539" name="Rectangle 3"/>
          <p:cNvSpPr>
            <a:spLocks noGrp="1" noChangeArrowheads="1"/>
          </p:cNvSpPr>
          <p:nvPr>
            <p:ph type="body" idx="4294967295"/>
          </p:nvPr>
        </p:nvSpPr>
        <p:spPr bwMode="auto">
          <a:xfrm>
            <a:off x="0" y="827088"/>
            <a:ext cx="9144000" cy="56340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lnSpcReduction="10000"/>
          </a:bodyPr>
          <a:lstStyle/>
          <a:p>
            <a:pPr marL="1588" indent="-1588">
              <a:buFont typeface="Wingdings" panose="05000000000000000000" pitchFamily="2" charset="2"/>
              <a:buNone/>
            </a:pPr>
            <a:r>
              <a:rPr lang="vi-VN" altLang="en-US" b="0" dirty="0"/>
              <a:t>Người ta đã chết vì tai nạn tàu thuyền và máy bay vì ước tính lỗi thời của trọng lượng trung bình của đàn ông đã được sử dụng.</a:t>
            </a:r>
          </a:p>
          <a:p>
            <a:pPr marL="1588" indent="-1588">
              <a:buFont typeface="Wingdings" panose="05000000000000000000" pitchFamily="2" charset="2"/>
              <a:buNone/>
            </a:pPr>
            <a:r>
              <a:rPr lang="vi-VN" altLang="en-US" b="0" dirty="0"/>
              <a:t>Trong những thập kỷ gần đây, trọng lượng trung bình của đàn ông đã tăng lên đáng kể, vì vậy chúng tôi cần cập nhật ước tính của mình về phương tiện đó để tàu thuyền, máy bay, thang máy và các thiết bị khác không bị quá tải nguy hiểm.</a:t>
            </a:r>
          </a:p>
          <a:p>
            <a:pPr marL="1588" indent="-1588">
              <a:buFont typeface="Wingdings" panose="05000000000000000000" pitchFamily="2" charset="2"/>
              <a:buNone/>
            </a:pPr>
            <a:r>
              <a:rPr lang="vi-VN" altLang="en-US" b="0" dirty="0"/>
              <a:t>Sử dụng trọng </a:t>
            </a:r>
            <a:r>
              <a:rPr lang="en-US" altLang="en-US" b="0" dirty="0" err="1"/>
              <a:t>lượng</a:t>
            </a:r>
            <a:r>
              <a:rPr lang="vi-VN" altLang="en-US" b="0" dirty="0"/>
              <a:t> của đàn ông từ một mẫu ngẫu nhiên, chúng tôi thu thập các số liệu thống kê mẫu này cho mẫu ngẫu nhiên đơn giản:</a:t>
            </a:r>
          </a:p>
          <a:p>
            <a:pPr marL="1588" indent="-1588">
              <a:buFont typeface="Wingdings" panose="05000000000000000000" pitchFamily="2" charset="2"/>
              <a:buNone/>
            </a:pPr>
            <a:r>
              <a:rPr lang="vi-VN" altLang="en-US" b="0" dirty="0"/>
              <a:t>n = 40 và </a:t>
            </a:r>
            <a:r>
              <a:rPr lang="en-US" altLang="en-US" b="0" dirty="0"/>
              <a:t>   </a:t>
            </a:r>
            <a:r>
              <a:rPr lang="vi-VN" altLang="en-US" b="0" dirty="0"/>
              <a:t>= 172,55 lb.</a:t>
            </a:r>
          </a:p>
          <a:p>
            <a:pPr marL="1588" indent="-1588">
              <a:buFont typeface="Wingdings" panose="05000000000000000000" pitchFamily="2" charset="2"/>
              <a:buNone/>
            </a:pPr>
            <a:r>
              <a:rPr lang="vi-VN" altLang="en-US" b="0" dirty="0"/>
              <a:t>Nghiên cứu từ một số nguồn khác cho thấy rằng quần thể trọng lượng của đàn ông có độ lệch chuẩn được đưa ra bởi </a:t>
            </a:r>
            <a:r>
              <a:rPr lang="el-GR" altLang="en-US" b="0" dirty="0"/>
              <a:t>σ = 26 </a:t>
            </a:r>
            <a:r>
              <a:rPr lang="vi-VN" altLang="en-US" b="0" dirty="0"/>
              <a:t>lb.</a:t>
            </a:r>
            <a:endParaRPr lang="en-US" altLang="en-US" b="0" dirty="0"/>
          </a:p>
        </p:txBody>
      </p:sp>
      <p:sp>
        <p:nvSpPr>
          <p:cNvPr id="65540" name="Rectangle 4"/>
          <p:cNvSpPr>
            <a:spLocks noChangeArrowheads="1"/>
          </p:cNvSpPr>
          <p:nvPr/>
        </p:nvSpPr>
        <p:spPr bwMode="auto">
          <a:xfrm>
            <a:off x="2651125" y="1987550"/>
            <a:ext cx="60801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65541" name="Rectangle 5"/>
          <p:cNvSpPr>
            <a:spLocks noChangeArrowheads="1"/>
          </p:cNvSpPr>
          <p:nvPr/>
        </p:nvSpPr>
        <p:spPr bwMode="auto">
          <a:xfrm>
            <a:off x="3108325" y="3313113"/>
            <a:ext cx="5072063"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65542" name="Rectangle 6"/>
          <p:cNvSpPr>
            <a:spLocks noChangeArrowheads="1"/>
          </p:cNvSpPr>
          <p:nvPr/>
        </p:nvSpPr>
        <p:spPr bwMode="auto">
          <a:xfrm>
            <a:off x="2955925" y="4073525"/>
            <a:ext cx="5554663"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65543" name="Rectangle 7"/>
          <p:cNvSpPr>
            <a:spLocks noChangeArrowheads="1"/>
          </p:cNvSpPr>
          <p:nvPr/>
        </p:nvSpPr>
        <p:spPr bwMode="auto">
          <a:xfrm>
            <a:off x="3717925" y="4987925"/>
            <a:ext cx="390207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graphicFrame>
        <p:nvGraphicFramePr>
          <p:cNvPr id="65544" name="Object 12"/>
          <p:cNvGraphicFramePr>
            <a:graphicFrameLocks noChangeAspect="1"/>
          </p:cNvGraphicFramePr>
          <p:nvPr>
            <p:extLst>
              <p:ext uri="{D42A27DB-BD31-4B8C-83A1-F6EECF244321}">
                <p14:modId xmlns:p14="http://schemas.microsoft.com/office/powerpoint/2010/main" val="3955607855"/>
              </p:ext>
            </p:extLst>
          </p:nvPr>
        </p:nvGraphicFramePr>
        <p:xfrm>
          <a:off x="1524000" y="4800600"/>
          <a:ext cx="254000" cy="317500"/>
        </p:xfrm>
        <a:graphic>
          <a:graphicData uri="http://schemas.openxmlformats.org/presentationml/2006/ole">
            <mc:AlternateContent xmlns:mc="http://schemas.openxmlformats.org/markup-compatibility/2006">
              <mc:Choice xmlns:v="urn:schemas-microsoft-com:vml" Requires="v">
                <p:oleObj name="Equation" r:id="rId3" imgW="254000" imgH="317500" progId="Equation.DSMT4">
                  <p:embed/>
                </p:oleObj>
              </mc:Choice>
              <mc:Fallback>
                <p:oleObj name="Equation" r:id="rId3" imgW="254000" imgH="317500"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4800600"/>
                        <a:ext cx="254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bwMode="auto">
          <a:xfrm>
            <a:off x="228600" y="533400"/>
            <a:ext cx="8534400" cy="5683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2800" dirty="0" err="1"/>
              <a:t>Ví</a:t>
            </a:r>
            <a:r>
              <a:rPr lang="en-US" altLang="en-US" sz="2800" dirty="0"/>
              <a:t> </a:t>
            </a:r>
            <a:r>
              <a:rPr lang="en-US" altLang="en-US" sz="2800" dirty="0" err="1"/>
              <a:t>dụ</a:t>
            </a:r>
            <a:endParaRPr lang="en-US" altLang="en-US" sz="2800" dirty="0">
              <a:solidFill>
                <a:schemeClr val="tx1"/>
              </a:solidFill>
            </a:endParaRPr>
          </a:p>
        </p:txBody>
      </p:sp>
      <p:sp>
        <p:nvSpPr>
          <p:cNvPr id="67587" name="Rectangle 3"/>
          <p:cNvSpPr>
            <a:spLocks noGrp="1" noChangeArrowheads="1"/>
          </p:cNvSpPr>
          <p:nvPr>
            <p:ph type="body" idx="4294967295"/>
          </p:nvPr>
        </p:nvSpPr>
        <p:spPr bwMode="auto">
          <a:xfrm>
            <a:off x="0" y="1270000"/>
            <a:ext cx="9144000" cy="5191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457200" indent="-457200">
              <a:buFont typeface="Wingdings" panose="05000000000000000000" pitchFamily="2" charset="2"/>
              <a:buNone/>
            </a:pPr>
            <a:r>
              <a:rPr lang="en-US" altLang="en-US" b="0" dirty="0"/>
              <a:t>a.	</a:t>
            </a:r>
            <a:r>
              <a:rPr lang="vi-VN" altLang="en-US" b="0" dirty="0"/>
              <a:t>Tìm ước </a:t>
            </a:r>
            <a:r>
              <a:rPr lang="en-US" altLang="en-US" b="0" dirty="0" err="1"/>
              <a:t>lượng</a:t>
            </a:r>
            <a:r>
              <a:rPr lang="vi-VN" altLang="en-US" b="0" dirty="0"/>
              <a:t> điểm tốt nhất về trọng lượng trung bình của </a:t>
            </a:r>
            <a:r>
              <a:rPr lang="en-US" altLang="en-US" b="0" dirty="0" err="1"/>
              <a:t>quần</a:t>
            </a:r>
            <a:r>
              <a:rPr lang="en-US" altLang="en-US" b="0" dirty="0"/>
              <a:t> </a:t>
            </a:r>
            <a:r>
              <a:rPr lang="en-US" altLang="en-US" b="0" dirty="0" err="1"/>
              <a:t>thể</a:t>
            </a:r>
            <a:r>
              <a:rPr lang="vi-VN" altLang="en-US" b="0" dirty="0"/>
              <a:t> của tất cả nam giới</a:t>
            </a:r>
            <a:r>
              <a:rPr lang="en-US" altLang="en-US" b="0" dirty="0"/>
              <a:t>.</a:t>
            </a:r>
          </a:p>
          <a:p>
            <a:pPr marL="457200" indent="-457200">
              <a:buFont typeface="Wingdings" panose="05000000000000000000" pitchFamily="2" charset="2"/>
              <a:buNone/>
            </a:pPr>
            <a:r>
              <a:rPr lang="en-US" altLang="en-US" b="0" dirty="0"/>
              <a:t>b.	</a:t>
            </a:r>
            <a:r>
              <a:rPr lang="vi-VN" altLang="en-US" b="0" dirty="0"/>
              <a:t>Xây dựng ước </a:t>
            </a:r>
            <a:r>
              <a:rPr lang="en-US" altLang="en-US" b="0" dirty="0" err="1"/>
              <a:t>lượng</a:t>
            </a:r>
            <a:r>
              <a:rPr lang="vi-VN" altLang="en-US" b="0" dirty="0"/>
              <a:t> khoảng tin cậy 95% của trọng lượng trung bình của tất cả nam giới</a:t>
            </a:r>
            <a:r>
              <a:rPr lang="en-US" altLang="en-US" b="0" dirty="0"/>
              <a:t>.</a:t>
            </a:r>
          </a:p>
          <a:p>
            <a:pPr marL="457200" indent="-457200">
              <a:buFont typeface="Wingdings" panose="05000000000000000000" pitchFamily="2" charset="2"/>
              <a:buNone/>
            </a:pPr>
            <a:r>
              <a:rPr lang="en-US" altLang="en-US" b="0" dirty="0"/>
              <a:t>c.	</a:t>
            </a:r>
            <a:r>
              <a:rPr lang="vi-VN" altLang="en-US" b="0" dirty="0"/>
              <a:t>Kết quả đề xuất về trọng lượng trung bình 166,3 lb được sử dụng để xác định khả năng chở khách an toàn của tàu cá vào năm 1960 (như được đưa ra trong khuyến cáo an toàn của Bộ Giao thông và An toàn Quốc gia M-04-04)</a:t>
            </a:r>
            <a:r>
              <a:rPr lang="en-US" altLang="en-US" b="0" dirty="0"/>
              <a:t> </a:t>
            </a:r>
            <a:r>
              <a:rPr lang="en-US" altLang="en-US" b="0" dirty="0" err="1"/>
              <a:t>như</a:t>
            </a:r>
            <a:r>
              <a:rPr lang="en-US" altLang="en-US" b="0" dirty="0"/>
              <a:t> </a:t>
            </a:r>
            <a:r>
              <a:rPr lang="en-US" altLang="en-US" b="0" dirty="0" err="1"/>
              <a:t>thế</a:t>
            </a:r>
            <a:r>
              <a:rPr lang="en-US" altLang="en-US" b="0" dirty="0"/>
              <a:t> </a:t>
            </a:r>
            <a:r>
              <a:rPr lang="en-US" altLang="en-US" b="0" dirty="0" err="1"/>
              <a:t>nào</a:t>
            </a:r>
            <a:r>
              <a:rPr lang="en-US" altLang="en-US" b="0" dirty="0"/>
              <a:t>?</a:t>
            </a:r>
          </a:p>
        </p:txBody>
      </p:sp>
      <p:sp>
        <p:nvSpPr>
          <p:cNvPr id="67588" name="Rectangle 4"/>
          <p:cNvSpPr>
            <a:spLocks noChangeArrowheads="1"/>
          </p:cNvSpPr>
          <p:nvPr/>
        </p:nvSpPr>
        <p:spPr bwMode="auto">
          <a:xfrm>
            <a:off x="2651125" y="1987550"/>
            <a:ext cx="60801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67589" name="Rectangle 5"/>
          <p:cNvSpPr>
            <a:spLocks noChangeArrowheads="1"/>
          </p:cNvSpPr>
          <p:nvPr/>
        </p:nvSpPr>
        <p:spPr bwMode="auto">
          <a:xfrm>
            <a:off x="3108325" y="3313113"/>
            <a:ext cx="5072063"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67590" name="Rectangle 6"/>
          <p:cNvSpPr>
            <a:spLocks noChangeArrowheads="1"/>
          </p:cNvSpPr>
          <p:nvPr/>
        </p:nvSpPr>
        <p:spPr bwMode="auto">
          <a:xfrm>
            <a:off x="2955925" y="4073525"/>
            <a:ext cx="5554663"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67591" name="Rectangle 7"/>
          <p:cNvSpPr>
            <a:spLocks noChangeArrowheads="1"/>
          </p:cNvSpPr>
          <p:nvPr/>
        </p:nvSpPr>
        <p:spPr bwMode="auto">
          <a:xfrm>
            <a:off x="3717925" y="4987925"/>
            <a:ext cx="390207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bwMode="auto">
          <a:xfrm>
            <a:off x="76200" y="422275"/>
            <a:ext cx="8534400" cy="5683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2800" dirty="0" err="1"/>
              <a:t>Ví</a:t>
            </a:r>
            <a:r>
              <a:rPr lang="en-US" altLang="en-US" sz="2800" dirty="0"/>
              <a:t> </a:t>
            </a:r>
            <a:r>
              <a:rPr lang="en-US" altLang="en-US" sz="2800" dirty="0" err="1"/>
              <a:t>dụ</a:t>
            </a:r>
            <a:endParaRPr lang="en-US" altLang="en-US" sz="2800" dirty="0">
              <a:solidFill>
                <a:schemeClr val="tx1"/>
              </a:solidFill>
            </a:endParaRPr>
          </a:p>
        </p:txBody>
      </p:sp>
      <p:sp>
        <p:nvSpPr>
          <p:cNvPr id="69635" name="Rectangle 3"/>
          <p:cNvSpPr>
            <a:spLocks noGrp="1" noChangeArrowheads="1"/>
          </p:cNvSpPr>
          <p:nvPr>
            <p:ph type="body" idx="4294967295"/>
          </p:nvPr>
        </p:nvSpPr>
        <p:spPr bwMode="auto">
          <a:xfrm>
            <a:off x="0" y="955675"/>
            <a:ext cx="9144000" cy="873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457200" indent="-457200">
              <a:buFont typeface="Wingdings" panose="05000000000000000000" pitchFamily="2" charset="2"/>
              <a:buNone/>
            </a:pPr>
            <a:r>
              <a:rPr lang="en-US" altLang="en-US" sz="2200" b="0" dirty="0"/>
              <a:t>a.	</a:t>
            </a:r>
            <a:r>
              <a:rPr lang="vi-VN" altLang="en-US" sz="2200" b="0" dirty="0"/>
              <a:t>Trung bình mẫu 172,55 lb là ước </a:t>
            </a:r>
            <a:r>
              <a:rPr lang="en-US" altLang="en-US" sz="2200" b="0" dirty="0" err="1"/>
              <a:t>lượng</a:t>
            </a:r>
            <a:r>
              <a:rPr lang="vi-VN" altLang="en-US" sz="2200" b="0" dirty="0"/>
              <a:t> điểm tốt nhất về trọng lượng trung bình của </a:t>
            </a:r>
            <a:r>
              <a:rPr lang="en-US" altLang="en-US" sz="2200" b="0" dirty="0" err="1"/>
              <a:t>quần</a:t>
            </a:r>
            <a:r>
              <a:rPr lang="en-US" altLang="en-US" sz="2200" b="0" dirty="0"/>
              <a:t> </a:t>
            </a:r>
            <a:r>
              <a:rPr lang="en-US" altLang="en-US" sz="2200" b="0" dirty="0" err="1"/>
              <a:t>thể</a:t>
            </a:r>
            <a:r>
              <a:rPr lang="vi-VN" altLang="en-US" sz="2200" b="0" dirty="0"/>
              <a:t> của tất cả nam giới</a:t>
            </a:r>
            <a:r>
              <a:rPr lang="en-US" altLang="en-US" sz="2200" b="0" dirty="0"/>
              <a:t>.</a:t>
            </a:r>
          </a:p>
        </p:txBody>
      </p:sp>
      <p:sp>
        <p:nvSpPr>
          <p:cNvPr id="69636" name="Rectangle 4"/>
          <p:cNvSpPr>
            <a:spLocks noChangeArrowheads="1"/>
          </p:cNvSpPr>
          <p:nvPr/>
        </p:nvSpPr>
        <p:spPr bwMode="auto">
          <a:xfrm>
            <a:off x="2651125" y="1987550"/>
            <a:ext cx="60801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69637" name="Rectangle 5"/>
          <p:cNvSpPr>
            <a:spLocks noChangeArrowheads="1"/>
          </p:cNvSpPr>
          <p:nvPr/>
        </p:nvSpPr>
        <p:spPr bwMode="auto">
          <a:xfrm>
            <a:off x="3108325" y="3313113"/>
            <a:ext cx="5072063"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69638" name="Rectangle 6"/>
          <p:cNvSpPr>
            <a:spLocks noChangeArrowheads="1"/>
          </p:cNvSpPr>
          <p:nvPr/>
        </p:nvSpPr>
        <p:spPr bwMode="auto">
          <a:xfrm>
            <a:off x="2955925" y="4073525"/>
            <a:ext cx="5554663"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69639" name="Rectangle 7"/>
          <p:cNvSpPr>
            <a:spLocks noChangeArrowheads="1"/>
          </p:cNvSpPr>
          <p:nvPr/>
        </p:nvSpPr>
        <p:spPr bwMode="auto">
          <a:xfrm>
            <a:off x="3717925" y="4987925"/>
            <a:ext cx="390207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graphicFrame>
        <p:nvGraphicFramePr>
          <p:cNvPr id="69640" name="Object 8"/>
          <p:cNvGraphicFramePr>
            <a:graphicFrameLocks noChangeAspect="1"/>
          </p:cNvGraphicFramePr>
          <p:nvPr/>
        </p:nvGraphicFramePr>
        <p:xfrm>
          <a:off x="838200" y="2819400"/>
          <a:ext cx="5029200" cy="749300"/>
        </p:xfrm>
        <a:graphic>
          <a:graphicData uri="http://schemas.openxmlformats.org/presentationml/2006/ole">
            <mc:AlternateContent xmlns:mc="http://schemas.openxmlformats.org/markup-compatibility/2006">
              <mc:Choice xmlns:v="urn:schemas-microsoft-com:vml" Requires="v">
                <p:oleObj name="Equation" r:id="rId3" imgW="6045200" imgH="901700" progId="Equation.DSMT4">
                  <p:embed/>
                </p:oleObj>
              </mc:Choice>
              <mc:Fallback>
                <p:oleObj name="Equation" r:id="rId3" imgW="6045200" imgH="9017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819400"/>
                        <a:ext cx="502920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41" name="Rectangle 9"/>
          <p:cNvSpPr>
            <a:spLocks noChangeArrowheads="1"/>
          </p:cNvSpPr>
          <p:nvPr/>
        </p:nvSpPr>
        <p:spPr bwMode="auto">
          <a:xfrm>
            <a:off x="0" y="1676400"/>
            <a:ext cx="9144000" cy="185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457200" indent="-457200">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150000"/>
              </a:lnSpc>
              <a:spcBef>
                <a:spcPct val="30000"/>
              </a:spcBef>
              <a:buClr>
                <a:schemeClr val="accent2"/>
              </a:buClr>
            </a:pPr>
            <a:r>
              <a:rPr lang="en-US" altLang="en-US" sz="2200" b="0" dirty="0">
                <a:latin typeface="+mn-lt"/>
              </a:rPr>
              <a:t>b.	</a:t>
            </a:r>
            <a:r>
              <a:rPr lang="en-US" altLang="en-US" sz="2200" b="0" dirty="0" err="1">
                <a:latin typeface="+mn-lt"/>
              </a:rPr>
              <a:t>Khoảng</a:t>
            </a:r>
            <a:r>
              <a:rPr lang="en-US" altLang="en-US" sz="2200" b="0" dirty="0">
                <a:latin typeface="+mn-lt"/>
              </a:rPr>
              <a:t> tin </a:t>
            </a:r>
            <a:r>
              <a:rPr lang="en-US" altLang="en-US" sz="2200" b="0" dirty="0" err="1">
                <a:latin typeface="+mn-lt"/>
              </a:rPr>
              <a:t>cậy</a:t>
            </a:r>
            <a:r>
              <a:rPr lang="en-US" altLang="en-US" sz="2200" b="0" dirty="0">
                <a:latin typeface="+mn-lt"/>
              </a:rPr>
              <a:t> 95% </a:t>
            </a:r>
            <a:r>
              <a:rPr lang="en-US" altLang="en-US" sz="2200" b="0" dirty="0" err="1">
                <a:latin typeface="+mn-lt"/>
              </a:rPr>
              <a:t>ngụ</a:t>
            </a:r>
            <a:r>
              <a:rPr lang="en-US" altLang="en-US" sz="2200" b="0" dirty="0">
                <a:latin typeface="+mn-lt"/>
              </a:rPr>
              <a:t> ý </a:t>
            </a:r>
            <a:r>
              <a:rPr lang="en-US" altLang="en-US" sz="2200" b="0" dirty="0" err="1">
                <a:latin typeface="+mn-lt"/>
              </a:rPr>
              <a:t>rằng</a:t>
            </a:r>
            <a:r>
              <a:rPr lang="en-US" altLang="en-US" sz="2200" b="0" dirty="0">
                <a:latin typeface="+mn-lt"/>
              </a:rPr>
              <a:t> </a:t>
            </a:r>
            <a:r>
              <a:rPr lang="el-GR" altLang="en-US" sz="2200" b="0" dirty="0">
                <a:latin typeface="+mn-lt"/>
              </a:rPr>
              <a:t>α = 0,05, </a:t>
            </a:r>
            <a:r>
              <a:rPr lang="en-US" altLang="en-US" sz="2200" b="0" dirty="0" err="1">
                <a:latin typeface="+mn-lt"/>
              </a:rPr>
              <a:t>vì</a:t>
            </a:r>
            <a:r>
              <a:rPr lang="en-US" altLang="en-US" sz="2200" b="0" dirty="0">
                <a:latin typeface="+mn-lt"/>
              </a:rPr>
              <a:t> </a:t>
            </a:r>
            <a:r>
              <a:rPr lang="en-US" altLang="en-US" sz="2200" b="0" dirty="0" err="1">
                <a:latin typeface="+mn-lt"/>
              </a:rPr>
              <a:t>vậy</a:t>
            </a:r>
            <a:r>
              <a:rPr lang="en-US" altLang="en-US" sz="2200" b="0" dirty="0">
                <a:latin typeface="+mn-lt"/>
              </a:rPr>
              <a:t> </a:t>
            </a:r>
            <a:r>
              <a:rPr lang="en-US" altLang="en-US" sz="2200" b="0" i="1" dirty="0">
                <a:latin typeface="+mn-lt"/>
              </a:rPr>
              <a:t>z</a:t>
            </a:r>
            <a:r>
              <a:rPr lang="el-GR" altLang="en-US" sz="2200" b="0" i="1" baseline="-25000" dirty="0">
                <a:latin typeface="+mn-lt"/>
              </a:rPr>
              <a:t>α</a:t>
            </a:r>
            <a:r>
              <a:rPr lang="en-US" altLang="en-US" sz="2200" b="0" baseline="-25000" dirty="0">
                <a:latin typeface="+mn-lt"/>
              </a:rPr>
              <a:t>/2</a:t>
            </a:r>
            <a:r>
              <a:rPr lang="en-US" altLang="en-US" sz="2200" b="0" dirty="0">
                <a:latin typeface="+mn-lt"/>
              </a:rPr>
              <a:t>= 1.96.</a:t>
            </a:r>
            <a:br>
              <a:rPr lang="en-US" altLang="en-US" sz="2200" b="0" dirty="0">
                <a:latin typeface="+mn-lt"/>
              </a:rPr>
            </a:br>
            <a:r>
              <a:rPr lang="en-US" altLang="en-US" sz="2200" b="0" dirty="0" err="1">
                <a:latin typeface="+mn-lt"/>
              </a:rPr>
              <a:t>Tính</a:t>
            </a:r>
            <a:r>
              <a:rPr lang="en-US" altLang="en-US" sz="2200" b="0" dirty="0">
                <a:latin typeface="+mn-lt"/>
              </a:rPr>
              <a:t> </a:t>
            </a:r>
            <a:r>
              <a:rPr lang="en-US" altLang="en-US" sz="2200" b="0" dirty="0" err="1">
                <a:latin typeface="+mn-lt"/>
              </a:rPr>
              <a:t>biên</a:t>
            </a:r>
            <a:r>
              <a:rPr lang="en-US" altLang="en-US" sz="2200" b="0" dirty="0">
                <a:latin typeface="+mn-lt"/>
              </a:rPr>
              <a:t> </a:t>
            </a:r>
            <a:r>
              <a:rPr lang="en-US" altLang="en-US" sz="2200" b="0" dirty="0" err="1">
                <a:latin typeface="+mn-lt"/>
              </a:rPr>
              <a:t>độ</a:t>
            </a:r>
            <a:r>
              <a:rPr lang="en-US" altLang="en-US" sz="2200" b="0" dirty="0">
                <a:latin typeface="+mn-lt"/>
              </a:rPr>
              <a:t> </a:t>
            </a:r>
            <a:r>
              <a:rPr lang="en-US" altLang="en-US" sz="2200" b="0" dirty="0" err="1">
                <a:latin typeface="+mn-lt"/>
              </a:rPr>
              <a:t>lỗi</a:t>
            </a:r>
            <a:r>
              <a:rPr lang="en-US" altLang="en-US" sz="2200" b="0" dirty="0">
                <a:latin typeface="+mn-lt"/>
              </a:rPr>
              <a:t>.</a:t>
            </a:r>
          </a:p>
        </p:txBody>
      </p:sp>
      <p:sp>
        <p:nvSpPr>
          <p:cNvPr id="69642" name="Rectangle 10"/>
          <p:cNvSpPr>
            <a:spLocks noChangeArrowheads="1"/>
          </p:cNvSpPr>
          <p:nvPr/>
        </p:nvSpPr>
        <p:spPr bwMode="auto">
          <a:xfrm>
            <a:off x="990600" y="4114800"/>
            <a:ext cx="445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en-US" altLang="en-US" sz="2200" b="0" dirty="0" err="1"/>
              <a:t>Xây</a:t>
            </a:r>
            <a:r>
              <a:rPr lang="en-US" altLang="en-US" sz="2200" b="0" dirty="0"/>
              <a:t> </a:t>
            </a:r>
            <a:r>
              <a:rPr lang="en-US" altLang="en-US" sz="2200" b="0" dirty="0" err="1"/>
              <a:t>dựng</a:t>
            </a:r>
            <a:r>
              <a:rPr lang="en-US" altLang="en-US" sz="2200" b="0" dirty="0"/>
              <a:t> </a:t>
            </a:r>
            <a:r>
              <a:rPr lang="en-US" altLang="en-US" sz="2200" b="0" dirty="0" err="1"/>
              <a:t>khoảng</a:t>
            </a:r>
            <a:r>
              <a:rPr lang="en-US" altLang="en-US" sz="2200" b="0" dirty="0"/>
              <a:t> tin </a:t>
            </a:r>
            <a:r>
              <a:rPr lang="en-US" altLang="en-US" sz="2200" b="0" dirty="0" err="1"/>
              <a:t>cậy</a:t>
            </a:r>
            <a:r>
              <a:rPr lang="en-US" altLang="en-US" sz="2200" b="0" dirty="0"/>
              <a:t>.</a:t>
            </a:r>
          </a:p>
        </p:txBody>
      </p:sp>
      <p:graphicFrame>
        <p:nvGraphicFramePr>
          <p:cNvPr id="69643" name="Object 11"/>
          <p:cNvGraphicFramePr>
            <a:graphicFrameLocks noChangeAspect="1"/>
          </p:cNvGraphicFramePr>
          <p:nvPr/>
        </p:nvGraphicFramePr>
        <p:xfrm>
          <a:off x="1600200" y="4724400"/>
          <a:ext cx="5397500" cy="1120775"/>
        </p:xfrm>
        <a:graphic>
          <a:graphicData uri="http://schemas.openxmlformats.org/presentationml/2006/ole">
            <mc:AlternateContent xmlns:mc="http://schemas.openxmlformats.org/markup-compatibility/2006">
              <mc:Choice xmlns:v="urn:schemas-microsoft-com:vml" Requires="v">
                <p:oleObj name="Equation" r:id="rId5" imgW="7035800" imgH="1460500" progId="Equation.DSMT4">
                  <p:embed/>
                </p:oleObj>
              </mc:Choice>
              <mc:Fallback>
                <p:oleObj name="Equation" r:id="rId5" imgW="7035800" imgH="1460500"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4724400"/>
                        <a:ext cx="5397500"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bwMode="auto">
          <a:xfrm>
            <a:off x="304800" y="533400"/>
            <a:ext cx="8534400" cy="5683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2800" dirty="0" err="1"/>
              <a:t>Ví</a:t>
            </a:r>
            <a:r>
              <a:rPr lang="en-US" altLang="en-US" sz="2800" dirty="0"/>
              <a:t> </a:t>
            </a:r>
            <a:r>
              <a:rPr lang="en-US" altLang="en-US" sz="2800" dirty="0" err="1"/>
              <a:t>dụ</a:t>
            </a:r>
            <a:endParaRPr lang="en-US" altLang="en-US" sz="2800" dirty="0">
              <a:solidFill>
                <a:schemeClr val="tx1"/>
              </a:solidFill>
            </a:endParaRPr>
          </a:p>
        </p:txBody>
      </p:sp>
      <p:sp>
        <p:nvSpPr>
          <p:cNvPr id="71683" name="Rectangle 3"/>
          <p:cNvSpPr>
            <a:spLocks noGrp="1" noChangeArrowheads="1"/>
          </p:cNvSpPr>
          <p:nvPr>
            <p:ph type="body" idx="4294967295"/>
          </p:nvPr>
        </p:nvSpPr>
        <p:spPr bwMode="auto">
          <a:xfrm>
            <a:off x="0" y="1295400"/>
            <a:ext cx="9144000" cy="46116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457200" indent="-457200">
              <a:buFont typeface="Wingdings" panose="05000000000000000000" pitchFamily="2" charset="2"/>
              <a:buAutoNum type="alphaLcPeriod" startAt="3"/>
            </a:pPr>
            <a:r>
              <a:rPr lang="vi-VN" altLang="en-US" b="0" dirty="0"/>
              <a:t>Dựa trên khoảng tin cậy, có thể trọng lượng trung bình 166,3 lb được sử dụng trong năm 1960 có thể là trọng lượng trung bình của nam giới ngày nay.</a:t>
            </a:r>
          </a:p>
          <a:p>
            <a:pPr marL="457200" indent="-457200">
              <a:buFont typeface="Wingdings" panose="05000000000000000000" pitchFamily="2" charset="2"/>
              <a:buAutoNum type="alphaLcPeriod" startAt="3"/>
            </a:pPr>
            <a:endParaRPr lang="vi-VN" altLang="en-US" b="0" dirty="0"/>
          </a:p>
          <a:p>
            <a:pPr marL="400050" lvl="1" indent="0">
              <a:buFontTx/>
              <a:buNone/>
            </a:pPr>
            <a:r>
              <a:rPr lang="vi-VN" altLang="en-US" sz="2400" b="0" dirty="0"/>
              <a:t>Tuy nhiên, ước </a:t>
            </a:r>
            <a:r>
              <a:rPr lang="en-US" altLang="en-US" sz="2400" b="0" dirty="0" err="1"/>
              <a:t>lượng</a:t>
            </a:r>
            <a:r>
              <a:rPr lang="vi-VN" altLang="en-US" sz="2400" b="0" dirty="0"/>
              <a:t> điểm tốt nhất là 172,55 lb cho thấy trọng lượng trung bình của nam giới bây giờ lớn hơn đáng kể so với 166,3 lb.</a:t>
            </a:r>
          </a:p>
          <a:p>
            <a:pPr marL="457200" indent="-457200">
              <a:buFont typeface="Wingdings" panose="05000000000000000000" pitchFamily="2" charset="2"/>
              <a:buAutoNum type="alphaLcPeriod" startAt="3"/>
            </a:pPr>
            <a:endParaRPr lang="vi-VN" altLang="en-US" b="0" dirty="0"/>
          </a:p>
        </p:txBody>
      </p:sp>
      <p:sp>
        <p:nvSpPr>
          <p:cNvPr id="71684" name="Rectangle 4"/>
          <p:cNvSpPr>
            <a:spLocks noChangeArrowheads="1"/>
          </p:cNvSpPr>
          <p:nvPr/>
        </p:nvSpPr>
        <p:spPr bwMode="auto">
          <a:xfrm>
            <a:off x="2651125" y="1987550"/>
            <a:ext cx="60801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71685" name="Rectangle 5"/>
          <p:cNvSpPr>
            <a:spLocks noChangeArrowheads="1"/>
          </p:cNvSpPr>
          <p:nvPr/>
        </p:nvSpPr>
        <p:spPr bwMode="auto">
          <a:xfrm>
            <a:off x="3108325" y="3313113"/>
            <a:ext cx="5072063"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71686" name="Rectangle 6"/>
          <p:cNvSpPr>
            <a:spLocks noChangeArrowheads="1"/>
          </p:cNvSpPr>
          <p:nvPr/>
        </p:nvSpPr>
        <p:spPr bwMode="auto">
          <a:xfrm>
            <a:off x="2955925" y="4073525"/>
            <a:ext cx="5554663"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71687" name="Rectangle 7"/>
          <p:cNvSpPr>
            <a:spLocks noChangeArrowheads="1"/>
          </p:cNvSpPr>
          <p:nvPr/>
        </p:nvSpPr>
        <p:spPr bwMode="auto">
          <a:xfrm>
            <a:off x="3717925" y="4987925"/>
            <a:ext cx="390207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idx="4294967295"/>
          </p:nvPr>
        </p:nvSpPr>
        <p:spPr bwMode="auto">
          <a:xfrm>
            <a:off x="609600" y="609600"/>
            <a:ext cx="7848600" cy="885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t>Kích</a:t>
            </a:r>
            <a:r>
              <a:rPr lang="en-US" altLang="en-US" dirty="0"/>
              <a:t> </a:t>
            </a:r>
            <a:r>
              <a:rPr lang="en-US" altLang="en-US" dirty="0" err="1"/>
              <a:t>thước</a:t>
            </a:r>
            <a:r>
              <a:rPr lang="en-US" altLang="en-US" dirty="0"/>
              <a:t> </a:t>
            </a:r>
            <a:r>
              <a:rPr lang="en-US" altLang="en-US" dirty="0" err="1"/>
              <a:t>mẫu</a:t>
            </a:r>
            <a:endParaRPr lang="en-US" altLang="en-US" dirty="0"/>
          </a:p>
        </p:txBody>
      </p:sp>
      <p:sp>
        <p:nvSpPr>
          <p:cNvPr id="118787" name="Text Box 3"/>
          <p:cNvSpPr txBox="1">
            <a:spLocks noChangeArrowheads="1"/>
          </p:cNvSpPr>
          <p:nvPr/>
        </p:nvSpPr>
        <p:spPr bwMode="auto">
          <a:xfrm>
            <a:off x="0" y="2051050"/>
            <a:ext cx="9144000" cy="147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50000"/>
              </a:spcBef>
            </a:pPr>
            <a:r>
              <a:rPr lang="vi-VN" altLang="en-US" sz="2800" b="0" dirty="0"/>
              <a:t>Giả sử chúng tôi muốn thu thập dữ liệu mẫu để ước tính t</a:t>
            </a:r>
            <a:r>
              <a:rPr lang="en-US" altLang="en-US" sz="2800" b="0" dirty="0"/>
              <a:t>rung </a:t>
            </a:r>
            <a:r>
              <a:rPr lang="en-US" altLang="en-US" sz="2800" b="0" dirty="0" err="1"/>
              <a:t>bình</a:t>
            </a:r>
            <a:r>
              <a:rPr lang="vi-VN" altLang="en-US" sz="2800" b="0" dirty="0"/>
              <a:t> </a:t>
            </a:r>
            <a:r>
              <a:rPr lang="en-US" altLang="en-US" sz="2800" b="0" dirty="0" err="1"/>
              <a:t>quần</a:t>
            </a:r>
            <a:r>
              <a:rPr lang="en-US" altLang="en-US" sz="2800" b="0" dirty="0"/>
              <a:t> </a:t>
            </a:r>
            <a:r>
              <a:rPr lang="en-US" altLang="en-US" sz="2800" b="0" dirty="0" err="1"/>
              <a:t>thể</a:t>
            </a:r>
            <a:r>
              <a:rPr lang="en-US" altLang="en-US" sz="2800" b="0" dirty="0"/>
              <a:t>.  </a:t>
            </a:r>
          </a:p>
          <a:p>
            <a:pPr>
              <a:lnSpc>
                <a:spcPct val="90000"/>
              </a:lnSpc>
              <a:spcBef>
                <a:spcPct val="50000"/>
              </a:spcBef>
            </a:pPr>
            <a:r>
              <a:rPr lang="en-US" altLang="en-US" sz="2800" b="0" dirty="0" err="1"/>
              <a:t>Câu</a:t>
            </a:r>
            <a:r>
              <a:rPr lang="en-US" altLang="en-US" sz="2800" b="0" dirty="0"/>
              <a:t> </a:t>
            </a:r>
            <a:r>
              <a:rPr lang="en-US" altLang="en-US" sz="2800" b="0" dirty="0" err="1"/>
              <a:t>hỏi</a:t>
            </a:r>
            <a:r>
              <a:rPr lang="en-US" altLang="en-US" sz="2800" b="0" dirty="0"/>
              <a:t> </a:t>
            </a:r>
            <a:r>
              <a:rPr lang="en-US" altLang="en-US" sz="2800" b="0" dirty="0" err="1"/>
              <a:t>đặt</a:t>
            </a:r>
            <a:r>
              <a:rPr lang="en-US" altLang="en-US" sz="2800" b="0" dirty="0"/>
              <a:t> </a:t>
            </a:r>
            <a:r>
              <a:rPr lang="en-US" altLang="en-US" sz="2800" b="0" dirty="0" err="1"/>
              <a:t>ra</a:t>
            </a:r>
            <a:r>
              <a:rPr lang="en-US" altLang="en-US" sz="2800" b="0" dirty="0"/>
              <a:t> </a:t>
            </a:r>
            <a:r>
              <a:rPr lang="en-US" altLang="en-US" sz="2800" b="0" dirty="0" err="1"/>
              <a:t>là</a:t>
            </a:r>
            <a:r>
              <a:rPr lang="en-US" altLang="en-US" sz="2800" b="0" dirty="0"/>
              <a:t> </a:t>
            </a:r>
            <a:r>
              <a:rPr lang="en-US" altLang="en-US" sz="2800" b="0" dirty="0" err="1">
                <a:solidFill>
                  <a:srgbClr val="FF0000"/>
                </a:solidFill>
              </a:rPr>
              <a:t>phải</a:t>
            </a:r>
            <a:r>
              <a:rPr lang="en-US" altLang="en-US" sz="2800" b="0" dirty="0">
                <a:solidFill>
                  <a:srgbClr val="FF0000"/>
                </a:solidFill>
              </a:rPr>
              <a:t> </a:t>
            </a:r>
            <a:r>
              <a:rPr lang="en-US" altLang="en-US" sz="2800" b="0" dirty="0" err="1">
                <a:solidFill>
                  <a:srgbClr val="FF0000"/>
                </a:solidFill>
              </a:rPr>
              <a:t>lấy</a:t>
            </a:r>
            <a:r>
              <a:rPr lang="en-US" altLang="en-US" sz="2800" b="0" dirty="0">
                <a:solidFill>
                  <a:srgbClr val="FF0000"/>
                </a:solidFill>
              </a:rPr>
              <a:t> </a:t>
            </a:r>
            <a:r>
              <a:rPr lang="en-US" altLang="en-US" sz="2800" b="0" dirty="0" err="1">
                <a:solidFill>
                  <a:srgbClr val="FF0000"/>
                </a:solidFill>
              </a:rPr>
              <a:t>mẫu</a:t>
            </a:r>
            <a:r>
              <a:rPr lang="en-US" altLang="en-US" sz="2800" b="0" dirty="0">
                <a:solidFill>
                  <a:srgbClr val="FF0000"/>
                </a:solidFill>
              </a:rPr>
              <a:t> </a:t>
            </a:r>
            <a:r>
              <a:rPr lang="en-US" altLang="en-US" sz="2800" b="0" dirty="0" err="1">
                <a:solidFill>
                  <a:srgbClr val="FF0000"/>
                </a:solidFill>
              </a:rPr>
              <a:t>kích</a:t>
            </a:r>
            <a:r>
              <a:rPr lang="en-US" altLang="en-US" sz="2800" b="0" dirty="0">
                <a:solidFill>
                  <a:srgbClr val="FF0000"/>
                </a:solidFill>
              </a:rPr>
              <a:t> </a:t>
            </a:r>
            <a:r>
              <a:rPr lang="en-US" altLang="en-US" sz="2800" b="0" dirty="0" err="1">
                <a:solidFill>
                  <a:srgbClr val="FF0000"/>
                </a:solidFill>
              </a:rPr>
              <a:t>thước</a:t>
            </a:r>
            <a:r>
              <a:rPr lang="en-US" altLang="en-US" sz="2800" b="0" dirty="0">
                <a:solidFill>
                  <a:srgbClr val="FF0000"/>
                </a:solidFill>
              </a:rPr>
              <a:t> </a:t>
            </a:r>
            <a:r>
              <a:rPr lang="en-US" altLang="en-US" sz="2800" b="0" dirty="0" err="1">
                <a:solidFill>
                  <a:srgbClr val="FF0000"/>
                </a:solidFill>
              </a:rPr>
              <a:t>bao</a:t>
            </a:r>
            <a:r>
              <a:rPr lang="en-US" altLang="en-US" sz="2800" b="0" dirty="0">
                <a:solidFill>
                  <a:srgbClr val="FF0000"/>
                </a:solidFill>
              </a:rPr>
              <a:t> </a:t>
            </a:r>
            <a:r>
              <a:rPr lang="en-US" altLang="en-US" sz="2800" b="0" dirty="0" err="1">
                <a:solidFill>
                  <a:srgbClr val="FF0000"/>
                </a:solidFill>
              </a:rPr>
              <a:t>nhiêu</a:t>
            </a:r>
            <a:r>
              <a:rPr lang="en-US" altLang="en-US" sz="2800" b="0" dirty="0"/>
              <a:t>?</a:t>
            </a:r>
          </a:p>
        </p:txBody>
      </p:sp>
    </p:spTree>
    <p:extLst>
      <p:ext uri="{BB962C8B-B14F-4D97-AF65-F5344CB8AC3E}">
        <p14:creationId xmlns:p14="http://schemas.microsoft.com/office/powerpoint/2010/main" val="200541906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bwMode="auto">
          <a:xfrm>
            <a:off x="381000" y="533400"/>
            <a:ext cx="8607425" cy="1290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dirty="0" err="1"/>
              <a:t>Tìm</a:t>
            </a:r>
            <a:r>
              <a:rPr lang="en-US" altLang="en-US" dirty="0"/>
              <a:t> </a:t>
            </a:r>
            <a:r>
              <a:rPr lang="en-US" altLang="en-US" dirty="0" err="1"/>
              <a:t>kích</a:t>
            </a:r>
            <a:r>
              <a:rPr lang="en-US" altLang="en-US" dirty="0"/>
              <a:t> </a:t>
            </a:r>
            <a:r>
              <a:rPr lang="en-US" altLang="en-US" dirty="0" err="1"/>
              <a:t>thước</a:t>
            </a:r>
            <a:r>
              <a:rPr lang="en-US" altLang="en-US" dirty="0"/>
              <a:t> </a:t>
            </a:r>
            <a:r>
              <a:rPr lang="en-US" altLang="en-US" dirty="0" err="1"/>
              <a:t>mẫu</a:t>
            </a:r>
            <a:r>
              <a:rPr lang="en-US" altLang="en-US" dirty="0"/>
              <a:t> </a:t>
            </a:r>
            <a:r>
              <a:rPr lang="en-US" altLang="en-US" dirty="0" err="1"/>
              <a:t>để</a:t>
            </a:r>
            <a:r>
              <a:rPr lang="en-US" altLang="en-US" dirty="0"/>
              <a:t> </a:t>
            </a:r>
            <a:r>
              <a:rPr lang="en-US" altLang="en-US" dirty="0" err="1"/>
              <a:t>ước</a:t>
            </a:r>
            <a:r>
              <a:rPr lang="en-US" altLang="en-US" dirty="0"/>
              <a:t> </a:t>
            </a:r>
            <a:r>
              <a:rPr lang="en-US" altLang="en-US" dirty="0" err="1"/>
              <a:t>lượng</a:t>
            </a:r>
            <a:r>
              <a:rPr lang="en-US" altLang="en-US" dirty="0"/>
              <a:t> </a:t>
            </a:r>
            <a:r>
              <a:rPr lang="en-US" altLang="en-US" dirty="0" err="1"/>
              <a:t>trung</a:t>
            </a:r>
            <a:r>
              <a:rPr lang="en-US" altLang="en-US" dirty="0"/>
              <a:t> </a:t>
            </a:r>
            <a:r>
              <a:rPr lang="en-US" altLang="en-US" dirty="0" err="1"/>
              <a:t>bình</a:t>
            </a:r>
            <a:r>
              <a:rPr lang="en-US" altLang="en-US" dirty="0"/>
              <a:t> </a:t>
            </a:r>
            <a:r>
              <a:rPr lang="en-US" altLang="en-US" dirty="0" err="1"/>
              <a:t>quần</a:t>
            </a:r>
            <a:r>
              <a:rPr lang="en-US" altLang="en-US" dirty="0"/>
              <a:t> </a:t>
            </a:r>
            <a:r>
              <a:rPr lang="en-US" altLang="en-US" dirty="0" err="1"/>
              <a:t>thể</a:t>
            </a:r>
            <a:endParaRPr lang="en-US" altLang="en-US" i="1" dirty="0"/>
          </a:p>
        </p:txBody>
      </p:sp>
      <p:sp>
        <p:nvSpPr>
          <p:cNvPr id="40963" name="Rectangle 4"/>
          <p:cNvSpPr>
            <a:spLocks noChangeArrowheads="1"/>
          </p:cNvSpPr>
          <p:nvPr/>
        </p:nvSpPr>
        <p:spPr bwMode="auto">
          <a:xfrm>
            <a:off x="6403975" y="5160963"/>
            <a:ext cx="330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40964" name="Rectangle 8"/>
          <p:cNvSpPr>
            <a:spLocks noChangeArrowheads="1"/>
          </p:cNvSpPr>
          <p:nvPr/>
        </p:nvSpPr>
        <p:spPr bwMode="auto">
          <a:xfrm>
            <a:off x="3125788" y="1571625"/>
            <a:ext cx="20986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en-US" altLang="en-US" sz="4400"/>
              <a:t>        </a:t>
            </a:r>
            <a:endParaRPr lang="en-US" altLang="en-US" sz="4400" baseline="30000"/>
          </a:p>
        </p:txBody>
      </p:sp>
      <p:sp>
        <p:nvSpPr>
          <p:cNvPr id="40965" name="Rectangle 16"/>
          <p:cNvSpPr>
            <a:spLocks noChangeArrowheads="1"/>
          </p:cNvSpPr>
          <p:nvPr/>
        </p:nvSpPr>
        <p:spPr bwMode="auto">
          <a:xfrm>
            <a:off x="5786438" y="1549400"/>
            <a:ext cx="21907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sz="4800" i="1" baseline="-25000">
              <a:latin typeface="Symbol" panose="05050102010706020507" pitchFamily="18" charset="2"/>
            </a:endParaRPr>
          </a:p>
        </p:txBody>
      </p:sp>
      <p:sp>
        <p:nvSpPr>
          <p:cNvPr id="40966" name="Text Box 30"/>
          <p:cNvSpPr txBox="1">
            <a:spLocks noChangeArrowheads="1"/>
          </p:cNvSpPr>
          <p:nvPr/>
        </p:nvSpPr>
        <p:spPr bwMode="auto">
          <a:xfrm>
            <a:off x="520700" y="1563688"/>
            <a:ext cx="8289925" cy="197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50000"/>
              </a:spcBef>
              <a:buFont typeface="Symbol" panose="05050102010706020507" pitchFamily="18" charset="2"/>
              <a:buNone/>
            </a:pPr>
            <a:r>
              <a:rPr lang="en-US" altLang="en-US" sz="2400" b="0"/>
              <a:t>   = trung bình quần thể</a:t>
            </a:r>
          </a:p>
          <a:p>
            <a:pPr>
              <a:lnSpc>
                <a:spcPct val="90000"/>
              </a:lnSpc>
              <a:spcBef>
                <a:spcPct val="50000"/>
              </a:spcBef>
              <a:buFont typeface="Symbol" panose="05050102010706020507" pitchFamily="18" charset="2"/>
              <a:buNone/>
            </a:pPr>
            <a:r>
              <a:rPr lang="en-US" altLang="en-US" sz="2400" b="0">
                <a:cs typeface="Arial" panose="020B0604020202020204" pitchFamily="34" charset="0"/>
              </a:rPr>
              <a:t>   = độ lệch chuẩn của quần thể</a:t>
            </a:r>
            <a:endParaRPr lang="en-US" altLang="en-US" sz="2400" b="0"/>
          </a:p>
          <a:p>
            <a:pPr>
              <a:lnSpc>
                <a:spcPct val="90000"/>
              </a:lnSpc>
              <a:spcBef>
                <a:spcPct val="50000"/>
              </a:spcBef>
            </a:pPr>
            <a:r>
              <a:rPr lang="en-US" altLang="en-US" sz="2400" b="0">
                <a:cs typeface="Arial" panose="020B0604020202020204" pitchFamily="34" charset="0"/>
              </a:rPr>
              <a:t>   = trung bình mẫu</a:t>
            </a:r>
            <a:endParaRPr lang="en-US" altLang="en-US" sz="2400" b="0">
              <a:cs typeface="Times New Roman" panose="02020603050405020304" pitchFamily="18" charset="0"/>
            </a:endParaRPr>
          </a:p>
          <a:p>
            <a:pPr>
              <a:lnSpc>
                <a:spcPct val="90000"/>
              </a:lnSpc>
              <a:spcBef>
                <a:spcPct val="50000"/>
              </a:spcBef>
            </a:pPr>
            <a:r>
              <a:rPr lang="en-US" altLang="en-US" sz="2400" b="0">
                <a:cs typeface="Times New Roman" panose="02020603050405020304" pitchFamily="18" charset="0"/>
              </a:rPr>
              <a:t>   = biên độ lỗi mong đợi</a:t>
            </a:r>
          </a:p>
        </p:txBody>
      </p:sp>
      <p:graphicFrame>
        <p:nvGraphicFramePr>
          <p:cNvPr id="40968" name="Object 34"/>
          <p:cNvGraphicFramePr>
            <a:graphicFrameLocks noChangeAspect="1"/>
          </p:cNvGraphicFramePr>
          <p:nvPr/>
        </p:nvGraphicFramePr>
        <p:xfrm>
          <a:off x="427038" y="2708275"/>
          <a:ext cx="254000" cy="317500"/>
        </p:xfrm>
        <a:graphic>
          <a:graphicData uri="http://schemas.openxmlformats.org/presentationml/2006/ole">
            <mc:AlternateContent xmlns:mc="http://schemas.openxmlformats.org/markup-compatibility/2006">
              <mc:Choice xmlns:v="urn:schemas-microsoft-com:vml" Requires="v">
                <p:oleObj name="Equation" r:id="rId3" imgW="254000" imgH="317500" progId="Equation.DSMT4">
                  <p:embed/>
                </p:oleObj>
              </mc:Choice>
              <mc:Fallback>
                <p:oleObj name="Equation" r:id="rId3" imgW="254000" imgH="317500" progId="Equation.DSMT4">
                  <p:embed/>
                  <p:pic>
                    <p:nvPicPr>
                      <p:cNvPr id="40968"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038" y="2708275"/>
                        <a:ext cx="254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0970" name="Picture 26" descr="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1000" y="3124200"/>
            <a:ext cx="3048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1" name="Picture 27" descr="mu"/>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9738" y="1651000"/>
            <a:ext cx="36512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2" name="Picture 28" descr="sigm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7038" y="2187575"/>
            <a:ext cx="3349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4" name="Picture 30" descr="findingasampl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76600" y="3810000"/>
            <a:ext cx="2182813"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021794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bwMode="auto">
          <a:xfrm>
            <a:off x="13063" y="533400"/>
            <a:ext cx="8424863" cy="857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vi-VN" altLang="en-US" dirty="0"/>
              <a:t>Quy tắc </a:t>
            </a:r>
            <a:r>
              <a:rPr lang="en-US" altLang="en-US" dirty="0" err="1"/>
              <a:t>làm</a:t>
            </a:r>
            <a:r>
              <a:rPr lang="vi-VN" altLang="en-US" dirty="0"/>
              <a:t> tròn cho kích thước mẫu n</a:t>
            </a:r>
            <a:endParaRPr lang="en-US" altLang="en-US" dirty="0"/>
          </a:p>
        </p:txBody>
      </p:sp>
      <p:sp>
        <p:nvSpPr>
          <p:cNvPr id="43011" name="Rectangle 3"/>
          <p:cNvSpPr>
            <a:spLocks noGrp="1" noChangeArrowheads="1"/>
          </p:cNvSpPr>
          <p:nvPr>
            <p:ph type="body" idx="4294967295"/>
          </p:nvPr>
        </p:nvSpPr>
        <p:spPr bwMode="auto">
          <a:xfrm>
            <a:off x="0" y="1954213"/>
            <a:ext cx="9144000" cy="2690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0" indent="1588">
              <a:lnSpc>
                <a:spcPct val="105000"/>
              </a:lnSpc>
              <a:spcBef>
                <a:spcPct val="0"/>
              </a:spcBef>
              <a:buFont typeface="Wingdings" panose="05000000000000000000" pitchFamily="2" charset="2"/>
              <a:buNone/>
            </a:pPr>
            <a:r>
              <a:rPr lang="vi-VN" altLang="en-US" sz="2800" b="0" dirty="0"/>
              <a:t>Nếu cỡ mẫu được tính n không phải là số nguyên, hãy làm tròn giá trị của n đến </a:t>
            </a:r>
            <a:r>
              <a:rPr lang="vi-VN" altLang="en-US" sz="2800" b="0" dirty="0">
                <a:solidFill>
                  <a:srgbClr val="FF0000"/>
                </a:solidFill>
              </a:rPr>
              <a:t>số nguyên lớn hơn tiếp theo.</a:t>
            </a:r>
            <a:endParaRPr lang="en-US" altLang="en-US" sz="2800" b="0" dirty="0">
              <a:solidFill>
                <a:srgbClr val="FF0000"/>
              </a:solidFill>
            </a:endParaRPr>
          </a:p>
        </p:txBody>
      </p:sp>
    </p:spTree>
    <p:extLst>
      <p:ext uri="{BB962C8B-B14F-4D97-AF65-F5344CB8AC3E}">
        <p14:creationId xmlns:p14="http://schemas.microsoft.com/office/powerpoint/2010/main" val="25075211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bwMode="auto">
          <a:xfrm>
            <a:off x="609600" y="609600"/>
            <a:ext cx="7772400" cy="1092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a:lnSpc>
                <a:spcPct val="75000"/>
              </a:lnSpc>
            </a:pPr>
            <a:r>
              <a:rPr lang="vi-VN" altLang="en-US" dirty="0"/>
              <a:t>Tìm kích thước mẫu n </a:t>
            </a:r>
            <a:r>
              <a:rPr lang="en-US" altLang="en-US" dirty="0" err="1"/>
              <a:t>khi</a:t>
            </a:r>
            <a:r>
              <a:rPr lang="vi-VN" altLang="en-US" dirty="0"/>
              <a:t> </a:t>
            </a:r>
            <a:r>
              <a:rPr lang="el-GR" altLang="en-US" dirty="0"/>
              <a:t>σ </a:t>
            </a:r>
            <a:r>
              <a:rPr lang="vi-VN" altLang="en-US" dirty="0"/>
              <a:t>không xác định</a:t>
            </a:r>
            <a:endParaRPr lang="en-US" altLang="en-US" dirty="0">
              <a:solidFill>
                <a:schemeClr val="tx1"/>
              </a:solidFill>
            </a:endParaRPr>
          </a:p>
        </p:txBody>
      </p:sp>
      <p:sp>
        <p:nvSpPr>
          <p:cNvPr id="45059" name="Rectangle 3"/>
          <p:cNvSpPr>
            <a:spLocks noGrp="1" noChangeArrowheads="1"/>
          </p:cNvSpPr>
          <p:nvPr>
            <p:ph type="body" idx="4294967295"/>
          </p:nvPr>
        </p:nvSpPr>
        <p:spPr bwMode="auto">
          <a:xfrm>
            <a:off x="1" y="1427163"/>
            <a:ext cx="9144000" cy="4821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lnSpcReduction="10000"/>
          </a:bodyPr>
          <a:lstStyle/>
          <a:p>
            <a:pPr marL="457200" indent="-457200">
              <a:lnSpc>
                <a:spcPct val="95000"/>
              </a:lnSpc>
              <a:spcBef>
                <a:spcPct val="35000"/>
              </a:spcBef>
              <a:spcAft>
                <a:spcPct val="35000"/>
              </a:spcAft>
              <a:buFont typeface="Wingdings" panose="05000000000000000000" pitchFamily="2" charset="2"/>
              <a:buAutoNum type="arabicPeriod"/>
            </a:pPr>
            <a:r>
              <a:rPr lang="vi-VN" altLang="en-US" b="0" dirty="0"/>
              <a:t>Sử dụng quy tắc </a:t>
            </a:r>
            <a:r>
              <a:rPr lang="en-US" altLang="en-US" b="0" dirty="0" err="1"/>
              <a:t>sau</a:t>
            </a:r>
            <a:r>
              <a:rPr lang="en-US" altLang="en-US" b="0" dirty="0"/>
              <a:t> </a:t>
            </a:r>
            <a:r>
              <a:rPr lang="vi-VN" altLang="en-US" b="0" dirty="0"/>
              <a:t>để ước tính độ lệch chuẩn:</a:t>
            </a:r>
            <a:endParaRPr lang="en-US" altLang="en-US" b="0" dirty="0"/>
          </a:p>
          <a:p>
            <a:pPr marL="457200" indent="-457200">
              <a:lnSpc>
                <a:spcPct val="95000"/>
              </a:lnSpc>
              <a:spcBef>
                <a:spcPct val="35000"/>
              </a:spcBef>
              <a:spcAft>
                <a:spcPct val="35000"/>
              </a:spcAft>
              <a:buFontTx/>
              <a:buNone/>
            </a:pPr>
            <a:endParaRPr lang="en-US" altLang="en-US" b="0" dirty="0"/>
          </a:p>
          <a:p>
            <a:pPr marL="457200" indent="-457200">
              <a:lnSpc>
                <a:spcPct val="95000"/>
              </a:lnSpc>
              <a:spcBef>
                <a:spcPct val="35000"/>
              </a:spcBef>
              <a:spcAft>
                <a:spcPct val="35000"/>
              </a:spcAft>
              <a:buFontTx/>
              <a:buAutoNum type="arabicPeriod" startAt="2"/>
            </a:pPr>
            <a:r>
              <a:rPr lang="vi-VN" altLang="en-US" b="0" dirty="0"/>
              <a:t>Bắt đầu quá trình thu thập mẫu mà không biết </a:t>
            </a:r>
            <a:r>
              <a:rPr lang="el-GR" altLang="en-US" b="0" dirty="0"/>
              <a:t>σ</a:t>
            </a:r>
            <a:r>
              <a:rPr lang="vi-VN" altLang="en-US" b="0" dirty="0"/>
              <a:t>, sử </a:t>
            </a:r>
            <a:r>
              <a:rPr lang="en-US" altLang="en-US" b="0" dirty="0"/>
              <a:t> </a:t>
            </a:r>
            <a:r>
              <a:rPr lang="vi-VN" altLang="en-US" b="0" dirty="0"/>
              <a:t>dụng một vài giá trị đầu tiên, tính toán độ lệch chuẩn mẫu và sử dụng nó thay cho </a:t>
            </a:r>
            <a:r>
              <a:rPr lang="el-GR" altLang="en-US" b="0" dirty="0"/>
              <a:t>σ. </a:t>
            </a:r>
            <a:r>
              <a:rPr lang="vi-VN" altLang="en-US" b="0" dirty="0"/>
              <a:t>Giá trị ước tính của </a:t>
            </a:r>
            <a:r>
              <a:rPr lang="el-GR" altLang="en-US" b="0" dirty="0"/>
              <a:t>σ </a:t>
            </a:r>
            <a:r>
              <a:rPr lang="vi-VN" altLang="en-US" b="0" dirty="0"/>
              <a:t>sau đó có thể được cải thiện khi thu được nhiều dữ liệu mẫu hơn và kích thước mẫu có thể được tinh chỉnh cho phù hợp.</a:t>
            </a:r>
            <a:endParaRPr lang="en-US" altLang="en-US" b="0" dirty="0"/>
          </a:p>
          <a:p>
            <a:pPr marL="457200" indent="-457200">
              <a:lnSpc>
                <a:spcPct val="95000"/>
              </a:lnSpc>
              <a:spcBef>
                <a:spcPct val="35000"/>
              </a:spcBef>
              <a:spcAft>
                <a:spcPct val="35000"/>
              </a:spcAft>
              <a:buFontTx/>
              <a:buAutoNum type="arabicPeriod" startAt="3"/>
            </a:pPr>
            <a:r>
              <a:rPr lang="vi-VN" altLang="en-US" b="0" dirty="0"/>
              <a:t>Ước </a:t>
            </a:r>
            <a:r>
              <a:rPr lang="en-US" altLang="en-US" b="0" dirty="0" err="1"/>
              <a:t>lượng</a:t>
            </a:r>
            <a:r>
              <a:rPr lang="vi-VN" altLang="en-US" b="0" dirty="0"/>
              <a:t> giá trị của </a:t>
            </a:r>
            <a:r>
              <a:rPr lang="el-GR" altLang="en-US" b="0" dirty="0"/>
              <a:t>σ </a:t>
            </a:r>
            <a:r>
              <a:rPr lang="vi-VN" altLang="en-US" b="0" dirty="0"/>
              <a:t>bằng cách sử dụng kết quả của </a:t>
            </a:r>
            <a:r>
              <a:rPr lang="en-US" altLang="en-US" b="0" dirty="0"/>
              <a:t>   </a:t>
            </a:r>
            <a:r>
              <a:rPr lang="vi-VN" altLang="en-US" b="0" dirty="0"/>
              <a:t>một số nghiên cứu trước đó khác</a:t>
            </a:r>
            <a:r>
              <a:rPr lang="en-US" altLang="en-US" b="0" dirty="0">
                <a:sym typeface="Symbol" panose="05050102010706020507" pitchFamily="18" charset="2"/>
              </a:rPr>
              <a:t>.</a:t>
            </a:r>
            <a:r>
              <a:rPr lang="en-US" altLang="en-US" b="0" dirty="0"/>
              <a:t>    </a:t>
            </a:r>
            <a:br>
              <a:rPr lang="en-US" altLang="en-US" b="0" dirty="0"/>
            </a:br>
            <a:r>
              <a:rPr lang="en-US" altLang="en-US" b="0" dirty="0"/>
              <a:t>			</a:t>
            </a:r>
          </a:p>
        </p:txBody>
      </p:sp>
      <p:sp>
        <p:nvSpPr>
          <p:cNvPr id="45060" name="Rectangle 4"/>
          <p:cNvSpPr>
            <a:spLocks noChangeArrowheads="1"/>
          </p:cNvSpPr>
          <p:nvPr/>
        </p:nvSpPr>
        <p:spPr bwMode="auto">
          <a:xfrm>
            <a:off x="161925" y="2482850"/>
            <a:ext cx="8826500" cy="231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45061" name="Rectangle 5"/>
          <p:cNvSpPr>
            <a:spLocks noChangeArrowheads="1"/>
          </p:cNvSpPr>
          <p:nvPr/>
        </p:nvSpPr>
        <p:spPr bwMode="auto">
          <a:xfrm>
            <a:off x="512763" y="2986088"/>
            <a:ext cx="77914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45062" name="Rectangle 7"/>
          <p:cNvSpPr>
            <a:spLocks noChangeArrowheads="1"/>
          </p:cNvSpPr>
          <p:nvPr/>
        </p:nvSpPr>
        <p:spPr bwMode="auto">
          <a:xfrm>
            <a:off x="514350" y="3735388"/>
            <a:ext cx="2592388"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45063" name="Rectangle 8"/>
          <p:cNvSpPr>
            <a:spLocks noChangeArrowheads="1"/>
          </p:cNvSpPr>
          <p:nvPr/>
        </p:nvSpPr>
        <p:spPr bwMode="auto">
          <a:xfrm>
            <a:off x="515938" y="5335588"/>
            <a:ext cx="146843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45064" name="Rectangle 9"/>
          <p:cNvSpPr>
            <a:spLocks noChangeArrowheads="1"/>
          </p:cNvSpPr>
          <p:nvPr/>
        </p:nvSpPr>
        <p:spPr bwMode="auto">
          <a:xfrm>
            <a:off x="2430463" y="5310188"/>
            <a:ext cx="4776787"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45065" name="Rectangle 10"/>
          <p:cNvSpPr>
            <a:spLocks noChangeArrowheads="1"/>
          </p:cNvSpPr>
          <p:nvPr/>
        </p:nvSpPr>
        <p:spPr bwMode="auto">
          <a:xfrm>
            <a:off x="0" y="6110288"/>
            <a:ext cx="90678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45066" name="Rectangle 11"/>
          <p:cNvSpPr>
            <a:spLocks noChangeArrowheads="1"/>
          </p:cNvSpPr>
          <p:nvPr/>
        </p:nvSpPr>
        <p:spPr bwMode="auto">
          <a:xfrm>
            <a:off x="438150" y="2779713"/>
            <a:ext cx="8493125"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454025" indent="-454025">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5000"/>
              </a:lnSpc>
              <a:spcBef>
                <a:spcPct val="35000"/>
              </a:spcBef>
              <a:spcAft>
                <a:spcPct val="35000"/>
              </a:spcAft>
              <a:buClr>
                <a:schemeClr val="accent2"/>
              </a:buClr>
              <a:buFont typeface="Wingdings" panose="05000000000000000000" pitchFamily="2" charset="2"/>
              <a:buNone/>
            </a:pPr>
            <a:endParaRPr lang="en-US" altLang="en-US" sz="2400" b="0"/>
          </a:p>
        </p:txBody>
      </p:sp>
      <p:sp>
        <p:nvSpPr>
          <p:cNvPr id="45067" name="Rectangle 13"/>
          <p:cNvSpPr>
            <a:spLocks noChangeArrowheads="1"/>
          </p:cNvSpPr>
          <p:nvPr/>
        </p:nvSpPr>
        <p:spPr bwMode="auto">
          <a:xfrm>
            <a:off x="419100" y="5743575"/>
            <a:ext cx="8289925"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454025" indent="-454025">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5000"/>
              </a:lnSpc>
              <a:spcBef>
                <a:spcPct val="35000"/>
              </a:spcBef>
              <a:spcAft>
                <a:spcPct val="35000"/>
              </a:spcAft>
              <a:buClr>
                <a:schemeClr val="accent2"/>
              </a:buClr>
              <a:buFont typeface="Wingdings" panose="05000000000000000000" pitchFamily="2" charset="2"/>
              <a:buNone/>
            </a:pPr>
            <a:endParaRPr lang="en-US" altLang="en-US" sz="2800" b="0">
              <a:sym typeface="Symbol" panose="05050102010706020507" pitchFamily="18" charset="2"/>
            </a:endParaRPr>
          </a:p>
        </p:txBody>
      </p:sp>
      <p:pic>
        <p:nvPicPr>
          <p:cNvPr id="45068" name="Picture 18" descr="sigmaequal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9400" y="2057400"/>
            <a:ext cx="19685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0654434"/>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bwMode="auto">
          <a:xfrm>
            <a:off x="304800" y="457200"/>
            <a:ext cx="8153400" cy="4238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fontScale="90000"/>
          </a:bodyPr>
          <a:lstStyle/>
          <a:p>
            <a:r>
              <a:rPr lang="en-US" altLang="en-US" sz="2800" dirty="0" err="1"/>
              <a:t>Ví</a:t>
            </a:r>
            <a:r>
              <a:rPr lang="en-US" altLang="en-US" sz="2800" dirty="0"/>
              <a:t> </a:t>
            </a:r>
            <a:r>
              <a:rPr lang="en-US" altLang="en-US" sz="2800" dirty="0" err="1"/>
              <a:t>dụ</a:t>
            </a:r>
            <a:endParaRPr lang="en-US" altLang="en-US" sz="2800" dirty="0">
              <a:solidFill>
                <a:schemeClr val="tx1"/>
              </a:solidFill>
            </a:endParaRPr>
          </a:p>
        </p:txBody>
      </p:sp>
      <p:sp>
        <p:nvSpPr>
          <p:cNvPr id="47107" name="Rectangle 7"/>
          <p:cNvSpPr>
            <a:spLocks noChangeArrowheads="1"/>
          </p:cNvSpPr>
          <p:nvPr/>
        </p:nvSpPr>
        <p:spPr bwMode="auto">
          <a:xfrm>
            <a:off x="3717925" y="4987925"/>
            <a:ext cx="390207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47108" name="Rectangle 23"/>
          <p:cNvSpPr>
            <a:spLocks noChangeArrowheads="1"/>
          </p:cNvSpPr>
          <p:nvPr/>
        </p:nvSpPr>
        <p:spPr bwMode="auto">
          <a:xfrm>
            <a:off x="533400" y="762000"/>
            <a:ext cx="8235950"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vi-VN" altLang="en-US" sz="2200" b="0" dirty="0"/>
              <a:t>Giả sử rằng chúng t</a:t>
            </a:r>
            <a:r>
              <a:rPr lang="en-US" altLang="en-US" sz="2200" b="0" dirty="0"/>
              <a:t>a</a:t>
            </a:r>
            <a:r>
              <a:rPr lang="vi-VN" altLang="en-US" sz="2200" b="0" dirty="0"/>
              <a:t> muốn ước tính điểm số IQ trung bình </a:t>
            </a:r>
            <a:r>
              <a:rPr lang="en-US" altLang="en-US" sz="2200" b="0" dirty="0" err="1"/>
              <a:t>của</a:t>
            </a:r>
            <a:r>
              <a:rPr lang="en-US" altLang="en-US" sz="2200" b="0" dirty="0"/>
              <a:t> </a:t>
            </a:r>
            <a:r>
              <a:rPr lang="en-US" altLang="en-US" sz="2200" b="0" dirty="0" err="1"/>
              <a:t>quần</a:t>
            </a:r>
            <a:r>
              <a:rPr lang="en-US" altLang="en-US" sz="2200" b="0" dirty="0"/>
              <a:t> </a:t>
            </a:r>
            <a:r>
              <a:rPr lang="en-US" altLang="en-US" sz="2200" b="0" dirty="0" err="1"/>
              <a:t>thể</a:t>
            </a:r>
            <a:r>
              <a:rPr lang="vi-VN" altLang="en-US" sz="2200" b="0" dirty="0"/>
              <a:t> sinh viên </a:t>
            </a:r>
            <a:r>
              <a:rPr lang="en-US" altLang="en-US" sz="2200" b="0" dirty="0" err="1"/>
              <a:t>ngành</a:t>
            </a:r>
            <a:r>
              <a:rPr lang="en-US" altLang="en-US" sz="2200" b="0" dirty="0"/>
              <a:t> </a:t>
            </a:r>
            <a:r>
              <a:rPr lang="vi-VN" altLang="en-US" sz="2200" b="0" dirty="0"/>
              <a:t>thống kê. </a:t>
            </a:r>
            <a:r>
              <a:rPr lang="en-US" altLang="en-US" sz="2200" b="0" dirty="0" err="1"/>
              <a:t>Cần</a:t>
            </a:r>
            <a:r>
              <a:rPr lang="en-US" altLang="en-US" sz="2200" b="0" dirty="0"/>
              <a:t> </a:t>
            </a:r>
            <a:r>
              <a:rPr lang="en-US" altLang="en-US" sz="2200" b="0" dirty="0" err="1">
                <a:solidFill>
                  <a:srgbClr val="FF0000"/>
                </a:solidFill>
              </a:rPr>
              <a:t>lấy</a:t>
            </a:r>
            <a:r>
              <a:rPr lang="en-US" altLang="en-US" sz="2200" b="0" dirty="0">
                <a:solidFill>
                  <a:srgbClr val="FF0000"/>
                </a:solidFill>
              </a:rPr>
              <a:t> </a:t>
            </a:r>
            <a:r>
              <a:rPr lang="en-US" altLang="en-US" sz="2200" b="0" dirty="0" err="1">
                <a:solidFill>
                  <a:srgbClr val="FF0000"/>
                </a:solidFill>
              </a:rPr>
              <a:t>mẫu</a:t>
            </a:r>
            <a:r>
              <a:rPr lang="en-US" altLang="en-US" sz="2200" b="0" dirty="0">
                <a:solidFill>
                  <a:srgbClr val="FF0000"/>
                </a:solidFill>
              </a:rPr>
              <a:t> </a:t>
            </a:r>
            <a:r>
              <a:rPr lang="en-US" altLang="en-US" sz="2200" b="0" dirty="0" err="1">
                <a:solidFill>
                  <a:srgbClr val="FF0000"/>
                </a:solidFill>
              </a:rPr>
              <a:t>bao</a:t>
            </a:r>
            <a:r>
              <a:rPr lang="en-US" altLang="en-US" sz="2200" b="0" dirty="0">
                <a:solidFill>
                  <a:srgbClr val="FF0000"/>
                </a:solidFill>
              </a:rPr>
              <a:t> </a:t>
            </a:r>
            <a:r>
              <a:rPr lang="en-US" altLang="en-US" sz="2200" b="0" dirty="0" err="1">
                <a:solidFill>
                  <a:srgbClr val="FF0000"/>
                </a:solidFill>
              </a:rPr>
              <a:t>nhiêu</a:t>
            </a:r>
            <a:r>
              <a:rPr lang="en-US" altLang="en-US" sz="2200" b="0" dirty="0">
                <a:solidFill>
                  <a:srgbClr val="FF0000"/>
                </a:solidFill>
              </a:rPr>
              <a:t> </a:t>
            </a:r>
            <a:r>
              <a:rPr lang="en-US" altLang="en-US" sz="2200" b="0" dirty="0" err="1"/>
              <a:t>sinh</a:t>
            </a:r>
            <a:r>
              <a:rPr lang="en-US" altLang="en-US" sz="2200" b="0" dirty="0"/>
              <a:t> </a:t>
            </a:r>
            <a:r>
              <a:rPr lang="en-US" altLang="en-US" sz="2200" b="0" dirty="0" err="1"/>
              <a:t>viên</a:t>
            </a:r>
            <a:r>
              <a:rPr lang="en-US" altLang="en-US" sz="2200" b="0" dirty="0"/>
              <a:t> </a:t>
            </a:r>
            <a:r>
              <a:rPr lang="en-US" altLang="en-US" sz="2200" b="0" dirty="0" err="1"/>
              <a:t>để</a:t>
            </a:r>
            <a:r>
              <a:rPr lang="en-US" altLang="en-US" sz="2200" b="0" dirty="0"/>
              <a:t> </a:t>
            </a:r>
            <a:r>
              <a:rPr lang="en-US" altLang="en-US" sz="2200" b="0" dirty="0" err="1"/>
              <a:t>làm</a:t>
            </a:r>
            <a:r>
              <a:rPr lang="en-US" altLang="en-US" sz="2200" b="0" dirty="0"/>
              <a:t> </a:t>
            </a:r>
            <a:r>
              <a:rPr lang="en-US" altLang="en-US" sz="2200" b="0" dirty="0" err="1"/>
              <a:t>bài</a:t>
            </a:r>
            <a:r>
              <a:rPr lang="en-US" altLang="en-US" sz="2200" b="0" dirty="0"/>
              <a:t> </a:t>
            </a:r>
            <a:r>
              <a:rPr lang="en-US" altLang="en-US" sz="2200" b="0" dirty="0" err="1"/>
              <a:t>kiểm</a:t>
            </a:r>
            <a:r>
              <a:rPr lang="en-US" altLang="en-US" sz="2200" b="0" dirty="0"/>
              <a:t> </a:t>
            </a:r>
            <a:r>
              <a:rPr lang="en-US" altLang="en-US" sz="2200" b="0" dirty="0" err="1"/>
              <a:t>tra</a:t>
            </a:r>
            <a:r>
              <a:rPr lang="en-US" altLang="en-US" sz="2200" b="0" dirty="0"/>
              <a:t> IQ </a:t>
            </a:r>
            <a:r>
              <a:rPr lang="en-US" altLang="en-US" sz="2200" b="0" dirty="0" err="1"/>
              <a:t>để</a:t>
            </a:r>
            <a:r>
              <a:rPr lang="en-US" altLang="en-US" sz="2200" b="0" dirty="0"/>
              <a:t> tin </a:t>
            </a:r>
            <a:r>
              <a:rPr lang="en-US" altLang="en-US" sz="2200" b="0" dirty="0" err="1"/>
              <a:t>tưởng</a:t>
            </a:r>
            <a:r>
              <a:rPr lang="en-US" altLang="en-US" sz="2200" b="0" dirty="0"/>
              <a:t> </a:t>
            </a:r>
            <a:r>
              <a:rPr lang="en-US" altLang="en-US" sz="2200" b="0" dirty="0">
                <a:solidFill>
                  <a:srgbClr val="FF0000"/>
                </a:solidFill>
              </a:rPr>
              <a:t>95%</a:t>
            </a:r>
            <a:r>
              <a:rPr lang="en-US" altLang="en-US" sz="2200" b="0" dirty="0"/>
              <a:t> </a:t>
            </a:r>
            <a:r>
              <a:rPr lang="en-US" altLang="en-US" sz="2200" b="0" dirty="0" err="1"/>
              <a:t>rằng</a:t>
            </a:r>
            <a:r>
              <a:rPr lang="en-US" altLang="en-US" sz="2200" b="0" dirty="0"/>
              <a:t> </a:t>
            </a:r>
            <a:r>
              <a:rPr lang="en-US" altLang="en-US" sz="2200" b="0" dirty="0" err="1"/>
              <a:t>giá</a:t>
            </a:r>
            <a:r>
              <a:rPr lang="en-US" altLang="en-US" sz="2200" b="0" dirty="0"/>
              <a:t> </a:t>
            </a:r>
            <a:r>
              <a:rPr lang="en-US" altLang="en-US" sz="2200" b="0" dirty="0" err="1"/>
              <a:t>trị</a:t>
            </a:r>
            <a:r>
              <a:rPr lang="en-US" altLang="en-US" sz="2200" b="0" dirty="0"/>
              <a:t> </a:t>
            </a:r>
            <a:r>
              <a:rPr lang="en-US" altLang="en-US" sz="2200" b="0" dirty="0" err="1"/>
              <a:t>ước</a:t>
            </a:r>
            <a:r>
              <a:rPr lang="en-US" altLang="en-US" sz="2200" b="0" dirty="0"/>
              <a:t> </a:t>
            </a:r>
            <a:r>
              <a:rPr lang="en-US" altLang="en-US" sz="2200" b="0" dirty="0" err="1"/>
              <a:t>lượng</a:t>
            </a:r>
            <a:r>
              <a:rPr lang="en-US" altLang="en-US" sz="2200" b="0" dirty="0"/>
              <a:t> </a:t>
            </a:r>
            <a:r>
              <a:rPr lang="en-US" altLang="en-US" sz="2200" b="0" dirty="0" err="1"/>
              <a:t>chứa</a:t>
            </a:r>
            <a:r>
              <a:rPr lang="en-US" altLang="en-US" sz="2200" b="0" dirty="0"/>
              <a:t> </a:t>
            </a:r>
            <a:r>
              <a:rPr lang="en-US" altLang="en-US" sz="2200" b="0" dirty="0" err="1"/>
              <a:t>giá</a:t>
            </a:r>
            <a:r>
              <a:rPr lang="en-US" altLang="en-US" sz="2200" b="0" dirty="0"/>
              <a:t> </a:t>
            </a:r>
            <a:r>
              <a:rPr lang="en-US" altLang="en-US" sz="2200" b="0" dirty="0" err="1"/>
              <a:t>trị</a:t>
            </a:r>
            <a:r>
              <a:rPr lang="en-US" altLang="en-US" sz="2200" b="0" dirty="0"/>
              <a:t> </a:t>
            </a:r>
            <a:r>
              <a:rPr lang="en-US" altLang="en-US" sz="2200" b="0" dirty="0" err="1"/>
              <a:t>trung</a:t>
            </a:r>
            <a:r>
              <a:rPr lang="en-US" altLang="en-US" sz="2200" b="0" dirty="0"/>
              <a:t> </a:t>
            </a:r>
            <a:r>
              <a:rPr lang="en-US" altLang="en-US" sz="2200" b="0" dirty="0" err="1"/>
              <a:t>bình</a:t>
            </a:r>
            <a:r>
              <a:rPr lang="en-US" altLang="en-US" sz="2200" b="0" dirty="0"/>
              <a:t> </a:t>
            </a:r>
            <a:r>
              <a:rPr lang="en-US" altLang="en-US" sz="2200" b="0" dirty="0" err="1"/>
              <a:t>thực</a:t>
            </a:r>
            <a:r>
              <a:rPr lang="en-US" altLang="en-US" sz="2200" b="0" dirty="0"/>
              <a:t> </a:t>
            </a:r>
            <a:r>
              <a:rPr lang="en-US" altLang="en-US" sz="2200" b="0" dirty="0" err="1"/>
              <a:t>sự</a:t>
            </a:r>
            <a:r>
              <a:rPr lang="en-US" altLang="en-US" sz="2200" b="0" dirty="0"/>
              <a:t> </a:t>
            </a:r>
            <a:r>
              <a:rPr lang="el-GR" altLang="en-US" sz="2200" b="0" dirty="0"/>
              <a:t>μ</a:t>
            </a:r>
            <a:r>
              <a:rPr lang="en-US" altLang="en-US" sz="2200" b="0" dirty="0"/>
              <a:t> </a:t>
            </a:r>
            <a:r>
              <a:rPr lang="en-US" altLang="en-US" sz="2200" b="0" dirty="0" err="1"/>
              <a:t>của</a:t>
            </a:r>
            <a:r>
              <a:rPr lang="en-US" altLang="en-US" sz="2200" b="0" dirty="0"/>
              <a:t> </a:t>
            </a:r>
            <a:r>
              <a:rPr lang="en-US" altLang="en-US" sz="2200" b="0" dirty="0" err="1"/>
              <a:t>quần</a:t>
            </a:r>
            <a:r>
              <a:rPr lang="en-US" altLang="en-US" sz="2200" b="0" dirty="0"/>
              <a:t> </a:t>
            </a:r>
            <a:r>
              <a:rPr lang="en-US" altLang="en-US" sz="2200" b="0" dirty="0" err="1"/>
              <a:t>thể</a:t>
            </a:r>
            <a:r>
              <a:rPr lang="en-US" altLang="en-US" sz="2200" b="0" dirty="0"/>
              <a:t> </a:t>
            </a:r>
            <a:r>
              <a:rPr lang="en-US" altLang="en-US" sz="2200" b="0" dirty="0" err="1"/>
              <a:t>với</a:t>
            </a:r>
            <a:r>
              <a:rPr lang="en-US" altLang="en-US" sz="2200" b="0" dirty="0"/>
              <a:t> </a:t>
            </a:r>
            <a:r>
              <a:rPr lang="en-US" altLang="en-US" sz="2200" b="0" dirty="0" err="1"/>
              <a:t>sai</a:t>
            </a:r>
            <a:r>
              <a:rPr lang="en-US" altLang="en-US" sz="2200" b="0" dirty="0"/>
              <a:t> </a:t>
            </a:r>
            <a:r>
              <a:rPr lang="en-US" altLang="en-US" sz="2200" b="0" dirty="0" err="1"/>
              <a:t>số</a:t>
            </a:r>
            <a:r>
              <a:rPr lang="en-US" altLang="en-US" sz="2200" b="0" dirty="0"/>
              <a:t> </a:t>
            </a:r>
            <a:r>
              <a:rPr lang="en-US" altLang="en-US" sz="2200" b="0" dirty="0" err="1"/>
              <a:t>là</a:t>
            </a:r>
            <a:r>
              <a:rPr lang="en-US" altLang="en-US" sz="2200" b="0" dirty="0"/>
              <a:t> 3 </a:t>
            </a:r>
            <a:r>
              <a:rPr lang="en-US" altLang="en-US" sz="2200" b="0" dirty="0" err="1"/>
              <a:t>điểm</a:t>
            </a:r>
            <a:r>
              <a:rPr lang="en-US" altLang="en-US" sz="2200" b="0" dirty="0"/>
              <a:t> IQ.</a:t>
            </a:r>
          </a:p>
        </p:txBody>
      </p:sp>
      <p:sp>
        <p:nvSpPr>
          <p:cNvPr id="47109" name="Rectangle 8"/>
          <p:cNvSpPr>
            <a:spLocks noChangeArrowheads="1"/>
          </p:cNvSpPr>
          <p:nvPr/>
        </p:nvSpPr>
        <p:spPr bwMode="auto">
          <a:xfrm>
            <a:off x="457200" y="2590800"/>
            <a:ext cx="2133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buClr>
                <a:schemeClr val="accent2"/>
              </a:buClr>
              <a:buFont typeface="Wingdings" panose="05000000000000000000" pitchFamily="2" charset="2"/>
              <a:buNone/>
            </a:pPr>
            <a:r>
              <a:rPr lang="en-US" altLang="en-US" sz="2400" b="0" i="1">
                <a:solidFill>
                  <a:schemeClr val="tx2"/>
                </a:solidFill>
              </a:rPr>
              <a:t>α</a:t>
            </a:r>
            <a:r>
              <a:rPr lang="en-US" altLang="en-US" sz="2400" b="0">
                <a:solidFill>
                  <a:schemeClr val="tx2"/>
                </a:solidFill>
              </a:rPr>
              <a:t>		= 0.05</a:t>
            </a:r>
          </a:p>
          <a:p>
            <a:pPr>
              <a:lnSpc>
                <a:spcPct val="90000"/>
              </a:lnSpc>
              <a:spcBef>
                <a:spcPct val="22000"/>
              </a:spcBef>
              <a:buClr>
                <a:schemeClr val="accent2"/>
              </a:buClr>
              <a:buFont typeface="Wingdings" panose="05000000000000000000" pitchFamily="2" charset="2"/>
              <a:buNone/>
            </a:pPr>
            <a:r>
              <a:rPr lang="el-GR" altLang="en-US" sz="2400" b="0" i="1">
                <a:solidFill>
                  <a:schemeClr val="tx2"/>
                </a:solidFill>
              </a:rPr>
              <a:t>α</a:t>
            </a:r>
            <a:r>
              <a:rPr lang="en-US" altLang="en-US" sz="2400" b="0">
                <a:solidFill>
                  <a:schemeClr val="tx2"/>
                </a:solidFill>
              </a:rPr>
              <a:t>/2     	= 0.025</a:t>
            </a:r>
          </a:p>
          <a:p>
            <a:pPr>
              <a:lnSpc>
                <a:spcPct val="90000"/>
              </a:lnSpc>
              <a:spcBef>
                <a:spcPct val="22000"/>
              </a:spcBef>
              <a:buClr>
                <a:schemeClr val="accent2"/>
              </a:buClr>
              <a:buFont typeface="Wingdings" panose="05000000000000000000" pitchFamily="2" charset="2"/>
              <a:buNone/>
            </a:pPr>
            <a:r>
              <a:rPr lang="en-US" altLang="en-US" sz="2400" b="0">
                <a:solidFill>
                  <a:schemeClr val="tx2"/>
                </a:solidFill>
              </a:rPr>
              <a:t>z</a:t>
            </a:r>
            <a:r>
              <a:rPr lang="el-GR" altLang="en-US" sz="2400" b="0" baseline="-25000">
                <a:solidFill>
                  <a:schemeClr val="tx2"/>
                </a:solidFill>
              </a:rPr>
              <a:t>α</a:t>
            </a:r>
            <a:r>
              <a:rPr lang="en-US" altLang="en-US" sz="2400" b="0" baseline="-25000">
                <a:solidFill>
                  <a:schemeClr val="tx2"/>
                </a:solidFill>
              </a:rPr>
              <a:t>/2</a:t>
            </a:r>
            <a:r>
              <a:rPr lang="en-US" altLang="en-US" sz="2400" b="0">
                <a:solidFill>
                  <a:schemeClr val="tx2"/>
                </a:solidFill>
              </a:rPr>
              <a:t>	= 1.96</a:t>
            </a:r>
            <a:r>
              <a:rPr lang="en-US" altLang="en-US" sz="2400" b="0" baseline="-25000">
                <a:solidFill>
                  <a:schemeClr val="tx2"/>
                </a:solidFill>
              </a:rPr>
              <a:t> </a:t>
            </a:r>
          </a:p>
          <a:p>
            <a:pPr>
              <a:lnSpc>
                <a:spcPct val="90000"/>
              </a:lnSpc>
              <a:spcBef>
                <a:spcPct val="22000"/>
              </a:spcBef>
              <a:buClr>
                <a:schemeClr val="accent2"/>
              </a:buClr>
              <a:buFont typeface="Wingdings" panose="05000000000000000000" pitchFamily="2" charset="2"/>
              <a:buNone/>
            </a:pPr>
            <a:r>
              <a:rPr lang="en-US" altLang="en-US" sz="2400" b="0" i="1">
                <a:solidFill>
                  <a:schemeClr val="tx2"/>
                </a:solidFill>
              </a:rPr>
              <a:t>E 	</a:t>
            </a:r>
            <a:r>
              <a:rPr lang="en-US" altLang="en-US" sz="2400" b="0">
                <a:solidFill>
                  <a:schemeClr val="tx2"/>
                </a:solidFill>
              </a:rPr>
              <a:t>=  3</a:t>
            </a:r>
          </a:p>
          <a:p>
            <a:pPr>
              <a:lnSpc>
                <a:spcPct val="90000"/>
              </a:lnSpc>
              <a:spcBef>
                <a:spcPct val="22000"/>
              </a:spcBef>
              <a:buClr>
                <a:schemeClr val="accent2"/>
              </a:buClr>
              <a:buFont typeface="Wingdings" panose="05000000000000000000" pitchFamily="2" charset="2"/>
              <a:buNone/>
            </a:pPr>
            <a:r>
              <a:rPr lang="el-GR" altLang="en-US" sz="2400" b="0" i="1">
                <a:solidFill>
                  <a:schemeClr val="tx2"/>
                </a:solidFill>
                <a:cs typeface="Arial" panose="020B0604020202020204" pitchFamily="34" charset="0"/>
                <a:sym typeface="Symbol" panose="05050102010706020507" pitchFamily="18" charset="2"/>
              </a:rPr>
              <a:t>σ</a:t>
            </a:r>
            <a:r>
              <a:rPr lang="en-US" altLang="en-US" sz="2400" b="0">
                <a:solidFill>
                  <a:schemeClr val="tx2"/>
                </a:solidFill>
                <a:cs typeface="Arial" panose="020B0604020202020204" pitchFamily="34" charset="0"/>
                <a:sym typeface="Symbol" panose="05050102010706020507" pitchFamily="18" charset="2"/>
              </a:rPr>
              <a:t> 		</a:t>
            </a:r>
            <a:r>
              <a:rPr lang="en-US" altLang="en-US" sz="2400" b="0">
                <a:solidFill>
                  <a:schemeClr val="tx2"/>
                </a:solidFill>
                <a:sym typeface="Symbol" panose="05050102010706020507" pitchFamily="18" charset="2"/>
              </a:rPr>
              <a:t>= 15</a:t>
            </a:r>
            <a:endParaRPr lang="en-US" altLang="en-US" sz="2400" b="0" baseline="-25000">
              <a:solidFill>
                <a:schemeClr val="tx2"/>
              </a:solidFill>
            </a:endParaRPr>
          </a:p>
        </p:txBody>
      </p:sp>
      <p:sp>
        <p:nvSpPr>
          <p:cNvPr id="47110" name="Text Box 20"/>
          <p:cNvSpPr txBox="1">
            <a:spLocks noChangeArrowheads="1"/>
          </p:cNvSpPr>
          <p:nvPr/>
        </p:nvSpPr>
        <p:spPr bwMode="auto">
          <a:xfrm>
            <a:off x="2971800" y="3886200"/>
            <a:ext cx="58070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vi-VN" altLang="en-US" sz="2400" b="0" dirty="0">
                <a:solidFill>
                  <a:schemeClr val="tx2"/>
                </a:solidFill>
              </a:rPr>
              <a:t>Với một mẫu ngẫu nhiên đơn giản chỉ có 97 sinh viên thống kê,</a:t>
            </a:r>
            <a:r>
              <a:rPr lang="en-US" altLang="en-US" sz="2400" b="0" dirty="0">
                <a:solidFill>
                  <a:schemeClr val="tx2"/>
                </a:solidFill>
              </a:rPr>
              <a:t> </a:t>
            </a:r>
            <a:r>
              <a:rPr lang="en-US" altLang="en-US" sz="2400" b="0" dirty="0" err="1">
                <a:solidFill>
                  <a:schemeClr val="tx2"/>
                </a:solidFill>
              </a:rPr>
              <a:t>chúng</a:t>
            </a:r>
            <a:r>
              <a:rPr lang="en-US" altLang="en-US" sz="2400" b="0" dirty="0">
                <a:solidFill>
                  <a:schemeClr val="tx2"/>
                </a:solidFill>
              </a:rPr>
              <a:t> ta </a:t>
            </a:r>
            <a:r>
              <a:rPr lang="vi-VN" altLang="en-US" sz="2400" b="0" dirty="0">
                <a:solidFill>
                  <a:schemeClr val="tx2"/>
                </a:solidFill>
              </a:rPr>
              <a:t>tin tưởng 95% rằng giá trị ước lượng chứa giá trị trung bình thực sự </a:t>
            </a:r>
            <a:r>
              <a:rPr lang="el-GR" altLang="en-US" sz="2400" b="0" dirty="0">
                <a:solidFill>
                  <a:schemeClr val="tx2"/>
                </a:solidFill>
              </a:rPr>
              <a:t>μ </a:t>
            </a:r>
            <a:r>
              <a:rPr lang="en-US" altLang="en-US" sz="2400" b="0" dirty="0" err="1">
                <a:solidFill>
                  <a:schemeClr val="tx2"/>
                </a:solidFill>
              </a:rPr>
              <a:t>của</a:t>
            </a:r>
            <a:r>
              <a:rPr lang="en-US" altLang="en-US" sz="2400" b="0" dirty="0">
                <a:solidFill>
                  <a:schemeClr val="tx2"/>
                </a:solidFill>
              </a:rPr>
              <a:t> </a:t>
            </a:r>
            <a:r>
              <a:rPr lang="vi-VN" altLang="en-US" sz="2400" b="0" dirty="0">
                <a:solidFill>
                  <a:schemeClr val="tx2"/>
                </a:solidFill>
              </a:rPr>
              <a:t>quần thể với sai số là 3 điểm IQ.</a:t>
            </a:r>
            <a:endParaRPr lang="en-US" altLang="en-US" sz="2400" b="0" dirty="0">
              <a:solidFill>
                <a:schemeClr val="tx2"/>
              </a:solidFill>
            </a:endParaRPr>
          </a:p>
        </p:txBody>
      </p:sp>
      <p:pic>
        <p:nvPicPr>
          <p:cNvPr id="47111" name="Picture 25" descr="nequal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2362200"/>
            <a:ext cx="43942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155099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120650" y="457200"/>
            <a:ext cx="8901113" cy="1143000"/>
          </a:xfrm>
          <a:ln>
            <a:miter lim="800000"/>
            <a:headEnd/>
            <a:tailEnd/>
          </a:ln>
        </p:spPr>
        <p:txBody>
          <a:bodyPr vert="horz" wrap="square" lIns="90488" tIns="44450" rIns="90488" bIns="44450" numCol="1" anchor="t" anchorCtr="0" compatLnSpc="1">
            <a:prstTxWarp prst="textNoShape">
              <a:avLst/>
            </a:prstTxWarp>
          </a:bodyPr>
          <a:lstStyle/>
          <a:p>
            <a:pPr>
              <a:defRPr/>
            </a:pPr>
            <a:r>
              <a:rPr lang="en-US" b="1" dirty="0" err="1">
                <a:solidFill>
                  <a:schemeClr val="accent6">
                    <a:lumMod val="75000"/>
                  </a:schemeClr>
                </a:solidFill>
              </a:rPr>
              <a:t>Chương</a:t>
            </a:r>
            <a:r>
              <a:rPr lang="en-US" b="1" dirty="0">
                <a:solidFill>
                  <a:schemeClr val="accent6">
                    <a:lumMod val="75000"/>
                  </a:schemeClr>
                </a:solidFill>
              </a:rPr>
              <a:t> 7</a:t>
            </a:r>
            <a:br>
              <a:rPr lang="en-US" b="1" dirty="0">
                <a:solidFill>
                  <a:schemeClr val="accent6">
                    <a:lumMod val="75000"/>
                  </a:schemeClr>
                </a:solidFill>
              </a:rPr>
            </a:br>
            <a:r>
              <a:rPr lang="en-US" b="1" dirty="0" err="1">
                <a:solidFill>
                  <a:schemeClr val="accent6">
                    <a:lumMod val="75000"/>
                  </a:schemeClr>
                </a:solidFill>
              </a:rPr>
              <a:t>Ước</a:t>
            </a:r>
            <a:r>
              <a:rPr lang="en-US" b="1" dirty="0">
                <a:solidFill>
                  <a:schemeClr val="accent6">
                    <a:lumMod val="75000"/>
                  </a:schemeClr>
                </a:solidFill>
              </a:rPr>
              <a:t> </a:t>
            </a:r>
            <a:r>
              <a:rPr lang="en-US" b="1" dirty="0" err="1">
                <a:solidFill>
                  <a:schemeClr val="accent6">
                    <a:lumMod val="75000"/>
                  </a:schemeClr>
                </a:solidFill>
              </a:rPr>
              <a:t>lượng</a:t>
            </a:r>
            <a:r>
              <a:rPr lang="en-US" b="1" dirty="0">
                <a:solidFill>
                  <a:schemeClr val="accent6">
                    <a:lumMod val="75000"/>
                  </a:schemeClr>
                </a:solidFill>
              </a:rPr>
              <a:t> </a:t>
            </a:r>
            <a:r>
              <a:rPr lang="en-US" b="1" dirty="0" err="1">
                <a:solidFill>
                  <a:schemeClr val="accent6">
                    <a:lumMod val="75000"/>
                  </a:schemeClr>
                </a:solidFill>
              </a:rPr>
              <a:t>và</a:t>
            </a:r>
            <a:r>
              <a:rPr lang="en-US" b="1" dirty="0">
                <a:solidFill>
                  <a:schemeClr val="accent6">
                    <a:lumMod val="75000"/>
                  </a:schemeClr>
                </a:solidFill>
              </a:rPr>
              <a:t> </a:t>
            </a:r>
            <a:r>
              <a:rPr lang="en-US" b="1" dirty="0" err="1">
                <a:solidFill>
                  <a:schemeClr val="accent6">
                    <a:lumMod val="75000"/>
                  </a:schemeClr>
                </a:solidFill>
              </a:rPr>
              <a:t>kích</a:t>
            </a:r>
            <a:r>
              <a:rPr lang="en-US" b="1" dirty="0">
                <a:solidFill>
                  <a:schemeClr val="accent6">
                    <a:lumMod val="75000"/>
                  </a:schemeClr>
                </a:solidFill>
              </a:rPr>
              <a:t> </a:t>
            </a:r>
            <a:r>
              <a:rPr lang="en-US" b="1" dirty="0" err="1">
                <a:solidFill>
                  <a:schemeClr val="accent6">
                    <a:lumMod val="75000"/>
                  </a:schemeClr>
                </a:solidFill>
              </a:rPr>
              <a:t>thước</a:t>
            </a:r>
            <a:r>
              <a:rPr lang="en-US" b="1" dirty="0">
                <a:solidFill>
                  <a:schemeClr val="accent6">
                    <a:lumMod val="75000"/>
                  </a:schemeClr>
                </a:solidFill>
              </a:rPr>
              <a:t> </a:t>
            </a:r>
            <a:r>
              <a:rPr lang="en-US" b="1" dirty="0" err="1">
                <a:solidFill>
                  <a:schemeClr val="accent6">
                    <a:lumMod val="75000"/>
                  </a:schemeClr>
                </a:solidFill>
              </a:rPr>
              <a:t>mẫu</a:t>
            </a:r>
            <a:endParaRPr lang="en-US" b="1" dirty="0">
              <a:solidFill>
                <a:schemeClr val="accent6">
                  <a:lumMod val="75000"/>
                </a:schemeClr>
              </a:solidFill>
            </a:endParaRPr>
          </a:p>
        </p:txBody>
      </p:sp>
      <p:sp>
        <p:nvSpPr>
          <p:cNvPr id="4099" name="Text Box 6"/>
          <p:cNvSpPr txBox="1">
            <a:spLocks noChangeArrowheads="1"/>
          </p:cNvSpPr>
          <p:nvPr/>
        </p:nvSpPr>
        <p:spPr bwMode="auto">
          <a:xfrm>
            <a:off x="609600" y="2249488"/>
            <a:ext cx="8305800" cy="157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50000"/>
              </a:spcBef>
              <a:defRPr/>
            </a:pPr>
            <a:r>
              <a:rPr lang="en-US" altLang="en-US" sz="2600" b="0" dirty="0">
                <a:latin typeface="+mn-lt"/>
                <a:ea typeface="+mj-ea"/>
                <a:cs typeface="+mj-cs"/>
              </a:rPr>
              <a:t>7-1  </a:t>
            </a:r>
            <a:r>
              <a:rPr lang="en-US" altLang="en-US" sz="2600" b="0" dirty="0" err="1">
                <a:latin typeface="+mn-lt"/>
                <a:ea typeface="+mj-ea"/>
                <a:cs typeface="+mj-cs"/>
              </a:rPr>
              <a:t>Giới</a:t>
            </a:r>
            <a:r>
              <a:rPr lang="en-US" altLang="en-US" sz="2600" b="0" dirty="0">
                <a:latin typeface="+mn-lt"/>
                <a:ea typeface="+mj-ea"/>
                <a:cs typeface="+mj-cs"/>
              </a:rPr>
              <a:t> </a:t>
            </a:r>
            <a:r>
              <a:rPr lang="en-US" altLang="en-US" sz="2600" b="0" dirty="0" err="1">
                <a:latin typeface="+mn-lt"/>
                <a:ea typeface="+mj-ea"/>
                <a:cs typeface="+mj-cs"/>
              </a:rPr>
              <a:t>thiệu</a:t>
            </a:r>
            <a:endParaRPr lang="en-US" altLang="en-US" sz="2600" b="0" dirty="0">
              <a:latin typeface="+mn-lt"/>
              <a:ea typeface="+mj-ea"/>
              <a:cs typeface="+mj-cs"/>
            </a:endParaRPr>
          </a:p>
          <a:p>
            <a:pPr>
              <a:lnSpc>
                <a:spcPct val="90000"/>
              </a:lnSpc>
              <a:spcBef>
                <a:spcPct val="50000"/>
              </a:spcBef>
              <a:defRPr/>
            </a:pPr>
            <a:r>
              <a:rPr lang="en-US" altLang="en-US" sz="2600" b="0" dirty="0"/>
              <a:t>7-2  </a:t>
            </a:r>
            <a:r>
              <a:rPr lang="en-US" altLang="en-US" sz="2600" b="0" dirty="0" err="1"/>
              <a:t>Ước</a:t>
            </a:r>
            <a:r>
              <a:rPr lang="en-US" altLang="en-US" sz="2600" b="0" dirty="0"/>
              <a:t> </a:t>
            </a:r>
            <a:r>
              <a:rPr lang="en-US" altLang="en-US" sz="2600" b="0" dirty="0" err="1"/>
              <a:t>lượng</a:t>
            </a:r>
            <a:r>
              <a:rPr lang="en-US" altLang="en-US" sz="2600" b="0" dirty="0"/>
              <a:t> </a:t>
            </a:r>
            <a:r>
              <a:rPr lang="en-US" altLang="en-US" sz="2600" b="0" dirty="0" err="1"/>
              <a:t>trung</a:t>
            </a:r>
            <a:r>
              <a:rPr lang="en-US" altLang="en-US" sz="2600" b="0" dirty="0"/>
              <a:t> </a:t>
            </a:r>
            <a:r>
              <a:rPr lang="en-US" altLang="en-US" sz="2600" b="0" dirty="0" err="1"/>
              <a:t>bình</a:t>
            </a:r>
            <a:r>
              <a:rPr lang="en-US" altLang="en-US" sz="2600" b="0" dirty="0"/>
              <a:t> </a:t>
            </a:r>
            <a:r>
              <a:rPr lang="en-US" altLang="en-US" sz="2600" b="0" dirty="0" err="1"/>
              <a:t>quần</a:t>
            </a:r>
            <a:r>
              <a:rPr lang="en-US" altLang="en-US" sz="2600" b="0" dirty="0"/>
              <a:t> </a:t>
            </a:r>
            <a:r>
              <a:rPr lang="en-US" altLang="en-US" sz="2600" b="0" dirty="0" err="1"/>
              <a:t>thể</a:t>
            </a:r>
            <a:endParaRPr lang="en-US" altLang="en-US" sz="2600" b="0" dirty="0">
              <a:cs typeface="Arial" panose="020B0604020202020204" pitchFamily="34" charset="0"/>
            </a:endParaRPr>
          </a:p>
          <a:p>
            <a:pPr>
              <a:lnSpc>
                <a:spcPct val="90000"/>
              </a:lnSpc>
              <a:spcBef>
                <a:spcPct val="50000"/>
              </a:spcBef>
              <a:defRPr/>
            </a:pPr>
            <a:r>
              <a:rPr lang="en-US" altLang="en-US" sz="2600" dirty="0">
                <a:solidFill>
                  <a:schemeClr val="accent6">
                    <a:lumMod val="75000"/>
                  </a:schemeClr>
                </a:solidFill>
                <a:latin typeface="+mn-lt"/>
                <a:ea typeface="+mj-ea"/>
                <a:cs typeface="+mj-cs"/>
              </a:rPr>
              <a:t>7-3  </a:t>
            </a:r>
            <a:r>
              <a:rPr lang="en-US" altLang="en-US" sz="2600" dirty="0" err="1">
                <a:solidFill>
                  <a:schemeClr val="accent6">
                    <a:lumMod val="75000"/>
                  </a:schemeClr>
                </a:solidFill>
                <a:latin typeface="+mn-lt"/>
                <a:ea typeface="+mj-ea"/>
                <a:cs typeface="+mj-cs"/>
              </a:rPr>
              <a:t>Ước</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lượng</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tỉ</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lệ</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quần</a:t>
            </a:r>
            <a:r>
              <a:rPr lang="en-US" altLang="en-US" sz="2600" dirty="0">
                <a:solidFill>
                  <a:schemeClr val="accent6">
                    <a:lumMod val="75000"/>
                  </a:schemeClr>
                </a:solidFill>
                <a:latin typeface="+mn-lt"/>
                <a:ea typeface="+mj-ea"/>
                <a:cs typeface="+mj-cs"/>
              </a:rPr>
              <a:t> </a:t>
            </a:r>
            <a:r>
              <a:rPr lang="en-US" altLang="en-US" sz="2600" dirty="0" err="1">
                <a:solidFill>
                  <a:schemeClr val="accent6">
                    <a:lumMod val="75000"/>
                  </a:schemeClr>
                </a:solidFill>
                <a:latin typeface="+mn-lt"/>
                <a:ea typeface="+mj-ea"/>
                <a:cs typeface="+mj-cs"/>
              </a:rPr>
              <a:t>thể</a:t>
            </a:r>
            <a:endParaRPr lang="en-US" altLang="en-US" sz="2600" dirty="0">
              <a:solidFill>
                <a:schemeClr val="accent6">
                  <a:lumMod val="75000"/>
                </a:schemeClr>
              </a:solidFill>
              <a:latin typeface="+mn-lt"/>
              <a:ea typeface="+mj-ea"/>
              <a:cs typeface="+mj-c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4"/>
          <p:cNvSpPr txBox="1">
            <a:spLocks noChangeArrowheads="1"/>
          </p:cNvSpPr>
          <p:nvPr/>
        </p:nvSpPr>
        <p:spPr bwMode="auto">
          <a:xfrm>
            <a:off x="1295400" y="457200"/>
            <a:ext cx="70866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50000"/>
              </a:spcBef>
            </a:pPr>
            <a:endParaRPr lang="en-US" altLang="en-US" sz="3200" b="0">
              <a:latin typeface="Times New Roman" panose="02020603050405020304" pitchFamily="18" charset="0"/>
            </a:endParaRPr>
          </a:p>
        </p:txBody>
      </p:sp>
      <p:sp>
        <p:nvSpPr>
          <p:cNvPr id="79875" name="Text Box 5"/>
          <p:cNvSpPr txBox="1">
            <a:spLocks noChangeArrowheads="1"/>
          </p:cNvSpPr>
          <p:nvPr/>
        </p:nvSpPr>
        <p:spPr bwMode="auto">
          <a:xfrm>
            <a:off x="533400" y="609600"/>
            <a:ext cx="80772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spcBef>
                <a:spcPct val="50000"/>
              </a:spcBef>
            </a:pPr>
            <a:r>
              <a:rPr lang="en-US" altLang="en-US" sz="3600" dirty="0" err="1">
                <a:solidFill>
                  <a:srgbClr val="008000"/>
                </a:solidFill>
              </a:rPr>
              <a:t>Khái</a:t>
            </a:r>
            <a:r>
              <a:rPr lang="en-US" altLang="en-US" sz="3600" dirty="0">
                <a:solidFill>
                  <a:srgbClr val="008000"/>
                </a:solidFill>
              </a:rPr>
              <a:t> </a:t>
            </a:r>
            <a:r>
              <a:rPr lang="en-US" altLang="en-US" sz="3600" dirty="0" err="1">
                <a:solidFill>
                  <a:srgbClr val="008000"/>
                </a:solidFill>
              </a:rPr>
              <a:t>niệm</a:t>
            </a:r>
            <a:r>
              <a:rPr lang="en-US" altLang="en-US" sz="3600" dirty="0">
                <a:solidFill>
                  <a:srgbClr val="008000"/>
                </a:solidFill>
              </a:rPr>
              <a:t> </a:t>
            </a:r>
            <a:r>
              <a:rPr lang="en-US" altLang="en-US" sz="3600" dirty="0" err="1">
                <a:solidFill>
                  <a:srgbClr val="008000"/>
                </a:solidFill>
              </a:rPr>
              <a:t>chính</a:t>
            </a:r>
            <a:endParaRPr lang="en-US" altLang="en-US" sz="3600" dirty="0">
              <a:solidFill>
                <a:srgbClr val="008000"/>
              </a:solidFill>
            </a:endParaRPr>
          </a:p>
        </p:txBody>
      </p:sp>
      <p:sp>
        <p:nvSpPr>
          <p:cNvPr id="79877" name="Text Box 8"/>
          <p:cNvSpPr txBox="1">
            <a:spLocks noChangeArrowheads="1"/>
          </p:cNvSpPr>
          <p:nvPr/>
        </p:nvSpPr>
        <p:spPr bwMode="auto">
          <a:xfrm>
            <a:off x="0" y="1403350"/>
            <a:ext cx="9143999" cy="362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344488" indent="-344488">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marL="514350" indent="-514350">
              <a:lnSpc>
                <a:spcPct val="90000"/>
              </a:lnSpc>
              <a:spcBef>
                <a:spcPct val="50000"/>
              </a:spcBef>
              <a:buClr>
                <a:schemeClr val="accent2"/>
              </a:buClr>
              <a:buFont typeface="+mj-lt"/>
              <a:buAutoNum type="arabicPeriod"/>
            </a:pPr>
            <a:r>
              <a:rPr lang="en-US" altLang="en-US" sz="2800" b="0" dirty="0" err="1"/>
              <a:t>Tỉ</a:t>
            </a:r>
            <a:r>
              <a:rPr lang="en-US" altLang="en-US" sz="2800" b="0" dirty="0"/>
              <a:t> </a:t>
            </a:r>
            <a:r>
              <a:rPr lang="en-US" altLang="en-US" sz="2800" b="0" dirty="0" err="1"/>
              <a:t>lệ</a:t>
            </a:r>
            <a:r>
              <a:rPr lang="en-US" altLang="en-US" sz="2800" b="0" dirty="0"/>
              <a:t> </a:t>
            </a:r>
            <a:r>
              <a:rPr lang="en-US" altLang="en-US" sz="2800" b="0" dirty="0" err="1"/>
              <a:t>mẫu</a:t>
            </a:r>
            <a:r>
              <a:rPr lang="en-US" altLang="en-US" sz="2800" b="0" dirty="0"/>
              <a:t> </a:t>
            </a:r>
            <a:r>
              <a:rPr lang="en-US" altLang="en-US" sz="2800" b="0" dirty="0" err="1"/>
              <a:t>là</a:t>
            </a:r>
            <a:r>
              <a:rPr lang="en-US" altLang="en-US" sz="2800" b="0" dirty="0"/>
              <a:t> </a:t>
            </a:r>
            <a:r>
              <a:rPr lang="en-US" altLang="en-US" sz="2800" b="0" dirty="0" err="1">
                <a:solidFill>
                  <a:srgbClr val="FF0000"/>
                </a:solidFill>
              </a:rPr>
              <a:t>ước</a:t>
            </a:r>
            <a:r>
              <a:rPr lang="en-US" altLang="en-US" sz="2800" b="0" dirty="0">
                <a:solidFill>
                  <a:srgbClr val="FF0000"/>
                </a:solidFill>
              </a:rPr>
              <a:t> </a:t>
            </a:r>
            <a:r>
              <a:rPr lang="en-US" altLang="en-US" sz="2800" b="0" dirty="0" err="1">
                <a:solidFill>
                  <a:srgbClr val="FF0000"/>
                </a:solidFill>
              </a:rPr>
              <a:t>lượng</a:t>
            </a:r>
            <a:r>
              <a:rPr lang="en-US" altLang="en-US" sz="2800" b="0" dirty="0">
                <a:solidFill>
                  <a:srgbClr val="FF0000"/>
                </a:solidFill>
              </a:rPr>
              <a:t> </a:t>
            </a:r>
            <a:r>
              <a:rPr lang="en-US" altLang="en-US" sz="2800" b="0" dirty="0" err="1">
                <a:solidFill>
                  <a:srgbClr val="FF0000"/>
                </a:solidFill>
              </a:rPr>
              <a:t>điểm</a:t>
            </a:r>
            <a:r>
              <a:rPr lang="en-US" altLang="en-US" sz="2800" b="0" dirty="0">
                <a:solidFill>
                  <a:srgbClr val="FF0000"/>
                </a:solidFill>
              </a:rPr>
              <a:t> </a:t>
            </a:r>
            <a:r>
              <a:rPr lang="en-US" altLang="en-US" sz="2800" b="0" dirty="0" err="1"/>
              <a:t>tốt</a:t>
            </a:r>
            <a:r>
              <a:rPr lang="en-US" altLang="en-US" sz="2800" b="0" dirty="0"/>
              <a:t> </a:t>
            </a:r>
            <a:r>
              <a:rPr lang="en-US" altLang="en-US" sz="2800" b="0" dirty="0" err="1"/>
              <a:t>nhất</a:t>
            </a:r>
            <a:r>
              <a:rPr lang="en-US" altLang="en-US" sz="2800" b="0" dirty="0"/>
              <a:t> </a:t>
            </a:r>
            <a:r>
              <a:rPr lang="en-US" altLang="en-US" sz="2800" b="0" dirty="0" err="1"/>
              <a:t>của</a:t>
            </a:r>
            <a:r>
              <a:rPr lang="en-US" altLang="en-US" sz="2800" b="0" dirty="0"/>
              <a:t> </a:t>
            </a:r>
            <a:r>
              <a:rPr lang="en-US" altLang="en-US" sz="2800" b="0" dirty="0" err="1"/>
              <a:t>tỉ</a:t>
            </a:r>
            <a:r>
              <a:rPr lang="en-US" altLang="en-US" sz="2800" b="0" dirty="0"/>
              <a:t> </a:t>
            </a:r>
            <a:r>
              <a:rPr lang="en-US" altLang="en-US" sz="2800" b="0" dirty="0" err="1"/>
              <a:t>lệ</a:t>
            </a:r>
            <a:r>
              <a:rPr lang="en-US" altLang="en-US" sz="2800" b="0" dirty="0"/>
              <a:t> </a:t>
            </a:r>
            <a:r>
              <a:rPr lang="en-US" altLang="en-US" sz="2800" b="0" dirty="0" err="1"/>
              <a:t>quần</a:t>
            </a:r>
            <a:r>
              <a:rPr lang="en-US" altLang="en-US" sz="2800" b="0" dirty="0"/>
              <a:t> </a:t>
            </a:r>
            <a:r>
              <a:rPr lang="en-US" altLang="en-US" sz="2800" b="0" dirty="0" err="1"/>
              <a:t>thể</a:t>
            </a:r>
            <a:r>
              <a:rPr lang="en-US" altLang="en-US" sz="2800" b="0" dirty="0"/>
              <a:t>.</a:t>
            </a:r>
          </a:p>
          <a:p>
            <a:pPr marL="514350" indent="-514350">
              <a:lnSpc>
                <a:spcPct val="90000"/>
              </a:lnSpc>
              <a:spcBef>
                <a:spcPct val="50000"/>
              </a:spcBef>
              <a:buClr>
                <a:schemeClr val="accent2"/>
              </a:buClr>
              <a:buFont typeface="+mj-lt"/>
              <a:buAutoNum type="arabicPeriod"/>
            </a:pPr>
            <a:r>
              <a:rPr lang="en-US" altLang="en-US" sz="2800" b="0" dirty="0" err="1"/>
              <a:t>Sử</a:t>
            </a:r>
            <a:r>
              <a:rPr lang="en-US" altLang="en-US" sz="2800" b="0" dirty="0"/>
              <a:t> </a:t>
            </a:r>
            <a:r>
              <a:rPr lang="en-US" altLang="en-US" sz="2800" b="0" dirty="0" err="1"/>
              <a:t>dụng</a:t>
            </a:r>
            <a:r>
              <a:rPr lang="en-US" altLang="en-US" sz="2800" b="0" dirty="0"/>
              <a:t> </a:t>
            </a:r>
            <a:r>
              <a:rPr lang="en-US" altLang="en-US" sz="2800" b="0" dirty="0" err="1"/>
              <a:t>tỉ</a:t>
            </a:r>
            <a:r>
              <a:rPr lang="en-US" altLang="en-US" sz="2800" b="0" dirty="0"/>
              <a:t> </a:t>
            </a:r>
            <a:r>
              <a:rPr lang="en-US" altLang="en-US" sz="2800" b="0" dirty="0" err="1"/>
              <a:t>lệ</a:t>
            </a:r>
            <a:r>
              <a:rPr lang="en-US" altLang="en-US" sz="2800" b="0" dirty="0"/>
              <a:t> </a:t>
            </a:r>
            <a:r>
              <a:rPr lang="en-US" altLang="en-US" sz="2800" b="0" dirty="0" err="1"/>
              <a:t>mẫu</a:t>
            </a:r>
            <a:r>
              <a:rPr lang="en-US" altLang="en-US" sz="2800" b="0" dirty="0"/>
              <a:t> </a:t>
            </a:r>
            <a:r>
              <a:rPr lang="en-US" altLang="en-US" sz="2800" b="0" dirty="0" err="1"/>
              <a:t>để</a:t>
            </a:r>
            <a:r>
              <a:rPr lang="en-US" altLang="en-US" sz="2800" b="0" dirty="0"/>
              <a:t> </a:t>
            </a:r>
            <a:r>
              <a:rPr lang="en-US" altLang="en-US" sz="2800" b="0" dirty="0" err="1">
                <a:solidFill>
                  <a:srgbClr val="FF0000"/>
                </a:solidFill>
              </a:rPr>
              <a:t>xây</a:t>
            </a:r>
            <a:r>
              <a:rPr lang="en-US" altLang="en-US" sz="2800" b="0" dirty="0">
                <a:solidFill>
                  <a:srgbClr val="FF0000"/>
                </a:solidFill>
              </a:rPr>
              <a:t> </a:t>
            </a:r>
            <a:r>
              <a:rPr lang="en-US" altLang="en-US" sz="2800" b="0" dirty="0" err="1">
                <a:solidFill>
                  <a:srgbClr val="FF0000"/>
                </a:solidFill>
              </a:rPr>
              <a:t>dựng</a:t>
            </a:r>
            <a:r>
              <a:rPr lang="en-US" altLang="en-US" sz="2800" b="0" dirty="0">
                <a:solidFill>
                  <a:srgbClr val="FF0000"/>
                </a:solidFill>
              </a:rPr>
              <a:t> </a:t>
            </a:r>
            <a:r>
              <a:rPr lang="en-US" altLang="en-US" sz="2800" b="0" dirty="0" err="1">
                <a:solidFill>
                  <a:srgbClr val="FF0000"/>
                </a:solidFill>
              </a:rPr>
              <a:t>khoảng</a:t>
            </a:r>
            <a:r>
              <a:rPr lang="en-US" altLang="en-US" sz="2800" b="0" dirty="0">
                <a:solidFill>
                  <a:srgbClr val="FF0000"/>
                </a:solidFill>
              </a:rPr>
              <a:t> tin </a:t>
            </a:r>
            <a:r>
              <a:rPr lang="en-US" altLang="en-US" sz="2800" b="0" dirty="0" err="1">
                <a:solidFill>
                  <a:srgbClr val="FF0000"/>
                </a:solidFill>
              </a:rPr>
              <a:t>cậy</a:t>
            </a:r>
            <a:r>
              <a:rPr lang="en-US" altLang="en-US" sz="2800" b="0" dirty="0">
                <a:solidFill>
                  <a:srgbClr val="FF0000"/>
                </a:solidFill>
              </a:rPr>
              <a:t> </a:t>
            </a:r>
            <a:r>
              <a:rPr lang="en-US" altLang="en-US" sz="2800" b="0" dirty="0" err="1"/>
              <a:t>để</a:t>
            </a:r>
            <a:r>
              <a:rPr lang="en-US" altLang="en-US" sz="2800" b="0" dirty="0"/>
              <a:t> </a:t>
            </a:r>
            <a:r>
              <a:rPr lang="en-US" altLang="en-US" sz="2800" b="0" dirty="0" err="1"/>
              <a:t>ước</a:t>
            </a:r>
            <a:r>
              <a:rPr lang="en-US" altLang="en-US" sz="2800" b="0" dirty="0"/>
              <a:t> </a:t>
            </a:r>
            <a:r>
              <a:rPr lang="en-US" altLang="en-US" sz="2800" b="0" dirty="0" err="1"/>
              <a:t>lượng</a:t>
            </a:r>
            <a:r>
              <a:rPr lang="en-US" altLang="en-US" sz="2800" b="0" dirty="0"/>
              <a:t> </a:t>
            </a:r>
            <a:r>
              <a:rPr lang="en-US" altLang="en-US" sz="2800" b="0" dirty="0" err="1"/>
              <a:t>giá</a:t>
            </a:r>
            <a:r>
              <a:rPr lang="en-US" altLang="en-US" sz="2800" b="0" dirty="0"/>
              <a:t> </a:t>
            </a:r>
            <a:r>
              <a:rPr lang="en-US" altLang="en-US" sz="2800" b="0" dirty="0" err="1"/>
              <a:t>trị</a:t>
            </a:r>
            <a:r>
              <a:rPr lang="en-US" altLang="en-US" sz="2800" b="0" dirty="0"/>
              <a:t> </a:t>
            </a:r>
            <a:r>
              <a:rPr lang="en-US" altLang="en-US" sz="2800" b="0" dirty="0" err="1"/>
              <a:t>đúng</a:t>
            </a:r>
            <a:r>
              <a:rPr lang="en-US" altLang="en-US" sz="2800" b="0" dirty="0"/>
              <a:t> </a:t>
            </a:r>
            <a:r>
              <a:rPr lang="en-US" altLang="en-US" sz="2800" b="0" dirty="0" err="1"/>
              <a:t>của</a:t>
            </a:r>
            <a:r>
              <a:rPr lang="en-US" altLang="en-US" sz="2800" b="0" dirty="0"/>
              <a:t> </a:t>
            </a:r>
            <a:r>
              <a:rPr lang="en-US" altLang="en-US" sz="2800" b="0" dirty="0" err="1"/>
              <a:t>tỉ</a:t>
            </a:r>
            <a:r>
              <a:rPr lang="en-US" altLang="en-US" sz="2800" b="0" dirty="0"/>
              <a:t> </a:t>
            </a:r>
            <a:r>
              <a:rPr lang="en-US" altLang="en-US" sz="2800" b="0" dirty="0" err="1"/>
              <a:t>lệ</a:t>
            </a:r>
            <a:r>
              <a:rPr lang="en-US" altLang="en-US" sz="2800" b="0" dirty="0"/>
              <a:t> </a:t>
            </a:r>
            <a:r>
              <a:rPr lang="en-US" altLang="en-US" sz="2800" b="0" dirty="0" err="1"/>
              <a:t>quần</a:t>
            </a:r>
            <a:r>
              <a:rPr lang="en-US" altLang="en-US" sz="2800" b="0" dirty="0"/>
              <a:t> </a:t>
            </a:r>
            <a:r>
              <a:rPr lang="en-US" altLang="en-US" sz="2800" b="0" dirty="0" err="1"/>
              <a:t>thể</a:t>
            </a:r>
            <a:r>
              <a:rPr lang="en-US" altLang="en-US" sz="2800" b="0" dirty="0"/>
              <a:t> </a:t>
            </a:r>
            <a:r>
              <a:rPr lang="en-US" altLang="en-US" sz="2800" b="0" dirty="0" err="1"/>
              <a:t>và</a:t>
            </a:r>
            <a:r>
              <a:rPr lang="en-US" altLang="en-US" sz="2800" b="0" dirty="0"/>
              <a:t> </a:t>
            </a:r>
            <a:r>
              <a:rPr lang="en-US" altLang="en-US" sz="2800" b="0" dirty="0" err="1"/>
              <a:t>chúng</a:t>
            </a:r>
            <a:r>
              <a:rPr lang="en-US" altLang="en-US" sz="2800" b="0" dirty="0"/>
              <a:t> ta </a:t>
            </a:r>
            <a:r>
              <a:rPr lang="en-US" altLang="en-US" sz="2800" b="0" dirty="0" err="1"/>
              <a:t>cũng</a:t>
            </a:r>
            <a:r>
              <a:rPr lang="en-US" altLang="en-US" sz="2800" b="0" dirty="0"/>
              <a:t> </a:t>
            </a:r>
            <a:r>
              <a:rPr lang="en-US" altLang="en-US" sz="2800" b="0" dirty="0" err="1"/>
              <a:t>nên</a:t>
            </a:r>
            <a:r>
              <a:rPr lang="en-US" altLang="en-US" sz="2800" b="0" dirty="0"/>
              <a:t> </a:t>
            </a:r>
            <a:r>
              <a:rPr lang="en-US" altLang="en-US" sz="2800" b="0" dirty="0" err="1"/>
              <a:t>biết</a:t>
            </a:r>
            <a:r>
              <a:rPr lang="en-US" altLang="en-US" sz="2800" b="0" dirty="0"/>
              <a:t> </a:t>
            </a:r>
            <a:r>
              <a:rPr lang="en-US" altLang="en-US" sz="2800" b="0" dirty="0" err="1"/>
              <a:t>cách</a:t>
            </a:r>
            <a:r>
              <a:rPr lang="en-US" altLang="en-US" sz="2800" b="0" dirty="0"/>
              <a:t> </a:t>
            </a:r>
            <a:r>
              <a:rPr lang="en-US" altLang="en-US" sz="2800" b="0" dirty="0" err="1">
                <a:solidFill>
                  <a:srgbClr val="FF0000"/>
                </a:solidFill>
              </a:rPr>
              <a:t>diễn</a:t>
            </a:r>
            <a:r>
              <a:rPr lang="en-US" altLang="en-US" sz="2800" b="0" dirty="0">
                <a:solidFill>
                  <a:srgbClr val="FF0000"/>
                </a:solidFill>
              </a:rPr>
              <a:t> </a:t>
            </a:r>
            <a:r>
              <a:rPr lang="en-US" altLang="en-US" sz="2800" b="0" dirty="0" err="1">
                <a:solidFill>
                  <a:srgbClr val="FF0000"/>
                </a:solidFill>
              </a:rPr>
              <a:t>dịch</a:t>
            </a:r>
            <a:r>
              <a:rPr lang="en-US" altLang="en-US" sz="2800" b="0" dirty="0">
                <a:solidFill>
                  <a:srgbClr val="FF0000"/>
                </a:solidFill>
              </a:rPr>
              <a:t> ý </a:t>
            </a:r>
            <a:r>
              <a:rPr lang="en-US" altLang="en-US" sz="2800" b="0" dirty="0" err="1">
                <a:solidFill>
                  <a:srgbClr val="FF0000"/>
                </a:solidFill>
              </a:rPr>
              <a:t>nghĩa</a:t>
            </a:r>
            <a:r>
              <a:rPr lang="en-US" altLang="en-US" sz="2800" b="0" dirty="0">
                <a:solidFill>
                  <a:srgbClr val="FF0000"/>
                </a:solidFill>
              </a:rPr>
              <a:t> </a:t>
            </a:r>
            <a:r>
              <a:rPr lang="en-US" altLang="en-US" sz="2800" b="0" dirty="0" err="1">
                <a:solidFill>
                  <a:srgbClr val="FF0000"/>
                </a:solidFill>
              </a:rPr>
              <a:t>về</a:t>
            </a:r>
            <a:r>
              <a:rPr lang="en-US" altLang="en-US" sz="2800" b="0" dirty="0">
                <a:solidFill>
                  <a:srgbClr val="FF0000"/>
                </a:solidFill>
              </a:rPr>
              <a:t> </a:t>
            </a:r>
            <a:r>
              <a:rPr lang="en-US" altLang="en-US" sz="2800" b="0" dirty="0" err="1">
                <a:solidFill>
                  <a:srgbClr val="FF0000"/>
                </a:solidFill>
              </a:rPr>
              <a:t>khoảng</a:t>
            </a:r>
            <a:r>
              <a:rPr lang="en-US" altLang="en-US" sz="2800" b="0" dirty="0">
                <a:solidFill>
                  <a:srgbClr val="FF0000"/>
                </a:solidFill>
              </a:rPr>
              <a:t> tin </a:t>
            </a:r>
            <a:r>
              <a:rPr lang="en-US" altLang="en-US" sz="2800" b="0" dirty="0" err="1">
                <a:solidFill>
                  <a:srgbClr val="FF0000"/>
                </a:solidFill>
              </a:rPr>
              <a:t>cậy</a:t>
            </a:r>
            <a:r>
              <a:rPr lang="en-US" altLang="en-US" sz="2800" b="0" dirty="0">
                <a:solidFill>
                  <a:srgbClr val="FF0000"/>
                </a:solidFill>
              </a:rPr>
              <a:t>.</a:t>
            </a:r>
          </a:p>
          <a:p>
            <a:pPr marL="514350" indent="-514350">
              <a:lnSpc>
                <a:spcPct val="90000"/>
              </a:lnSpc>
              <a:spcBef>
                <a:spcPct val="50000"/>
              </a:spcBef>
              <a:buClr>
                <a:schemeClr val="accent2"/>
              </a:buClr>
              <a:buFont typeface="+mj-lt"/>
              <a:buAutoNum type="arabicPeriod"/>
            </a:pPr>
            <a:r>
              <a:rPr lang="en-US" altLang="en-US" sz="2800" b="0" dirty="0" err="1">
                <a:solidFill>
                  <a:srgbClr val="FF0000"/>
                </a:solidFill>
              </a:rPr>
              <a:t>Xác</a:t>
            </a:r>
            <a:r>
              <a:rPr lang="en-US" altLang="en-US" sz="2800" b="0" dirty="0">
                <a:solidFill>
                  <a:srgbClr val="FF0000"/>
                </a:solidFill>
              </a:rPr>
              <a:t> </a:t>
            </a:r>
            <a:r>
              <a:rPr lang="en-US" altLang="en-US" sz="2800" b="0" dirty="0" err="1">
                <a:solidFill>
                  <a:srgbClr val="FF0000"/>
                </a:solidFill>
              </a:rPr>
              <a:t>định</a:t>
            </a:r>
            <a:r>
              <a:rPr lang="en-US" altLang="en-US" sz="2800" b="0" dirty="0">
                <a:solidFill>
                  <a:srgbClr val="FF0000"/>
                </a:solidFill>
              </a:rPr>
              <a:t> </a:t>
            </a:r>
            <a:r>
              <a:rPr lang="en-US" altLang="en-US" sz="2800" b="0" dirty="0" err="1">
                <a:solidFill>
                  <a:srgbClr val="FF0000"/>
                </a:solidFill>
              </a:rPr>
              <a:t>kích</a:t>
            </a:r>
            <a:r>
              <a:rPr lang="en-US" altLang="en-US" sz="2800" b="0" dirty="0">
                <a:solidFill>
                  <a:srgbClr val="FF0000"/>
                </a:solidFill>
              </a:rPr>
              <a:t> </a:t>
            </a:r>
            <a:r>
              <a:rPr lang="en-US" altLang="en-US" sz="2800" b="0" dirty="0" err="1">
                <a:solidFill>
                  <a:srgbClr val="FF0000"/>
                </a:solidFill>
              </a:rPr>
              <a:t>thước</a:t>
            </a:r>
            <a:r>
              <a:rPr lang="en-US" altLang="en-US" sz="2800" b="0" dirty="0">
                <a:solidFill>
                  <a:srgbClr val="FF0000"/>
                </a:solidFill>
              </a:rPr>
              <a:t> </a:t>
            </a:r>
            <a:r>
              <a:rPr lang="en-US" altLang="en-US" sz="2800" b="0" dirty="0" err="1">
                <a:solidFill>
                  <a:srgbClr val="FF0000"/>
                </a:solidFill>
              </a:rPr>
              <a:t>mẫu</a:t>
            </a:r>
            <a:r>
              <a:rPr lang="en-US" altLang="en-US" sz="2800" b="0" dirty="0">
                <a:solidFill>
                  <a:srgbClr val="FF0000"/>
                </a:solidFill>
              </a:rPr>
              <a:t> </a:t>
            </a:r>
            <a:r>
              <a:rPr lang="en-US" altLang="en-US" sz="2800" b="0" dirty="0" err="1"/>
              <a:t>cần</a:t>
            </a:r>
            <a:r>
              <a:rPr lang="en-US" altLang="en-US" sz="2800" b="0" dirty="0"/>
              <a:t> </a:t>
            </a:r>
            <a:r>
              <a:rPr lang="en-US" altLang="en-US" sz="2800" b="0" dirty="0" err="1"/>
              <a:t>thiết</a:t>
            </a:r>
            <a:r>
              <a:rPr lang="en-US" altLang="en-US" sz="2800" b="0" dirty="0"/>
              <a:t> </a:t>
            </a:r>
            <a:r>
              <a:rPr lang="en-US" altLang="en-US" sz="2800" b="0" dirty="0" err="1"/>
              <a:t>để</a:t>
            </a:r>
            <a:r>
              <a:rPr lang="en-US" altLang="en-US" sz="2800" b="0" dirty="0"/>
              <a:t> </a:t>
            </a:r>
            <a:r>
              <a:rPr lang="en-US" altLang="en-US" sz="2800" b="0" dirty="0" err="1"/>
              <a:t>ước</a:t>
            </a:r>
            <a:r>
              <a:rPr lang="en-US" altLang="en-US" sz="2800" b="0" dirty="0"/>
              <a:t> </a:t>
            </a:r>
            <a:r>
              <a:rPr lang="en-US" altLang="en-US" sz="2800" b="0" dirty="0" err="1"/>
              <a:t>lượng</a:t>
            </a:r>
            <a:r>
              <a:rPr lang="en-US" altLang="en-US" sz="2800" b="0" dirty="0"/>
              <a:t> </a:t>
            </a:r>
            <a:r>
              <a:rPr lang="en-US" altLang="en-US" sz="2800" b="0" dirty="0" err="1"/>
              <a:t>tỉ</a:t>
            </a:r>
            <a:r>
              <a:rPr lang="en-US" altLang="en-US" sz="2800" b="0" dirty="0"/>
              <a:t> </a:t>
            </a:r>
            <a:r>
              <a:rPr lang="en-US" altLang="en-US" sz="2800" b="0" dirty="0" err="1"/>
              <a:t>lệ</a:t>
            </a:r>
            <a:r>
              <a:rPr lang="en-US" altLang="en-US" sz="2800" b="0" dirty="0"/>
              <a:t> </a:t>
            </a:r>
            <a:r>
              <a:rPr lang="en-US" altLang="en-US" sz="2800" b="0" dirty="0" err="1"/>
              <a:t>quần</a:t>
            </a:r>
            <a:r>
              <a:rPr lang="en-US" altLang="en-US" sz="2800" b="0" dirty="0"/>
              <a:t> </a:t>
            </a:r>
            <a:r>
              <a:rPr lang="en-US" altLang="en-US" sz="2800" b="0" dirty="0" err="1"/>
              <a:t>thể</a:t>
            </a:r>
            <a:r>
              <a:rPr lang="en-US" altLang="en-US" sz="2800" b="0" dirty="0"/>
              <a:t>. </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type="body" idx="4294967295"/>
          </p:nvPr>
        </p:nvSpPr>
        <p:spPr bwMode="auto">
          <a:xfrm>
            <a:off x="0" y="2103438"/>
            <a:ext cx="9144000" cy="24765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457200" indent="-457200">
              <a:buFont typeface="Wingdings" panose="05000000000000000000" pitchFamily="2" charset="2"/>
              <a:buNone/>
            </a:pPr>
            <a:r>
              <a:rPr lang="en-US" altLang="en-US" sz="3200" b="0" dirty="0"/>
              <a:t>	</a:t>
            </a:r>
            <a:r>
              <a:rPr lang="en-US" altLang="en-US" sz="3200" b="0" dirty="0" err="1"/>
              <a:t>Tỉ</a:t>
            </a:r>
            <a:r>
              <a:rPr lang="en-US" altLang="en-US" sz="3200" b="0" dirty="0"/>
              <a:t> </a:t>
            </a:r>
            <a:r>
              <a:rPr lang="en-US" altLang="en-US" sz="3200" b="0" dirty="0" err="1"/>
              <a:t>lệ</a:t>
            </a:r>
            <a:r>
              <a:rPr lang="en-US" altLang="en-US" sz="3200" b="0" dirty="0"/>
              <a:t> </a:t>
            </a:r>
            <a:r>
              <a:rPr lang="en-US" altLang="en-US" sz="3200" b="0" dirty="0" err="1"/>
              <a:t>mẫu</a:t>
            </a:r>
            <a:r>
              <a:rPr lang="en-US" altLang="en-US" sz="3200" b="0" dirty="0"/>
              <a:t>   </a:t>
            </a:r>
            <a:r>
              <a:rPr lang="en-US" altLang="en-US" sz="3200" b="0" i="1" dirty="0">
                <a:solidFill>
                  <a:schemeClr val="hlink"/>
                </a:solidFill>
              </a:rPr>
              <a:t>  </a:t>
            </a:r>
            <a:r>
              <a:rPr lang="en-US" altLang="en-US" sz="3200" b="0" dirty="0" err="1"/>
              <a:t>là</a:t>
            </a:r>
            <a:r>
              <a:rPr lang="en-US" altLang="en-US" sz="3200" b="0" dirty="0"/>
              <a:t> </a:t>
            </a:r>
            <a:r>
              <a:rPr lang="en-US" altLang="en-US" sz="3200" b="0" dirty="0" err="1"/>
              <a:t>ước</a:t>
            </a:r>
            <a:r>
              <a:rPr lang="en-US" altLang="en-US" sz="3200" b="0" dirty="0"/>
              <a:t> </a:t>
            </a:r>
            <a:r>
              <a:rPr lang="en-US" altLang="en-US" sz="3200" b="0" dirty="0" err="1"/>
              <a:t>lượng</a:t>
            </a:r>
            <a:r>
              <a:rPr lang="en-US" altLang="en-US" sz="3200" b="0" dirty="0"/>
              <a:t> </a:t>
            </a:r>
            <a:r>
              <a:rPr lang="en-US" altLang="en-US" sz="3200" b="0" dirty="0" err="1"/>
              <a:t>điểm</a:t>
            </a:r>
            <a:r>
              <a:rPr lang="en-US" altLang="en-US" sz="3200" b="0" dirty="0"/>
              <a:t> </a:t>
            </a:r>
            <a:r>
              <a:rPr lang="en-US" altLang="en-US" sz="3200" b="0" dirty="0" err="1"/>
              <a:t>tốt</a:t>
            </a:r>
            <a:r>
              <a:rPr lang="en-US" altLang="en-US" sz="3200" b="0" dirty="0"/>
              <a:t> </a:t>
            </a:r>
            <a:r>
              <a:rPr lang="en-US" altLang="en-US" sz="3200" b="0" dirty="0" err="1"/>
              <a:t>nhất</a:t>
            </a:r>
            <a:r>
              <a:rPr lang="en-US" altLang="en-US" sz="3200" b="0" dirty="0"/>
              <a:t> </a:t>
            </a:r>
            <a:r>
              <a:rPr lang="en-US" altLang="en-US" sz="3200" b="0" dirty="0" err="1"/>
              <a:t>của</a:t>
            </a:r>
            <a:r>
              <a:rPr lang="en-US" altLang="en-US" sz="3200" b="0" dirty="0"/>
              <a:t> </a:t>
            </a:r>
            <a:r>
              <a:rPr lang="en-US" altLang="en-US" sz="3200" b="0" dirty="0" err="1"/>
              <a:t>ước</a:t>
            </a:r>
            <a:r>
              <a:rPr lang="en-US" altLang="en-US" sz="3200" b="0" dirty="0"/>
              <a:t> </a:t>
            </a:r>
            <a:r>
              <a:rPr lang="en-US" altLang="en-US" sz="3200" b="0" dirty="0" err="1"/>
              <a:t>lượng</a:t>
            </a:r>
            <a:r>
              <a:rPr lang="en-US" altLang="en-US" sz="3200" b="0" dirty="0"/>
              <a:t> </a:t>
            </a:r>
            <a:r>
              <a:rPr lang="en-US" altLang="en-US" sz="3200" b="0" dirty="0" err="1"/>
              <a:t>tỉ</a:t>
            </a:r>
            <a:r>
              <a:rPr lang="en-US" altLang="en-US" sz="3200" b="0" dirty="0"/>
              <a:t> </a:t>
            </a:r>
            <a:r>
              <a:rPr lang="en-US" altLang="en-US" sz="3200" b="0" dirty="0" err="1"/>
              <a:t>lệ</a:t>
            </a:r>
            <a:r>
              <a:rPr lang="en-US" altLang="en-US" sz="3200" b="0" dirty="0"/>
              <a:t> </a:t>
            </a:r>
            <a:r>
              <a:rPr lang="en-US" altLang="en-US" sz="3200" b="0" dirty="0" err="1"/>
              <a:t>quần</a:t>
            </a:r>
            <a:r>
              <a:rPr lang="en-US" altLang="en-US" sz="3200" b="0" dirty="0"/>
              <a:t> </a:t>
            </a:r>
            <a:r>
              <a:rPr lang="en-US" altLang="en-US" sz="3200" b="0" dirty="0" err="1"/>
              <a:t>thể</a:t>
            </a:r>
            <a:r>
              <a:rPr lang="en-US" altLang="en-US" sz="3200" b="0" dirty="0"/>
              <a:t> </a:t>
            </a:r>
            <a:r>
              <a:rPr lang="en-US" altLang="en-US" sz="3200" b="0" i="1" dirty="0"/>
              <a:t>p</a:t>
            </a:r>
            <a:r>
              <a:rPr lang="en-US" altLang="en-US" sz="3200" b="0" dirty="0"/>
              <a:t>.  </a:t>
            </a:r>
          </a:p>
        </p:txBody>
      </p:sp>
      <p:graphicFrame>
        <p:nvGraphicFramePr>
          <p:cNvPr id="83972" name="Object 2"/>
          <p:cNvGraphicFramePr>
            <a:graphicFrameLocks noChangeAspect="1"/>
          </p:cNvGraphicFramePr>
          <p:nvPr>
            <p:extLst>
              <p:ext uri="{D42A27DB-BD31-4B8C-83A1-F6EECF244321}">
                <p14:modId xmlns:p14="http://schemas.microsoft.com/office/powerpoint/2010/main" val="333774104"/>
              </p:ext>
            </p:extLst>
          </p:nvPr>
        </p:nvGraphicFramePr>
        <p:xfrm>
          <a:off x="2133600" y="2133600"/>
          <a:ext cx="327025" cy="506412"/>
        </p:xfrm>
        <a:graphic>
          <a:graphicData uri="http://schemas.openxmlformats.org/presentationml/2006/ole">
            <mc:AlternateContent xmlns:mc="http://schemas.openxmlformats.org/markup-compatibility/2006">
              <mc:Choice xmlns:v="urn:schemas-microsoft-com:vml" Requires="v">
                <p:oleObj name="Equation" r:id="rId3" imgW="279279" imgH="431613" progId="Equation.DSMT4">
                  <p:embed/>
                </p:oleObj>
              </mc:Choice>
              <mc:Fallback>
                <p:oleObj name="Equation" r:id="rId3" imgW="279279" imgH="431613"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133600"/>
                        <a:ext cx="32702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5"/>
          <p:cNvSpPr txBox="1">
            <a:spLocks noChangeArrowheads="1"/>
          </p:cNvSpPr>
          <p:nvPr/>
        </p:nvSpPr>
        <p:spPr bwMode="auto">
          <a:xfrm>
            <a:off x="609600" y="609600"/>
            <a:ext cx="80772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spcBef>
                <a:spcPct val="50000"/>
              </a:spcBef>
            </a:pPr>
            <a:r>
              <a:rPr lang="en-US" altLang="en-US" sz="3600" dirty="0" err="1">
                <a:solidFill>
                  <a:srgbClr val="008000"/>
                </a:solidFill>
              </a:rPr>
              <a:t>Khái</a:t>
            </a:r>
            <a:r>
              <a:rPr lang="en-US" altLang="en-US" sz="3600" dirty="0">
                <a:solidFill>
                  <a:srgbClr val="008000"/>
                </a:solidFill>
              </a:rPr>
              <a:t> </a:t>
            </a:r>
            <a:r>
              <a:rPr lang="en-US" altLang="en-US" sz="3600" dirty="0" err="1">
                <a:solidFill>
                  <a:srgbClr val="008000"/>
                </a:solidFill>
              </a:rPr>
              <a:t>niệm</a:t>
            </a:r>
            <a:r>
              <a:rPr lang="en-US" altLang="en-US" sz="3600" dirty="0">
                <a:solidFill>
                  <a:srgbClr val="008000"/>
                </a:solidFill>
              </a:rPr>
              <a:t> </a:t>
            </a:r>
            <a:r>
              <a:rPr lang="en-US" altLang="en-US" sz="3600" dirty="0" err="1">
                <a:solidFill>
                  <a:srgbClr val="008000"/>
                </a:solidFill>
              </a:rPr>
              <a:t>chính</a:t>
            </a:r>
            <a:endParaRPr lang="en-US" altLang="en-US" sz="3600" dirty="0">
              <a:solidFill>
                <a:srgbClr val="008000"/>
              </a:solidFill>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bwMode="auto">
          <a:xfrm>
            <a:off x="228600" y="609600"/>
            <a:ext cx="8077200" cy="565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3200" dirty="0" err="1"/>
              <a:t>Ví</a:t>
            </a:r>
            <a:r>
              <a:rPr lang="en-US" altLang="en-US" sz="3200" dirty="0"/>
              <a:t> </a:t>
            </a:r>
            <a:r>
              <a:rPr lang="en-US" altLang="en-US" sz="3200" dirty="0" err="1"/>
              <a:t>dụ</a:t>
            </a:r>
            <a:endParaRPr lang="en-US" altLang="en-US" sz="3200" dirty="0">
              <a:solidFill>
                <a:schemeClr val="tx1"/>
              </a:solidFill>
            </a:endParaRPr>
          </a:p>
        </p:txBody>
      </p:sp>
      <p:sp>
        <p:nvSpPr>
          <p:cNvPr id="86019" name="Rectangle 4"/>
          <p:cNvSpPr>
            <a:spLocks noChangeArrowheads="1"/>
          </p:cNvSpPr>
          <p:nvPr/>
        </p:nvSpPr>
        <p:spPr bwMode="auto">
          <a:xfrm>
            <a:off x="1838325" y="2403475"/>
            <a:ext cx="3540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0" name="Rectangle 5"/>
          <p:cNvSpPr>
            <a:spLocks noChangeArrowheads="1"/>
          </p:cNvSpPr>
          <p:nvPr/>
        </p:nvSpPr>
        <p:spPr bwMode="auto">
          <a:xfrm>
            <a:off x="1508125" y="3017838"/>
            <a:ext cx="420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1" name="Rectangle 6"/>
          <p:cNvSpPr>
            <a:spLocks noChangeArrowheads="1"/>
          </p:cNvSpPr>
          <p:nvPr/>
        </p:nvSpPr>
        <p:spPr bwMode="auto">
          <a:xfrm>
            <a:off x="1736725" y="2989263"/>
            <a:ext cx="2968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2" name="Rectangle 7"/>
          <p:cNvSpPr>
            <a:spLocks noChangeArrowheads="1"/>
          </p:cNvSpPr>
          <p:nvPr/>
        </p:nvSpPr>
        <p:spPr bwMode="auto">
          <a:xfrm>
            <a:off x="512763" y="3513138"/>
            <a:ext cx="26828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altLang="en-US" sz="2400" b="0">
                <a:solidFill>
                  <a:schemeClr val="hlink"/>
                </a:solidFill>
              </a:rPr>
              <a:t> </a:t>
            </a:r>
            <a:endParaRPr lang="en-US" altLang="en-US" sz="2400" b="0">
              <a:solidFill>
                <a:schemeClr val="tx2"/>
              </a:solidFill>
            </a:endParaRPr>
          </a:p>
          <a:p>
            <a:pPr>
              <a:lnSpc>
                <a:spcPct val="90000"/>
              </a:lnSpc>
              <a:spcBef>
                <a:spcPct val="30000"/>
              </a:spcBef>
            </a:pPr>
            <a:endParaRPr lang="en-US" altLang="en-US" sz="2400" b="0">
              <a:solidFill>
                <a:schemeClr val="tx2"/>
              </a:solidFill>
            </a:endParaRPr>
          </a:p>
        </p:txBody>
      </p:sp>
      <p:sp>
        <p:nvSpPr>
          <p:cNvPr id="86023" name="Rectangle 8"/>
          <p:cNvSpPr>
            <a:spLocks noChangeArrowheads="1"/>
          </p:cNvSpPr>
          <p:nvPr/>
        </p:nvSpPr>
        <p:spPr bwMode="auto">
          <a:xfrm>
            <a:off x="1889125" y="4127500"/>
            <a:ext cx="89058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4" name="Rectangle 9"/>
          <p:cNvSpPr>
            <a:spLocks noChangeArrowheads="1"/>
          </p:cNvSpPr>
          <p:nvPr/>
        </p:nvSpPr>
        <p:spPr bwMode="auto">
          <a:xfrm>
            <a:off x="593725" y="4694238"/>
            <a:ext cx="58070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5" name="Rectangle 10"/>
          <p:cNvSpPr>
            <a:spLocks noChangeArrowheads="1"/>
          </p:cNvSpPr>
          <p:nvPr/>
        </p:nvSpPr>
        <p:spPr bwMode="auto">
          <a:xfrm>
            <a:off x="0" y="1219200"/>
            <a:ext cx="9144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88000"/>
              </a:lnSpc>
              <a:spcBef>
                <a:spcPct val="30000"/>
              </a:spcBef>
              <a:buClr>
                <a:schemeClr val="accent2"/>
              </a:buClr>
              <a:buFont typeface="Wingdings" panose="05000000000000000000" pitchFamily="2" charset="2"/>
              <a:buNone/>
            </a:pPr>
            <a:r>
              <a:rPr lang="vi-VN" altLang="en-US" sz="2400" b="0" dirty="0"/>
              <a:t>Trung tâm nghiên cứu Pew đã tiến hành một cuộc khảo sát 1007 người lớn và nhận thấy rằng 85% người trong số họ biết Twitter là gì</a:t>
            </a:r>
            <a:r>
              <a:rPr lang="en-US" altLang="en-US" sz="2400" b="0" dirty="0"/>
              <a:t>.</a:t>
            </a:r>
          </a:p>
          <a:p>
            <a:pPr>
              <a:lnSpc>
                <a:spcPct val="88000"/>
              </a:lnSpc>
              <a:spcBef>
                <a:spcPct val="30000"/>
              </a:spcBef>
              <a:buClr>
                <a:schemeClr val="accent2"/>
              </a:buClr>
              <a:buFont typeface="Wingdings" panose="05000000000000000000" pitchFamily="2" charset="2"/>
              <a:buNone/>
            </a:pPr>
            <a:endParaRPr lang="en-US" altLang="en-US" sz="2400" b="0" dirty="0"/>
          </a:p>
          <a:p>
            <a:pPr>
              <a:lnSpc>
                <a:spcPct val="88000"/>
              </a:lnSpc>
              <a:spcBef>
                <a:spcPct val="30000"/>
              </a:spcBef>
              <a:buClr>
                <a:schemeClr val="accent2"/>
              </a:buClr>
              <a:buFont typeface="Wingdings" panose="05000000000000000000" pitchFamily="2" charset="2"/>
              <a:buNone/>
            </a:pPr>
            <a:r>
              <a:rPr lang="vi-VN" altLang="en-US" sz="2400" b="0" dirty="0"/>
              <a:t>Ước </a:t>
            </a:r>
            <a:r>
              <a:rPr lang="en-US" altLang="en-US" sz="2400" b="0" dirty="0" err="1"/>
              <a:t>lượng</a:t>
            </a:r>
            <a:r>
              <a:rPr lang="vi-VN" altLang="en-US" sz="2400" b="0" dirty="0"/>
              <a:t> điểm tốt nhất của p, tỷ lệ </a:t>
            </a:r>
            <a:r>
              <a:rPr lang="en-US" altLang="en-US" sz="2400" b="0" dirty="0" err="1"/>
              <a:t>quần</a:t>
            </a:r>
            <a:r>
              <a:rPr lang="en-US" altLang="en-US" sz="2400" b="0" dirty="0"/>
              <a:t> </a:t>
            </a:r>
            <a:r>
              <a:rPr lang="en-US" altLang="en-US" sz="2400" b="0" dirty="0" err="1"/>
              <a:t>thể</a:t>
            </a:r>
            <a:r>
              <a:rPr lang="vi-VN" altLang="en-US" sz="2400" b="0" dirty="0"/>
              <a:t>, là tỷ lệ mẫu:</a:t>
            </a:r>
            <a:endParaRPr lang="en-US" altLang="en-US" sz="2400" b="0" dirty="0"/>
          </a:p>
        </p:txBody>
      </p:sp>
      <p:graphicFrame>
        <p:nvGraphicFramePr>
          <p:cNvPr id="86026" name="Object 12"/>
          <p:cNvGraphicFramePr>
            <a:graphicFrameLocks noChangeAspect="1"/>
          </p:cNvGraphicFramePr>
          <p:nvPr/>
        </p:nvGraphicFramePr>
        <p:xfrm>
          <a:off x="3352800" y="3352800"/>
          <a:ext cx="1885950" cy="685800"/>
        </p:xfrm>
        <a:graphic>
          <a:graphicData uri="http://schemas.openxmlformats.org/presentationml/2006/ole">
            <mc:AlternateContent xmlns:mc="http://schemas.openxmlformats.org/markup-compatibility/2006">
              <mc:Choice xmlns:v="urn:schemas-microsoft-com:vml" Requires="v">
                <p:oleObj name="Equation" r:id="rId3" imgW="558558" imgH="203112" progId="Equation.DSMT4">
                  <p:embed/>
                </p:oleObj>
              </mc:Choice>
              <mc:Fallback>
                <p:oleObj name="Equation" r:id="rId3" imgW="558558" imgH="203112"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3352800"/>
                        <a:ext cx="188595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bwMode="auto">
          <a:xfrm>
            <a:off x="838200" y="533400"/>
            <a:ext cx="8077200" cy="565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vi-VN" altLang="en-US" sz="3200" dirty="0"/>
              <a:t>Khoảng ước </a:t>
            </a:r>
            <a:r>
              <a:rPr lang="en-US" altLang="en-US" sz="3200" dirty="0" err="1"/>
              <a:t>lượng</a:t>
            </a:r>
            <a:r>
              <a:rPr lang="vi-VN" altLang="en-US" sz="3200" dirty="0"/>
              <a:t> </a:t>
            </a:r>
            <a:r>
              <a:rPr lang="en-US" altLang="en-US" sz="3200" dirty="0" err="1"/>
              <a:t>cho</a:t>
            </a:r>
            <a:r>
              <a:rPr lang="en-US" altLang="en-US" sz="3200" dirty="0"/>
              <a:t> </a:t>
            </a:r>
            <a:r>
              <a:rPr lang="en-US" altLang="en-US" sz="3200" dirty="0" err="1"/>
              <a:t>tỉ</a:t>
            </a:r>
            <a:r>
              <a:rPr lang="en-US" altLang="en-US" sz="3200" dirty="0"/>
              <a:t> </a:t>
            </a:r>
            <a:r>
              <a:rPr lang="en-US" altLang="en-US" sz="3200" dirty="0" err="1"/>
              <a:t>lệ</a:t>
            </a:r>
            <a:r>
              <a:rPr lang="vi-VN" altLang="en-US" sz="3200" dirty="0"/>
              <a:t> </a:t>
            </a:r>
            <a:r>
              <a:rPr lang="en-US" altLang="en-US" sz="3200" dirty="0"/>
              <a:t>p</a:t>
            </a:r>
            <a:endParaRPr lang="en-US" altLang="en-US" sz="3200" dirty="0">
              <a:solidFill>
                <a:schemeClr val="tx1"/>
              </a:solidFill>
            </a:endParaRPr>
          </a:p>
        </p:txBody>
      </p:sp>
      <p:sp>
        <p:nvSpPr>
          <p:cNvPr id="86019" name="Rectangle 4"/>
          <p:cNvSpPr>
            <a:spLocks noChangeArrowheads="1"/>
          </p:cNvSpPr>
          <p:nvPr/>
        </p:nvSpPr>
        <p:spPr bwMode="auto">
          <a:xfrm>
            <a:off x="1838325" y="2403475"/>
            <a:ext cx="3540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0" name="Rectangle 5"/>
          <p:cNvSpPr>
            <a:spLocks noChangeArrowheads="1"/>
          </p:cNvSpPr>
          <p:nvPr/>
        </p:nvSpPr>
        <p:spPr bwMode="auto">
          <a:xfrm>
            <a:off x="1508125" y="3017838"/>
            <a:ext cx="420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1" name="Rectangle 6"/>
          <p:cNvSpPr>
            <a:spLocks noChangeArrowheads="1"/>
          </p:cNvSpPr>
          <p:nvPr/>
        </p:nvSpPr>
        <p:spPr bwMode="auto">
          <a:xfrm>
            <a:off x="1736725" y="2989263"/>
            <a:ext cx="2968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2" name="Rectangle 7"/>
          <p:cNvSpPr>
            <a:spLocks noChangeArrowheads="1"/>
          </p:cNvSpPr>
          <p:nvPr/>
        </p:nvSpPr>
        <p:spPr bwMode="auto">
          <a:xfrm>
            <a:off x="512763" y="3513138"/>
            <a:ext cx="26828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altLang="en-US" sz="2400" b="0">
                <a:solidFill>
                  <a:schemeClr val="hlink"/>
                </a:solidFill>
              </a:rPr>
              <a:t> </a:t>
            </a:r>
            <a:endParaRPr lang="en-US" altLang="en-US" sz="2400" b="0">
              <a:solidFill>
                <a:schemeClr val="tx2"/>
              </a:solidFill>
            </a:endParaRPr>
          </a:p>
          <a:p>
            <a:pPr>
              <a:lnSpc>
                <a:spcPct val="90000"/>
              </a:lnSpc>
              <a:spcBef>
                <a:spcPct val="30000"/>
              </a:spcBef>
            </a:pPr>
            <a:endParaRPr lang="en-US" altLang="en-US" sz="2400" b="0">
              <a:solidFill>
                <a:schemeClr val="tx2"/>
              </a:solidFill>
            </a:endParaRPr>
          </a:p>
        </p:txBody>
      </p:sp>
      <p:sp>
        <p:nvSpPr>
          <p:cNvPr id="86023" name="Rectangle 8"/>
          <p:cNvSpPr>
            <a:spLocks noChangeArrowheads="1"/>
          </p:cNvSpPr>
          <p:nvPr/>
        </p:nvSpPr>
        <p:spPr bwMode="auto">
          <a:xfrm>
            <a:off x="1889125" y="4127500"/>
            <a:ext cx="89058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4" name="Rectangle 9"/>
          <p:cNvSpPr>
            <a:spLocks noChangeArrowheads="1"/>
          </p:cNvSpPr>
          <p:nvPr/>
        </p:nvSpPr>
        <p:spPr bwMode="auto">
          <a:xfrm>
            <a:off x="593725" y="4694238"/>
            <a:ext cx="58070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5" name="Rectangle 10"/>
          <p:cNvSpPr>
            <a:spLocks noChangeArrowheads="1"/>
          </p:cNvSpPr>
          <p:nvPr/>
        </p:nvSpPr>
        <p:spPr bwMode="auto">
          <a:xfrm>
            <a:off x="0" y="1219200"/>
            <a:ext cx="9144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88000"/>
              </a:lnSpc>
              <a:spcBef>
                <a:spcPct val="30000"/>
              </a:spcBef>
              <a:buClr>
                <a:schemeClr val="accent2"/>
              </a:buClr>
              <a:buFont typeface="Wingdings" panose="05000000000000000000" pitchFamily="2" charset="2"/>
              <a:buNone/>
            </a:pPr>
            <a:r>
              <a:rPr lang="en-US" altLang="en-US" sz="2200" b="0" dirty="0" err="1"/>
              <a:t>Sử</a:t>
            </a:r>
            <a:r>
              <a:rPr lang="en-US" altLang="en-US" sz="2200" b="0" dirty="0"/>
              <a:t> </a:t>
            </a:r>
            <a:r>
              <a:rPr lang="en-US" altLang="en-US" sz="2200" b="0" dirty="0" err="1"/>
              <a:t>dụng</a:t>
            </a:r>
            <a:r>
              <a:rPr lang="en-US" altLang="en-US" sz="2200" b="0" dirty="0"/>
              <a:t> </a:t>
            </a:r>
            <a:r>
              <a:rPr lang="en-US" altLang="en-US" sz="2200" b="0" dirty="0" err="1"/>
              <a:t>tỉ</a:t>
            </a:r>
            <a:r>
              <a:rPr lang="en-US" altLang="en-US" sz="2200" b="0" dirty="0"/>
              <a:t> </a:t>
            </a:r>
            <a:r>
              <a:rPr lang="en-US" altLang="en-US" sz="2200" b="0" dirty="0" err="1"/>
              <a:t>lệ</a:t>
            </a:r>
            <a:r>
              <a:rPr lang="en-US" altLang="en-US" sz="2200" b="0" dirty="0"/>
              <a:t> </a:t>
            </a:r>
            <a:r>
              <a:rPr lang="en-US" altLang="en-US" sz="2200" b="0" dirty="0" err="1"/>
              <a:t>mẫu</a:t>
            </a:r>
            <a:r>
              <a:rPr lang="en-US" altLang="en-US" sz="2200" b="0" dirty="0"/>
              <a:t> </a:t>
            </a:r>
            <a:r>
              <a:rPr lang="en-US" altLang="en-US" sz="2200" b="0" dirty="0" err="1"/>
              <a:t>để</a:t>
            </a:r>
            <a:r>
              <a:rPr lang="en-US" altLang="en-US" sz="2200" b="0" dirty="0"/>
              <a:t> </a:t>
            </a:r>
            <a:r>
              <a:rPr lang="en-US" altLang="en-US" sz="2200" b="0" dirty="0" err="1"/>
              <a:t>ước</a:t>
            </a:r>
            <a:r>
              <a:rPr lang="en-US" altLang="en-US" sz="2200" b="0" dirty="0"/>
              <a:t> </a:t>
            </a:r>
            <a:r>
              <a:rPr lang="en-US" altLang="en-US" sz="2200" b="0" dirty="0" err="1"/>
              <a:t>lượng</a:t>
            </a:r>
            <a:r>
              <a:rPr lang="en-US" altLang="en-US" sz="2200" b="0" dirty="0"/>
              <a:t> </a:t>
            </a:r>
            <a:r>
              <a:rPr lang="en-US" altLang="en-US" sz="2200" b="0" dirty="0" err="1"/>
              <a:t>giá</a:t>
            </a:r>
            <a:r>
              <a:rPr lang="en-US" altLang="en-US" sz="2200" b="0" dirty="0"/>
              <a:t> </a:t>
            </a:r>
            <a:r>
              <a:rPr lang="en-US" altLang="en-US" sz="2200" b="0" dirty="0" err="1"/>
              <a:t>trị</a:t>
            </a:r>
            <a:r>
              <a:rPr lang="en-US" altLang="en-US" sz="2200" b="0" dirty="0"/>
              <a:t> </a:t>
            </a:r>
            <a:r>
              <a:rPr lang="en-US" altLang="en-US" sz="2200" b="0" dirty="0" err="1"/>
              <a:t>đúng</a:t>
            </a:r>
            <a:r>
              <a:rPr lang="en-US" altLang="en-US" sz="2200" b="0" dirty="0"/>
              <a:t> </a:t>
            </a:r>
            <a:r>
              <a:rPr lang="en-US" altLang="en-US" sz="2200" b="0" dirty="0" err="1"/>
              <a:t>của</a:t>
            </a:r>
            <a:r>
              <a:rPr lang="en-US" altLang="en-US" sz="2200" b="0" dirty="0"/>
              <a:t> </a:t>
            </a:r>
            <a:r>
              <a:rPr lang="en-US" altLang="en-US" sz="2200" b="0" dirty="0" err="1"/>
              <a:t>tỉ</a:t>
            </a:r>
            <a:r>
              <a:rPr lang="en-US" altLang="en-US" sz="2200" b="0" dirty="0"/>
              <a:t> </a:t>
            </a:r>
            <a:r>
              <a:rPr lang="en-US" altLang="en-US" sz="2200" b="0" dirty="0" err="1"/>
              <a:t>lệ</a:t>
            </a:r>
            <a:r>
              <a:rPr lang="en-US" altLang="en-US" sz="2200" b="0" dirty="0"/>
              <a:t> </a:t>
            </a:r>
            <a:r>
              <a:rPr lang="en-US" altLang="en-US" sz="2200" b="0" dirty="0" err="1"/>
              <a:t>quần</a:t>
            </a:r>
            <a:r>
              <a:rPr lang="en-US" altLang="en-US" sz="2200" b="0" dirty="0"/>
              <a:t> </a:t>
            </a:r>
            <a:r>
              <a:rPr lang="en-US" altLang="en-US" sz="2200" b="0" dirty="0" err="1"/>
              <a:t>thể</a:t>
            </a:r>
            <a:r>
              <a:rPr lang="en-US" altLang="en-US" sz="2200" b="0" dirty="0"/>
              <a:t>:</a:t>
            </a:r>
          </a:p>
          <a:p>
            <a:pPr marL="342900" indent="-342900">
              <a:lnSpc>
                <a:spcPct val="88000"/>
              </a:lnSpc>
              <a:spcBef>
                <a:spcPct val="30000"/>
              </a:spcBef>
              <a:buClr>
                <a:schemeClr val="accent2"/>
              </a:buClr>
              <a:buFont typeface="Arial" panose="020B0604020202020204" pitchFamily="34" charset="0"/>
              <a:buChar char="•"/>
            </a:pPr>
            <a:r>
              <a:rPr lang="en-US" altLang="en-US" sz="2200" b="0" dirty="0"/>
              <a:t>Theo </a:t>
            </a:r>
            <a:r>
              <a:rPr lang="en-US" altLang="en-US" sz="2200" b="0" dirty="0" err="1"/>
              <a:t>chương</a:t>
            </a:r>
            <a:r>
              <a:rPr lang="en-US" altLang="en-US" sz="2200" b="0" dirty="0"/>
              <a:t> 6, </a:t>
            </a:r>
            <a:r>
              <a:rPr lang="en-US" altLang="en-US" sz="2200" b="0" dirty="0" err="1">
                <a:solidFill>
                  <a:srgbClr val="FF0000"/>
                </a:solidFill>
              </a:rPr>
              <a:t>phân</a:t>
            </a:r>
            <a:r>
              <a:rPr lang="en-US" altLang="en-US" sz="2200" b="0" dirty="0">
                <a:solidFill>
                  <a:srgbClr val="FF0000"/>
                </a:solidFill>
              </a:rPr>
              <a:t> </a:t>
            </a:r>
            <a:r>
              <a:rPr lang="en-US" altLang="en-US" sz="2200" b="0" dirty="0" err="1">
                <a:solidFill>
                  <a:srgbClr val="FF0000"/>
                </a:solidFill>
              </a:rPr>
              <a:t>phối</a:t>
            </a:r>
            <a:r>
              <a:rPr lang="en-US" altLang="en-US" sz="2200" b="0" dirty="0">
                <a:solidFill>
                  <a:srgbClr val="FF0000"/>
                </a:solidFill>
              </a:rPr>
              <a:t> </a:t>
            </a:r>
            <a:r>
              <a:rPr lang="en-US" altLang="en-US" sz="2200" b="0" dirty="0" err="1">
                <a:solidFill>
                  <a:srgbClr val="FF0000"/>
                </a:solidFill>
              </a:rPr>
              <a:t>tỉ</a:t>
            </a:r>
            <a:r>
              <a:rPr lang="en-US" altLang="en-US" sz="2200" b="0" dirty="0">
                <a:solidFill>
                  <a:srgbClr val="FF0000"/>
                </a:solidFill>
              </a:rPr>
              <a:t> </a:t>
            </a:r>
            <a:r>
              <a:rPr lang="en-US" altLang="en-US" sz="2200" b="0" dirty="0" err="1">
                <a:solidFill>
                  <a:srgbClr val="FF0000"/>
                </a:solidFill>
              </a:rPr>
              <a:t>lệ</a:t>
            </a:r>
            <a:r>
              <a:rPr lang="en-US" altLang="en-US" sz="2200" b="0" dirty="0">
                <a:solidFill>
                  <a:srgbClr val="FF0000"/>
                </a:solidFill>
              </a:rPr>
              <a:t> </a:t>
            </a:r>
            <a:r>
              <a:rPr lang="en-US" altLang="en-US" sz="2200" b="0" dirty="0" err="1">
                <a:solidFill>
                  <a:srgbClr val="FF0000"/>
                </a:solidFill>
              </a:rPr>
              <a:t>mẫu</a:t>
            </a:r>
            <a:r>
              <a:rPr lang="en-US" altLang="en-US" sz="2200" b="0" dirty="0">
                <a:solidFill>
                  <a:srgbClr val="FF0000"/>
                </a:solidFill>
              </a:rPr>
              <a:t> </a:t>
            </a:r>
            <a:r>
              <a:rPr lang="en-US" altLang="en-US" sz="2200" b="0" dirty="0" err="1">
                <a:solidFill>
                  <a:srgbClr val="FF0000"/>
                </a:solidFill>
              </a:rPr>
              <a:t>của</a:t>
            </a:r>
            <a:r>
              <a:rPr lang="en-US" altLang="en-US" sz="2200" b="0" dirty="0">
                <a:solidFill>
                  <a:srgbClr val="FF0000"/>
                </a:solidFill>
              </a:rPr>
              <a:t> </a:t>
            </a:r>
            <a:r>
              <a:rPr lang="en-US" altLang="en-US" sz="2200" b="0" dirty="0" err="1">
                <a:solidFill>
                  <a:srgbClr val="FF0000"/>
                </a:solidFill>
              </a:rPr>
              <a:t>biến</a:t>
            </a:r>
            <a:r>
              <a:rPr lang="en-US" altLang="en-US" sz="2200" b="0" dirty="0">
                <a:solidFill>
                  <a:srgbClr val="FF0000"/>
                </a:solidFill>
              </a:rPr>
              <a:t> X </a:t>
            </a:r>
            <a:r>
              <a:rPr lang="en-US" altLang="en-US" sz="2200" b="0" dirty="0" err="1">
                <a:solidFill>
                  <a:srgbClr val="FF0000"/>
                </a:solidFill>
              </a:rPr>
              <a:t>là</a:t>
            </a:r>
            <a:r>
              <a:rPr lang="en-US" altLang="en-US" sz="2200" b="0" dirty="0">
                <a:solidFill>
                  <a:srgbClr val="FF0000"/>
                </a:solidFill>
              </a:rPr>
              <a:t> </a:t>
            </a:r>
            <a:r>
              <a:rPr lang="en-US" altLang="en-US" sz="2200" b="0" dirty="0" err="1">
                <a:solidFill>
                  <a:srgbClr val="FF0000"/>
                </a:solidFill>
              </a:rPr>
              <a:t>phân</a:t>
            </a:r>
            <a:r>
              <a:rPr lang="en-US" altLang="en-US" sz="2200" b="0" dirty="0">
                <a:solidFill>
                  <a:srgbClr val="FF0000"/>
                </a:solidFill>
              </a:rPr>
              <a:t> </a:t>
            </a:r>
            <a:r>
              <a:rPr lang="en-US" altLang="en-US" sz="2200" b="0" dirty="0" err="1">
                <a:solidFill>
                  <a:srgbClr val="FF0000"/>
                </a:solidFill>
              </a:rPr>
              <a:t>phối</a:t>
            </a:r>
            <a:r>
              <a:rPr lang="en-US" altLang="en-US" sz="2200" b="0" dirty="0">
                <a:solidFill>
                  <a:srgbClr val="FF0000"/>
                </a:solidFill>
              </a:rPr>
              <a:t> </a:t>
            </a:r>
            <a:r>
              <a:rPr lang="en-US" altLang="en-US" sz="2200" b="0" dirty="0" err="1">
                <a:solidFill>
                  <a:srgbClr val="FF0000"/>
                </a:solidFill>
              </a:rPr>
              <a:t>nhị</a:t>
            </a:r>
            <a:r>
              <a:rPr lang="en-US" altLang="en-US" sz="2200" b="0" dirty="0">
                <a:solidFill>
                  <a:srgbClr val="FF0000"/>
                </a:solidFill>
              </a:rPr>
              <a:t> </a:t>
            </a:r>
            <a:r>
              <a:rPr lang="en-US" altLang="en-US" sz="2200" b="0" dirty="0" err="1">
                <a:solidFill>
                  <a:srgbClr val="FF0000"/>
                </a:solidFill>
              </a:rPr>
              <a:t>thức</a:t>
            </a:r>
            <a:r>
              <a:rPr lang="en-US" altLang="en-US" sz="2200" b="0" dirty="0"/>
              <a:t> </a:t>
            </a:r>
            <a:r>
              <a:rPr lang="en-US" altLang="en-US" sz="2200" b="0" dirty="0" err="1"/>
              <a:t>vì</a:t>
            </a:r>
            <a:r>
              <a:rPr lang="en-US" altLang="en-US" sz="2200" b="0" dirty="0"/>
              <a:t> </a:t>
            </a:r>
            <a:r>
              <a:rPr lang="en-US" altLang="en-US" sz="2200" b="0" dirty="0" err="1"/>
              <a:t>thỏa</a:t>
            </a:r>
            <a:r>
              <a:rPr lang="en-US" altLang="en-US" sz="2200" b="0" dirty="0"/>
              <a:t> </a:t>
            </a:r>
            <a:r>
              <a:rPr lang="en-US" altLang="en-US" sz="2200" b="0" dirty="0" err="1"/>
              <a:t>các</a:t>
            </a:r>
            <a:r>
              <a:rPr lang="en-US" altLang="en-US" sz="2200" b="0" dirty="0"/>
              <a:t> </a:t>
            </a:r>
            <a:r>
              <a:rPr lang="en-US" altLang="en-US" sz="2200" b="0" dirty="0" err="1"/>
              <a:t>điều</a:t>
            </a:r>
            <a:r>
              <a:rPr lang="en-US" altLang="en-US" sz="2200" b="0" dirty="0"/>
              <a:t> </a:t>
            </a:r>
            <a:r>
              <a:rPr lang="en-US" altLang="en-US" sz="2200" b="0" dirty="0" err="1"/>
              <a:t>kiện</a:t>
            </a:r>
            <a:r>
              <a:rPr lang="en-US" altLang="en-US" sz="2200" b="0" dirty="0"/>
              <a:t> </a:t>
            </a:r>
            <a:r>
              <a:rPr lang="en-US" altLang="en-US" sz="2200" b="0" dirty="0" err="1"/>
              <a:t>sau</a:t>
            </a:r>
            <a:r>
              <a:rPr lang="en-US" altLang="en-US" sz="2200" b="0" dirty="0"/>
              <a:t>:</a:t>
            </a:r>
          </a:p>
          <a:p>
            <a:pPr marL="1085850" lvl="1" indent="-342900">
              <a:lnSpc>
                <a:spcPct val="88000"/>
              </a:lnSpc>
              <a:spcBef>
                <a:spcPct val="30000"/>
              </a:spcBef>
              <a:buClr>
                <a:schemeClr val="accent2"/>
              </a:buClr>
              <a:buFont typeface="Arial" panose="020B0604020202020204" pitchFamily="34" charset="0"/>
              <a:buChar char="•"/>
            </a:pPr>
            <a:r>
              <a:rPr lang="vi-VN" altLang="en-US" sz="2200" b="0" dirty="0"/>
              <a:t>Số lần thí nghiệm của tiến trình ngẫu nhiên đang xét là cố định</a:t>
            </a:r>
          </a:p>
          <a:p>
            <a:pPr marL="1085850" lvl="1" indent="-342900">
              <a:lnSpc>
                <a:spcPct val="88000"/>
              </a:lnSpc>
              <a:spcBef>
                <a:spcPct val="30000"/>
              </a:spcBef>
              <a:buClr>
                <a:schemeClr val="accent2"/>
              </a:buClr>
              <a:buFont typeface="Arial" panose="020B0604020202020204" pitchFamily="34" charset="0"/>
              <a:buChar char="•"/>
            </a:pPr>
            <a:r>
              <a:rPr lang="vi-VN" altLang="en-US" sz="2200" b="0" dirty="0"/>
              <a:t>Hậu quả của thí nghiệm chỉ có thể được phân thành 2 lớp (thành công hay thất bại)</a:t>
            </a:r>
          </a:p>
          <a:p>
            <a:pPr marL="1085850" lvl="1" indent="-342900">
              <a:lnSpc>
                <a:spcPct val="88000"/>
              </a:lnSpc>
              <a:spcBef>
                <a:spcPct val="30000"/>
              </a:spcBef>
              <a:buClr>
                <a:schemeClr val="accent2"/>
              </a:buClr>
              <a:buFont typeface="Arial" panose="020B0604020202020204" pitchFamily="34" charset="0"/>
              <a:buChar char="•"/>
            </a:pPr>
            <a:r>
              <a:rPr lang="vi-VN" altLang="en-US" sz="2200" b="0" dirty="0"/>
              <a:t>Xác suất thành công trong mọi lần thí nghiệm là như nhau</a:t>
            </a:r>
          </a:p>
          <a:p>
            <a:pPr marL="1085850" lvl="1" indent="-342900">
              <a:lnSpc>
                <a:spcPct val="88000"/>
              </a:lnSpc>
              <a:spcBef>
                <a:spcPct val="30000"/>
              </a:spcBef>
              <a:buClr>
                <a:schemeClr val="accent2"/>
              </a:buClr>
              <a:buFont typeface="Arial" panose="020B0604020202020204" pitchFamily="34" charset="0"/>
              <a:buChar char="•"/>
            </a:pPr>
            <a:r>
              <a:rPr lang="vi-VN" altLang="en-US" sz="2200" b="0" dirty="0"/>
              <a:t>Các lần thí nghiệm là độc lập nhau</a:t>
            </a:r>
          </a:p>
          <a:p>
            <a:pPr marL="1085850" lvl="1" indent="-342900">
              <a:lnSpc>
                <a:spcPct val="88000"/>
              </a:lnSpc>
              <a:spcBef>
                <a:spcPct val="30000"/>
              </a:spcBef>
              <a:buClr>
                <a:schemeClr val="accent2"/>
              </a:buClr>
              <a:buFont typeface="Arial" panose="020B0604020202020204" pitchFamily="34" charset="0"/>
              <a:buChar char="•"/>
            </a:pPr>
            <a:r>
              <a:rPr lang="vi-VN" altLang="en-US" sz="2200" b="0" dirty="0"/>
              <a:t>X = số lần thí nghiệm thành công trong n lần thí nghiệm</a:t>
            </a:r>
            <a:endParaRPr lang="en-US" altLang="en-US" sz="2200" b="0" dirty="0"/>
          </a:p>
          <a:p>
            <a:pPr marL="342900" indent="-342900">
              <a:lnSpc>
                <a:spcPct val="88000"/>
              </a:lnSpc>
              <a:spcBef>
                <a:spcPct val="30000"/>
              </a:spcBef>
              <a:buClr>
                <a:schemeClr val="accent2"/>
              </a:buClr>
              <a:buFont typeface="Arial" panose="020B0604020202020204" pitchFamily="34" charset="0"/>
              <a:buChar char="•"/>
            </a:pPr>
            <a:r>
              <a:rPr lang="vi-VN" altLang="en-US" sz="2200" b="0" dirty="0"/>
              <a:t>Trong pp nhị thức, tính xác suất khi số phép thử lớn (ví dụ như 100) là gần như không thể.</a:t>
            </a:r>
          </a:p>
          <a:p>
            <a:pPr marL="342900" indent="-342900">
              <a:lnSpc>
                <a:spcPct val="88000"/>
              </a:lnSpc>
              <a:spcBef>
                <a:spcPct val="30000"/>
              </a:spcBef>
              <a:buClr>
                <a:schemeClr val="accent2"/>
              </a:buClr>
              <a:buFont typeface="Arial" panose="020B0604020202020204" pitchFamily="34" charset="0"/>
              <a:buChar char="•"/>
            </a:pPr>
            <a:r>
              <a:rPr lang="vi-VN" altLang="en-US" sz="2200" b="0" dirty="0">
                <a:solidFill>
                  <a:srgbClr val="FF0000"/>
                </a:solidFill>
              </a:rPr>
              <a:t>Phân phối chuẩn có thể được dùng để xấp xỉ </a:t>
            </a:r>
            <a:r>
              <a:rPr lang="en-US" altLang="en-US" sz="2200" b="0" dirty="0" err="1">
                <a:solidFill>
                  <a:srgbClr val="FF0000"/>
                </a:solidFill>
              </a:rPr>
              <a:t>phân</a:t>
            </a:r>
            <a:r>
              <a:rPr lang="en-US" altLang="en-US" sz="2200" b="0" dirty="0">
                <a:solidFill>
                  <a:srgbClr val="FF0000"/>
                </a:solidFill>
              </a:rPr>
              <a:t> </a:t>
            </a:r>
            <a:r>
              <a:rPr lang="en-US" altLang="en-US" sz="2200" b="0" dirty="0" err="1">
                <a:solidFill>
                  <a:srgbClr val="FF0000"/>
                </a:solidFill>
              </a:rPr>
              <a:t>phối</a:t>
            </a:r>
            <a:r>
              <a:rPr lang="vi-VN" altLang="en-US" sz="2200" b="0" dirty="0">
                <a:solidFill>
                  <a:srgbClr val="FF0000"/>
                </a:solidFill>
              </a:rPr>
              <a:t> nhị thức khi n lớn.</a:t>
            </a:r>
            <a:r>
              <a:rPr lang="en-US" altLang="en-US" sz="2200" b="0" dirty="0">
                <a:solidFill>
                  <a:srgbClr val="FF0000"/>
                </a:solidFill>
              </a:rPr>
              <a:t> </a:t>
            </a:r>
            <a:endParaRPr lang="vi-VN" altLang="en-US" sz="2200" b="0" dirty="0">
              <a:solidFill>
                <a:srgbClr val="FF0000"/>
              </a:solidFill>
            </a:endParaRPr>
          </a:p>
          <a:p>
            <a:pPr lvl="1" indent="0">
              <a:lnSpc>
                <a:spcPct val="88000"/>
              </a:lnSpc>
              <a:spcBef>
                <a:spcPct val="30000"/>
              </a:spcBef>
              <a:buClr>
                <a:schemeClr val="accent2"/>
              </a:buClr>
            </a:pPr>
            <a:endParaRPr lang="en-US" altLang="en-US" sz="2200" b="0" dirty="0"/>
          </a:p>
        </p:txBody>
      </p:sp>
    </p:spTree>
    <p:extLst>
      <p:ext uri="{BB962C8B-B14F-4D97-AF65-F5344CB8AC3E}">
        <p14:creationId xmlns:p14="http://schemas.microsoft.com/office/powerpoint/2010/main" val="64980968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bwMode="auto">
          <a:xfrm>
            <a:off x="609600" y="533400"/>
            <a:ext cx="8077200" cy="565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vi-VN" altLang="en-US" sz="3200" dirty="0"/>
              <a:t>Khoảng ước </a:t>
            </a:r>
            <a:r>
              <a:rPr lang="en-US" altLang="en-US" sz="3200" dirty="0" err="1"/>
              <a:t>lượng</a:t>
            </a:r>
            <a:r>
              <a:rPr lang="vi-VN" altLang="en-US" sz="3200" dirty="0"/>
              <a:t> </a:t>
            </a:r>
            <a:r>
              <a:rPr lang="en-US" altLang="en-US" sz="3200" dirty="0" err="1"/>
              <a:t>cho</a:t>
            </a:r>
            <a:r>
              <a:rPr lang="en-US" altLang="en-US" sz="3200" dirty="0"/>
              <a:t> </a:t>
            </a:r>
            <a:r>
              <a:rPr lang="en-US" altLang="en-US" sz="3200" dirty="0" err="1"/>
              <a:t>tỉ</a:t>
            </a:r>
            <a:r>
              <a:rPr lang="en-US" altLang="en-US" sz="3200" dirty="0"/>
              <a:t> </a:t>
            </a:r>
            <a:r>
              <a:rPr lang="en-US" altLang="en-US" sz="3200" dirty="0" err="1"/>
              <a:t>lệ</a:t>
            </a:r>
            <a:r>
              <a:rPr lang="vi-VN" altLang="en-US" sz="3200" dirty="0"/>
              <a:t> </a:t>
            </a:r>
            <a:r>
              <a:rPr lang="en-US" altLang="en-US" sz="3200" dirty="0"/>
              <a:t>p</a:t>
            </a:r>
            <a:endParaRPr lang="en-US" altLang="en-US" sz="3200" dirty="0">
              <a:solidFill>
                <a:schemeClr val="tx1"/>
              </a:solidFill>
            </a:endParaRPr>
          </a:p>
        </p:txBody>
      </p:sp>
      <p:sp>
        <p:nvSpPr>
          <p:cNvPr id="86019" name="Rectangle 4"/>
          <p:cNvSpPr>
            <a:spLocks noChangeArrowheads="1"/>
          </p:cNvSpPr>
          <p:nvPr/>
        </p:nvSpPr>
        <p:spPr bwMode="auto">
          <a:xfrm>
            <a:off x="1838325" y="2403475"/>
            <a:ext cx="3540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0" name="Rectangle 5"/>
          <p:cNvSpPr>
            <a:spLocks noChangeArrowheads="1"/>
          </p:cNvSpPr>
          <p:nvPr/>
        </p:nvSpPr>
        <p:spPr bwMode="auto">
          <a:xfrm>
            <a:off x="1508125" y="3017838"/>
            <a:ext cx="420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1" name="Rectangle 6"/>
          <p:cNvSpPr>
            <a:spLocks noChangeArrowheads="1"/>
          </p:cNvSpPr>
          <p:nvPr/>
        </p:nvSpPr>
        <p:spPr bwMode="auto">
          <a:xfrm>
            <a:off x="1736725" y="2989263"/>
            <a:ext cx="2968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2" name="Rectangle 7"/>
          <p:cNvSpPr>
            <a:spLocks noChangeArrowheads="1"/>
          </p:cNvSpPr>
          <p:nvPr/>
        </p:nvSpPr>
        <p:spPr bwMode="auto">
          <a:xfrm>
            <a:off x="512763" y="3513138"/>
            <a:ext cx="26828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altLang="en-US" sz="2400" b="0">
                <a:solidFill>
                  <a:schemeClr val="hlink"/>
                </a:solidFill>
              </a:rPr>
              <a:t> </a:t>
            </a:r>
            <a:endParaRPr lang="en-US" altLang="en-US" sz="2400" b="0">
              <a:solidFill>
                <a:schemeClr val="tx2"/>
              </a:solidFill>
            </a:endParaRPr>
          </a:p>
          <a:p>
            <a:pPr>
              <a:lnSpc>
                <a:spcPct val="90000"/>
              </a:lnSpc>
              <a:spcBef>
                <a:spcPct val="30000"/>
              </a:spcBef>
            </a:pPr>
            <a:endParaRPr lang="en-US" altLang="en-US" sz="2400" b="0">
              <a:solidFill>
                <a:schemeClr val="tx2"/>
              </a:solidFill>
            </a:endParaRPr>
          </a:p>
        </p:txBody>
      </p:sp>
      <p:sp>
        <p:nvSpPr>
          <p:cNvPr id="86023" name="Rectangle 8"/>
          <p:cNvSpPr>
            <a:spLocks noChangeArrowheads="1"/>
          </p:cNvSpPr>
          <p:nvPr/>
        </p:nvSpPr>
        <p:spPr bwMode="auto">
          <a:xfrm>
            <a:off x="1889125" y="4127500"/>
            <a:ext cx="89058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4" name="Rectangle 9"/>
          <p:cNvSpPr>
            <a:spLocks noChangeArrowheads="1"/>
          </p:cNvSpPr>
          <p:nvPr/>
        </p:nvSpPr>
        <p:spPr bwMode="auto">
          <a:xfrm>
            <a:off x="593725" y="4694238"/>
            <a:ext cx="58070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86025" name="Rectangle 10"/>
          <p:cNvSpPr>
            <a:spLocks noChangeArrowheads="1"/>
          </p:cNvSpPr>
          <p:nvPr/>
        </p:nvSpPr>
        <p:spPr bwMode="auto">
          <a:xfrm>
            <a:off x="0" y="1219200"/>
            <a:ext cx="9144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marL="342900" indent="-342900">
              <a:lnSpc>
                <a:spcPct val="88000"/>
              </a:lnSpc>
              <a:spcBef>
                <a:spcPct val="30000"/>
              </a:spcBef>
              <a:buClr>
                <a:schemeClr val="accent2"/>
              </a:buClr>
              <a:buFont typeface="Arial" panose="020B0604020202020204" pitchFamily="34" charset="0"/>
              <a:buChar char="•"/>
            </a:pPr>
            <a:r>
              <a:rPr lang="en-US" altLang="en-US" sz="2200" b="0" dirty="0" err="1"/>
              <a:t>Điều</a:t>
            </a:r>
            <a:r>
              <a:rPr lang="en-US" altLang="en-US" sz="2200" b="0" dirty="0"/>
              <a:t> </a:t>
            </a:r>
            <a:r>
              <a:rPr lang="en-US" altLang="en-US" sz="2200" b="0" dirty="0" err="1"/>
              <a:t>kiện</a:t>
            </a:r>
            <a:r>
              <a:rPr lang="en-US" altLang="en-US" sz="2200" b="0" dirty="0"/>
              <a:t> </a:t>
            </a:r>
            <a:r>
              <a:rPr lang="en-US" altLang="en-US" sz="2200" b="0" dirty="0" err="1"/>
              <a:t>để</a:t>
            </a:r>
            <a:r>
              <a:rPr lang="en-US" altLang="en-US" sz="2200" b="0" dirty="0"/>
              <a:t> p</a:t>
            </a:r>
            <a:r>
              <a:rPr lang="vi-VN" altLang="en-US" sz="2200" b="0" dirty="0"/>
              <a:t>hân phối chuẩn có thể được dùng để xấp xỉ</a:t>
            </a:r>
            <a:r>
              <a:rPr lang="en-US" altLang="en-US" sz="2200" b="0" dirty="0"/>
              <a:t> </a:t>
            </a:r>
            <a:r>
              <a:rPr lang="en-US" altLang="en-US" sz="2200" b="0" dirty="0" err="1"/>
              <a:t>phân</a:t>
            </a:r>
            <a:r>
              <a:rPr lang="en-US" altLang="en-US" sz="2200" b="0" dirty="0"/>
              <a:t> </a:t>
            </a:r>
            <a:r>
              <a:rPr lang="en-US" altLang="en-US" sz="2200" b="0" dirty="0" err="1"/>
              <a:t>phối</a:t>
            </a:r>
            <a:r>
              <a:rPr lang="vi-VN" altLang="en-US" sz="2200" b="0" dirty="0"/>
              <a:t> nhị thức khi n lớn</a:t>
            </a:r>
            <a:r>
              <a:rPr lang="en-US" altLang="en-US" sz="2200" b="0" dirty="0"/>
              <a:t>:</a:t>
            </a:r>
          </a:p>
          <a:p>
            <a:pPr marL="1085850" lvl="1" indent="-342900">
              <a:lnSpc>
                <a:spcPct val="88000"/>
              </a:lnSpc>
              <a:spcBef>
                <a:spcPct val="30000"/>
              </a:spcBef>
              <a:buClr>
                <a:schemeClr val="accent2"/>
              </a:buClr>
              <a:buFont typeface="Arial" panose="020B0604020202020204" pitchFamily="34" charset="0"/>
              <a:buChar char="•"/>
            </a:pPr>
            <a:r>
              <a:rPr lang="en-US" sz="2400" b="0" dirty="0">
                <a:latin typeface="Arial" charset="0"/>
              </a:rPr>
              <a:t>np </a:t>
            </a:r>
            <a:r>
              <a:rPr lang="en-US" sz="2400" b="0" u="sng" dirty="0">
                <a:latin typeface="Arial" charset="0"/>
              </a:rPr>
              <a:t>&gt;</a:t>
            </a:r>
            <a:r>
              <a:rPr lang="en-US" sz="2400" b="0" dirty="0">
                <a:latin typeface="Arial" charset="0"/>
              </a:rPr>
              <a:t> 5 &amp; n(1 – p)</a:t>
            </a:r>
            <a:r>
              <a:rPr lang="en-US" sz="2400" b="0" u="sng" dirty="0">
                <a:latin typeface="Arial" charset="0"/>
              </a:rPr>
              <a:t>&gt;</a:t>
            </a:r>
            <a:r>
              <a:rPr lang="en-US" sz="2400" b="0" dirty="0">
                <a:latin typeface="Arial" charset="0"/>
              </a:rPr>
              <a:t> 5</a:t>
            </a:r>
          </a:p>
          <a:p>
            <a:pPr marL="1085850" lvl="1" indent="-342900">
              <a:lnSpc>
                <a:spcPct val="88000"/>
              </a:lnSpc>
              <a:spcBef>
                <a:spcPct val="30000"/>
              </a:spcBef>
              <a:buClr>
                <a:schemeClr val="accent2"/>
              </a:buClr>
              <a:buFont typeface="Arial" panose="020B0604020202020204" pitchFamily="34" charset="0"/>
              <a:buChar char="•"/>
            </a:pPr>
            <a:r>
              <a:rPr lang="en-US" altLang="en-US" sz="2400" b="0" i="1" dirty="0"/>
              <a:t>n </a:t>
            </a:r>
            <a:r>
              <a:rPr lang="en-US" altLang="en-US" sz="2400" b="0" i="1" dirty="0" err="1"/>
              <a:t>càng</a:t>
            </a:r>
            <a:r>
              <a:rPr lang="en-US" altLang="en-US" sz="2400" b="0" i="1" dirty="0"/>
              <a:t> </a:t>
            </a:r>
            <a:r>
              <a:rPr lang="en-US" altLang="en-US" sz="2400" b="0" i="1" dirty="0" err="1"/>
              <a:t>lớn</a:t>
            </a:r>
            <a:r>
              <a:rPr lang="en-US" altLang="en-US" sz="2400" b="0" i="1" dirty="0"/>
              <a:t> </a:t>
            </a:r>
            <a:r>
              <a:rPr lang="en-US" altLang="en-US" sz="2400" b="0" i="1" dirty="0" err="1"/>
              <a:t>thì</a:t>
            </a:r>
            <a:r>
              <a:rPr lang="en-US" altLang="en-US" sz="2400" b="0" i="1" dirty="0"/>
              <a:t> </a:t>
            </a:r>
            <a:r>
              <a:rPr lang="en-US" altLang="en-US" sz="2400" b="0" i="1" dirty="0" err="1"/>
              <a:t>xấp</a:t>
            </a:r>
            <a:r>
              <a:rPr lang="en-US" altLang="en-US" sz="2400" b="0" i="1" dirty="0"/>
              <a:t> </a:t>
            </a:r>
            <a:r>
              <a:rPr lang="en-US" altLang="en-US" sz="2400" b="0" i="1" dirty="0" err="1"/>
              <a:t>xỉ</a:t>
            </a:r>
            <a:r>
              <a:rPr lang="en-US" altLang="en-US" sz="2400" b="0" i="1" dirty="0"/>
              <a:t> </a:t>
            </a:r>
            <a:r>
              <a:rPr lang="en-US" altLang="en-US" sz="2400" b="0" i="1" dirty="0" err="1"/>
              <a:t>càng</a:t>
            </a:r>
            <a:r>
              <a:rPr lang="en-US" altLang="en-US" sz="2400" b="0" i="1" dirty="0"/>
              <a:t> </a:t>
            </a:r>
            <a:r>
              <a:rPr lang="en-US" altLang="en-US" sz="2400" b="0" i="1" dirty="0" err="1"/>
              <a:t>tốt</a:t>
            </a:r>
            <a:r>
              <a:rPr lang="en-US" altLang="en-US" sz="2400" b="0" dirty="0"/>
              <a:t>. </a:t>
            </a:r>
          </a:p>
          <a:p>
            <a:pPr marL="342900" indent="-342900">
              <a:lnSpc>
                <a:spcPct val="88000"/>
              </a:lnSpc>
              <a:spcBef>
                <a:spcPct val="30000"/>
              </a:spcBef>
              <a:buClr>
                <a:schemeClr val="accent2"/>
              </a:buClr>
              <a:buFont typeface="Arial" panose="020B0604020202020204" pitchFamily="34" charset="0"/>
              <a:buChar char="•"/>
            </a:pPr>
            <a:r>
              <a:rPr lang="en-US" altLang="en-US" sz="2400" b="0" dirty="0" err="1"/>
              <a:t>Khi</a:t>
            </a:r>
            <a:r>
              <a:rPr lang="en-US" altLang="en-US" sz="2400" b="0" dirty="0"/>
              <a:t> </a:t>
            </a:r>
            <a:r>
              <a:rPr lang="en-US" altLang="en-US" sz="2400" b="0" dirty="0" err="1"/>
              <a:t>phân</a:t>
            </a:r>
            <a:r>
              <a:rPr lang="en-US" altLang="en-US" sz="2400" b="0" dirty="0"/>
              <a:t> </a:t>
            </a:r>
            <a:r>
              <a:rPr lang="en-US" altLang="en-US" sz="2400" b="0" dirty="0" err="1"/>
              <a:t>phối</a:t>
            </a:r>
            <a:r>
              <a:rPr lang="en-US" altLang="en-US" sz="2400" b="0" dirty="0"/>
              <a:t> </a:t>
            </a:r>
            <a:r>
              <a:rPr lang="en-US" altLang="en-US" sz="2400" b="0" dirty="0" err="1"/>
              <a:t>nhị</a:t>
            </a:r>
            <a:r>
              <a:rPr lang="en-US" altLang="en-US" sz="2400" b="0" dirty="0"/>
              <a:t> </a:t>
            </a:r>
            <a:r>
              <a:rPr lang="en-US" altLang="en-US" sz="2400" b="0" dirty="0" err="1"/>
              <a:t>thức</a:t>
            </a:r>
            <a:r>
              <a:rPr lang="en-US" altLang="en-US" sz="2400" b="0" dirty="0"/>
              <a:t> </a:t>
            </a:r>
            <a:r>
              <a:rPr lang="en-US" altLang="en-US" sz="2400" b="0" dirty="0" err="1"/>
              <a:t>xấp</a:t>
            </a:r>
            <a:r>
              <a:rPr lang="en-US" altLang="en-US" sz="2400" b="0" dirty="0"/>
              <a:t> </a:t>
            </a:r>
            <a:r>
              <a:rPr lang="en-US" altLang="en-US" sz="2400" b="0" dirty="0" err="1"/>
              <a:t>xỉ</a:t>
            </a:r>
            <a:r>
              <a:rPr lang="en-US" altLang="en-US" sz="2400" b="0" dirty="0"/>
              <a:t> </a:t>
            </a:r>
            <a:r>
              <a:rPr lang="en-US" altLang="en-US" sz="2400" b="0" dirty="0" err="1"/>
              <a:t>phân</a:t>
            </a:r>
            <a:r>
              <a:rPr lang="en-US" altLang="en-US" sz="2400" b="0" dirty="0"/>
              <a:t> </a:t>
            </a:r>
            <a:r>
              <a:rPr lang="en-US" altLang="en-US" sz="2400" b="0" dirty="0" err="1"/>
              <a:t>phối</a:t>
            </a:r>
            <a:r>
              <a:rPr lang="en-US" altLang="en-US" sz="2400" b="0" dirty="0"/>
              <a:t> </a:t>
            </a:r>
            <a:r>
              <a:rPr lang="en-US" altLang="en-US" sz="2400" b="0" dirty="0" err="1"/>
              <a:t>chuẩn</a:t>
            </a:r>
            <a:r>
              <a:rPr lang="en-US" altLang="en-US" sz="2400" b="0" dirty="0"/>
              <a:t>, </a:t>
            </a:r>
            <a:r>
              <a:rPr lang="en-US" altLang="en-US" sz="2400" b="0" dirty="0" err="1"/>
              <a:t>phân</a:t>
            </a:r>
            <a:r>
              <a:rPr lang="en-US" altLang="en-US" sz="2400" b="0" dirty="0"/>
              <a:t> </a:t>
            </a:r>
            <a:r>
              <a:rPr lang="en-US" altLang="en-US" sz="2400" b="0" dirty="0" err="1"/>
              <a:t>phối</a:t>
            </a:r>
            <a:r>
              <a:rPr lang="en-US" altLang="en-US" sz="2400" b="0" dirty="0"/>
              <a:t> </a:t>
            </a:r>
            <a:r>
              <a:rPr lang="en-US" altLang="en-US" sz="2400" b="0" dirty="0" err="1"/>
              <a:t>của</a:t>
            </a:r>
            <a:r>
              <a:rPr lang="en-US" altLang="en-US" sz="2400" b="0" dirty="0"/>
              <a:t> </a:t>
            </a:r>
            <a:r>
              <a:rPr lang="en-US" altLang="en-US" sz="2400" b="0" dirty="0" err="1"/>
              <a:t>tỉ</a:t>
            </a:r>
            <a:r>
              <a:rPr lang="en-US" altLang="en-US" sz="2400" b="0" dirty="0"/>
              <a:t> </a:t>
            </a:r>
            <a:r>
              <a:rPr lang="en-US" altLang="en-US" sz="2400" b="0" dirty="0" err="1"/>
              <a:t>lệ</a:t>
            </a:r>
            <a:r>
              <a:rPr lang="en-US" altLang="en-US" sz="2400" b="0" dirty="0"/>
              <a:t> </a:t>
            </a:r>
            <a:r>
              <a:rPr lang="en-US" altLang="en-US" sz="2400" b="0" dirty="0" err="1"/>
              <a:t>mẫu</a:t>
            </a:r>
            <a:r>
              <a:rPr lang="en-US" altLang="en-US" sz="2400" b="0" dirty="0"/>
              <a:t> </a:t>
            </a:r>
            <a:r>
              <a:rPr lang="en-US" altLang="en-US" sz="2400" b="0" dirty="0" err="1"/>
              <a:t>có</a:t>
            </a:r>
            <a:r>
              <a:rPr lang="en-US" altLang="en-US" sz="2400" b="0" dirty="0"/>
              <a:t>:</a:t>
            </a:r>
          </a:p>
          <a:p>
            <a:pPr marL="1085850" lvl="1" indent="-342900">
              <a:lnSpc>
                <a:spcPct val="88000"/>
              </a:lnSpc>
              <a:spcBef>
                <a:spcPct val="30000"/>
              </a:spcBef>
              <a:buClr>
                <a:schemeClr val="accent2"/>
              </a:buClr>
              <a:buFont typeface="Arial" panose="020B0604020202020204" pitchFamily="34" charset="0"/>
              <a:buChar char="•"/>
            </a:pPr>
            <a:endParaRPr lang="en-US" altLang="en-US" sz="2400" b="0" dirty="0"/>
          </a:p>
          <a:p>
            <a:pPr marL="1085850" lvl="1" indent="-342900">
              <a:lnSpc>
                <a:spcPct val="88000"/>
              </a:lnSpc>
              <a:spcBef>
                <a:spcPct val="30000"/>
              </a:spcBef>
              <a:buClr>
                <a:schemeClr val="accent2"/>
              </a:buClr>
              <a:buFont typeface="Arial" panose="020B0604020202020204" pitchFamily="34" charset="0"/>
              <a:buChar char="•"/>
            </a:pPr>
            <a:endParaRPr lang="vi-VN" altLang="en-US" sz="2200" b="0" dirty="0"/>
          </a:p>
          <a:p>
            <a:pPr marL="342900" indent="-342900">
              <a:lnSpc>
                <a:spcPct val="88000"/>
              </a:lnSpc>
              <a:spcBef>
                <a:spcPct val="30000"/>
              </a:spcBef>
              <a:buClr>
                <a:schemeClr val="accent2"/>
              </a:buClr>
              <a:buFont typeface="Arial" panose="020B0604020202020204" pitchFamily="34" charset="0"/>
              <a:buChar char="•"/>
            </a:pPr>
            <a:endParaRPr lang="en-US" altLang="en-US" sz="2200" b="0" dirty="0"/>
          </a:p>
        </p:txBody>
      </p:sp>
      <mc:AlternateContent xmlns:mc="http://schemas.openxmlformats.org/markup-compatibility/2006" xmlns:a14="http://schemas.microsoft.com/office/drawing/2010/main">
        <mc:Choice Requires="a14">
          <p:sp>
            <p:nvSpPr>
              <p:cNvPr id="2" name="Rectangle 1"/>
              <p:cNvSpPr/>
              <p:nvPr/>
            </p:nvSpPr>
            <p:spPr>
              <a:xfrm>
                <a:off x="1550126" y="3553096"/>
                <a:ext cx="1334789" cy="5564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vi-VN" sz="2800" b="0" i="1" smtClean="0">
                              <a:latin typeface="Cambria Math" panose="02040503050406030204" pitchFamily="18" charset="0"/>
                            </a:rPr>
                          </m:ctrlPr>
                        </m:sSubPr>
                        <m:e>
                          <m:r>
                            <a:rPr lang="vi-VN" sz="2800" b="0" i="1" smtClean="0">
                              <a:latin typeface="Cambria Math" panose="02040503050406030204" pitchFamily="18" charset="0"/>
                            </a:rPr>
                            <m:t>µ</m:t>
                          </m:r>
                        </m:e>
                        <m:sub>
                          <m:acc>
                            <m:accPr>
                              <m:chr m:val="̂"/>
                              <m:ctrlPr>
                                <a:rPr lang="vi-VN" sz="2800" b="0" i="1" smtClean="0">
                                  <a:latin typeface="Cambria Math" panose="02040503050406030204" pitchFamily="18" charset="0"/>
                                  <a:ea typeface="Cambria Math"/>
                                </a:rPr>
                              </m:ctrlPr>
                            </m:accPr>
                            <m:e>
                              <m:r>
                                <a:rPr lang="vi-VN" sz="2800" b="0" i="1">
                                  <a:latin typeface="Cambria Math" panose="02040503050406030204" pitchFamily="18" charset="0"/>
                                  <a:ea typeface="Cambria Math"/>
                                </a:rPr>
                                <m:t>𝑝</m:t>
                              </m:r>
                            </m:e>
                          </m:acc>
                        </m:sub>
                      </m:sSub>
                      <m:r>
                        <a:rPr lang="en-US" sz="2800" b="0" i="0" smtClean="0">
                          <a:latin typeface="Cambria Math" panose="02040503050406030204" pitchFamily="18" charset="0"/>
                          <a:ea typeface="Cambria Math"/>
                        </a:rPr>
                        <m:t>=</m:t>
                      </m:r>
                      <m:acc>
                        <m:accPr>
                          <m:chr m:val="̂"/>
                          <m:ctrlPr>
                            <a:rPr lang="en-US" sz="2800" i="1" dirty="0" smtClean="0">
                              <a:latin typeface="Cambria Math" panose="02040503050406030204" pitchFamily="18" charset="0"/>
                            </a:rPr>
                          </m:ctrlPr>
                        </m:accPr>
                        <m:e>
                          <m:r>
                            <a:rPr lang="en-US" sz="2800" i="1" dirty="0">
                              <a:latin typeface="Cambria Math" panose="02040503050406030204" pitchFamily="18" charset="0"/>
                            </a:rPr>
                            <m:t>𝑝</m:t>
                          </m:r>
                        </m:e>
                      </m:acc>
                    </m:oMath>
                  </m:oMathPara>
                </a14:m>
                <a:endParaRPr lang="en-US" sz="2800" dirty="0"/>
              </a:p>
            </p:txBody>
          </p:sp>
        </mc:Choice>
        <mc:Fallback xmlns="">
          <p:sp>
            <p:nvSpPr>
              <p:cNvPr id="2" name="Rectangle 1"/>
              <p:cNvSpPr>
                <a:spLocks noRot="1" noChangeAspect="1" noMove="1" noResize="1" noEditPoints="1" noAdjustHandles="1" noChangeArrowheads="1" noChangeShapeType="1" noTextEdit="1"/>
              </p:cNvSpPr>
              <p:nvPr/>
            </p:nvSpPr>
            <p:spPr>
              <a:xfrm>
                <a:off x="1550126" y="3553096"/>
                <a:ext cx="1334789" cy="55643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3429000" y="3287485"/>
                <a:ext cx="1642757" cy="969176"/>
              </a:xfrm>
              <a:prstGeom prst="rect">
                <a:avLst/>
              </a:prstGeom>
            </p:spPr>
            <p:txBody>
              <a:bodyPr wrap="none">
                <a:spAutoFit/>
              </a:bodyPr>
              <a:lstStyle/>
              <a:p>
                <a14:m>
                  <m:oMath xmlns:m="http://schemas.openxmlformats.org/officeDocument/2006/math">
                    <m:sSub>
                      <m:sSubPr>
                        <m:ctrlPr>
                          <a:rPr lang="vi-VN" sz="2800" b="0" i="1" smtClean="0">
                            <a:latin typeface="Cambria Math" panose="02040503050406030204" pitchFamily="18" charset="0"/>
                          </a:rPr>
                        </m:ctrlPr>
                      </m:sSubPr>
                      <m:e>
                        <m:r>
                          <m:rPr>
                            <m:sty m:val="p"/>
                          </m:rPr>
                          <a:rPr lang="vi-VN" sz="2800" b="0" i="1">
                            <a:latin typeface="Cambria Math" panose="02040503050406030204" pitchFamily="18" charset="0"/>
                          </a:rPr>
                          <m:t>σ</m:t>
                        </m:r>
                      </m:e>
                      <m:sub>
                        <m:acc>
                          <m:accPr>
                            <m:chr m:val="̂"/>
                            <m:ctrlPr>
                              <a:rPr lang="vi-VN" sz="2800" b="0" i="1" smtClean="0">
                                <a:latin typeface="Cambria Math" panose="02040503050406030204" pitchFamily="18" charset="0"/>
                                <a:ea typeface="Cambria Math"/>
                              </a:rPr>
                            </m:ctrlPr>
                          </m:accPr>
                          <m:e>
                            <m:r>
                              <a:rPr lang="vi-VN" sz="2800" b="0" i="1">
                                <a:latin typeface="Cambria Math" panose="02040503050406030204" pitchFamily="18" charset="0"/>
                                <a:ea typeface="Cambria Math"/>
                              </a:rPr>
                              <m:t>𝑝</m:t>
                            </m:r>
                          </m:e>
                        </m:acc>
                      </m:sub>
                    </m:sSub>
                    <m:r>
                      <a:rPr lang="en-US" sz="2800" b="0" i="0" smtClean="0">
                        <a:latin typeface="Cambria Math" panose="02040503050406030204" pitchFamily="18" charset="0"/>
                        <a:ea typeface="Cambria Math"/>
                      </a:rPr>
                      <m:t>=</m:t>
                    </m:r>
                  </m:oMath>
                </a14:m>
                <a:r>
                  <a:rPr lang="en-US" sz="2800" dirty="0"/>
                  <a:t> </a:t>
                </a:r>
                <a14:m>
                  <m:oMath xmlns:m="http://schemas.openxmlformats.org/officeDocument/2006/math">
                    <m:rad>
                      <m:radPr>
                        <m:degHide m:val="on"/>
                        <m:ctrlPr>
                          <a:rPr lang="en-US" sz="2800" i="1" dirty="0" smtClean="0">
                            <a:latin typeface="Cambria Math" panose="02040503050406030204" pitchFamily="18" charset="0"/>
                          </a:rPr>
                        </m:ctrlPr>
                      </m:radPr>
                      <m:deg/>
                      <m:e>
                        <m:f>
                          <m:fPr>
                            <m:ctrlPr>
                              <a:rPr lang="en-US" sz="2800" i="1" dirty="0" smtClean="0">
                                <a:latin typeface="Cambria Math" panose="02040503050406030204" pitchFamily="18" charset="0"/>
                              </a:rPr>
                            </m:ctrlPr>
                          </m:fPr>
                          <m:num>
                            <m:acc>
                              <m:accPr>
                                <m:chr m:val="̂"/>
                                <m:ctrlPr>
                                  <a:rPr lang="en-US" sz="2800" i="1" dirty="0" smtClean="0">
                                    <a:latin typeface="Cambria Math" panose="02040503050406030204" pitchFamily="18" charset="0"/>
                                  </a:rPr>
                                </m:ctrlPr>
                              </m:accPr>
                              <m:e>
                                <m:r>
                                  <a:rPr lang="en-US" sz="2800" i="1" dirty="0" smtClean="0">
                                    <a:latin typeface="Cambria Math" panose="02040503050406030204" pitchFamily="18" charset="0"/>
                                  </a:rPr>
                                  <m:t>𝑝</m:t>
                                </m:r>
                              </m:e>
                            </m:acc>
                            <m:acc>
                              <m:accPr>
                                <m:chr m:val="̂"/>
                                <m:ctrlPr>
                                  <a:rPr lang="en-US" sz="2800" i="1" dirty="0" smtClean="0">
                                    <a:latin typeface="Cambria Math" panose="02040503050406030204" pitchFamily="18" charset="0"/>
                                  </a:rPr>
                                </m:ctrlPr>
                              </m:accPr>
                              <m:e>
                                <m:r>
                                  <a:rPr lang="en-US" sz="2800" i="1" dirty="0" smtClean="0">
                                    <a:latin typeface="Cambria Math" panose="02040503050406030204" pitchFamily="18" charset="0"/>
                                  </a:rPr>
                                  <m:t>𝑞</m:t>
                                </m:r>
                              </m:e>
                            </m:acc>
                          </m:num>
                          <m:den>
                            <m:r>
                              <a:rPr lang="en-US" sz="2800" b="1" i="1" dirty="0" smtClean="0">
                                <a:latin typeface="Cambria Math" panose="02040503050406030204" pitchFamily="18" charset="0"/>
                              </a:rPr>
                              <m:t>𝒏</m:t>
                            </m:r>
                          </m:den>
                        </m:f>
                      </m:e>
                    </m:rad>
                  </m:oMath>
                </a14:m>
                <a:endParaRPr lang="en-US" sz="2800" dirty="0"/>
              </a:p>
            </p:txBody>
          </p:sp>
        </mc:Choice>
        <mc:Fallback xmlns="">
          <p:sp>
            <p:nvSpPr>
              <p:cNvPr id="12" name="Rectangle 11"/>
              <p:cNvSpPr>
                <a:spLocks noRot="1" noChangeAspect="1" noMove="1" noResize="1" noEditPoints="1" noAdjustHandles="1" noChangeArrowheads="1" noChangeShapeType="1" noTextEdit="1"/>
              </p:cNvSpPr>
              <p:nvPr/>
            </p:nvSpPr>
            <p:spPr>
              <a:xfrm>
                <a:off x="3429000" y="3287485"/>
                <a:ext cx="1642757" cy="96917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584959" y="4404359"/>
                <a:ext cx="312420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2800" i="1" dirty="0" smtClean="0">
                              <a:solidFill>
                                <a:srgbClr val="000000"/>
                              </a:solidFill>
                              <a:latin typeface="Cambria Math" panose="02040503050406030204" pitchFamily="18" charset="0"/>
                            </a:rPr>
                          </m:ctrlPr>
                        </m:accPr>
                        <m:e>
                          <m:r>
                            <a:rPr lang="en-US" sz="2800" i="1" dirty="0">
                              <a:solidFill>
                                <a:srgbClr val="000000"/>
                              </a:solidFill>
                              <a:latin typeface="Cambria Math" panose="02040503050406030204" pitchFamily="18" charset="0"/>
                            </a:rPr>
                            <m:t>𝑝</m:t>
                          </m:r>
                        </m:e>
                      </m:acc>
                      <m:r>
                        <a:rPr lang="vi-VN" sz="2800" b="0" i="1" smtClean="0">
                          <a:latin typeface="Cambria Math"/>
                        </a:rPr>
                        <m:t>−</m:t>
                      </m:r>
                      <m:r>
                        <a:rPr lang="en-US" sz="2800" b="0" i="1" smtClean="0">
                          <a:latin typeface="Cambria Math" panose="02040503050406030204" pitchFamily="18" charset="0"/>
                        </a:rPr>
                        <m:t>𝐸</m:t>
                      </m:r>
                      <m:r>
                        <a:rPr lang="vi-VN" sz="2800" b="0" i="1">
                          <a:latin typeface="Cambria Math"/>
                          <a:ea typeface="Cambria Math"/>
                        </a:rPr>
                        <m:t>≤</m:t>
                      </m:r>
                      <m:r>
                        <a:rPr lang="en-US" sz="2800" b="0" i="1" smtClean="0">
                          <a:latin typeface="Cambria Math" panose="02040503050406030204" pitchFamily="18" charset="0"/>
                          <a:ea typeface="Cambria Math"/>
                        </a:rPr>
                        <m:t>𝑝</m:t>
                      </m:r>
                      <m:r>
                        <a:rPr lang="vi-VN" sz="2800" b="0" i="1">
                          <a:latin typeface="Cambria Math"/>
                          <a:ea typeface="Cambria Math"/>
                        </a:rPr>
                        <m:t>≤</m:t>
                      </m:r>
                      <m:acc>
                        <m:accPr>
                          <m:chr m:val="̂"/>
                          <m:ctrlPr>
                            <a:rPr lang="en-US" sz="2800" i="1" dirty="0">
                              <a:solidFill>
                                <a:srgbClr val="000000"/>
                              </a:solidFill>
                              <a:latin typeface="Cambria Math" panose="02040503050406030204" pitchFamily="18" charset="0"/>
                            </a:rPr>
                          </m:ctrlPr>
                        </m:accPr>
                        <m:e>
                          <m:r>
                            <a:rPr lang="en-US" sz="2800" i="1" dirty="0">
                              <a:solidFill>
                                <a:srgbClr val="000000"/>
                              </a:solidFill>
                              <a:latin typeface="Cambria Math" panose="02040503050406030204" pitchFamily="18" charset="0"/>
                            </a:rPr>
                            <m:t>𝑝</m:t>
                          </m:r>
                        </m:e>
                      </m:acc>
                      <m:r>
                        <a:rPr lang="vi-VN" sz="2800" b="0" i="1">
                          <a:latin typeface="Cambria Math"/>
                        </a:rPr>
                        <m:t>+</m:t>
                      </m:r>
                      <m:r>
                        <a:rPr lang="en-US" sz="2800" b="0" i="1" smtClean="0">
                          <a:latin typeface="Cambria Math" panose="02040503050406030204" pitchFamily="18" charset="0"/>
                        </a:rPr>
                        <m:t>𝐸</m:t>
                      </m:r>
                    </m:oMath>
                  </m:oMathPara>
                </a14:m>
                <a:endParaRPr lang="en-US" sz="2800" dirty="0"/>
              </a:p>
            </p:txBody>
          </p:sp>
        </mc:Choice>
        <mc:Fallback xmlns="">
          <p:sp>
            <p:nvSpPr>
              <p:cNvPr id="13" name="Rectangle 12"/>
              <p:cNvSpPr>
                <a:spLocks noRot="1" noChangeAspect="1" noMove="1" noResize="1" noEditPoints="1" noAdjustHandles="1" noChangeArrowheads="1" noChangeShapeType="1" noTextEdit="1"/>
              </p:cNvSpPr>
              <p:nvPr/>
            </p:nvSpPr>
            <p:spPr>
              <a:xfrm>
                <a:off x="1584959" y="4404359"/>
                <a:ext cx="3124200"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600200" y="5101044"/>
                <a:ext cx="5639727" cy="969176"/>
              </a:xfrm>
              <a:prstGeom prst="rect">
                <a:avLst/>
              </a:prstGeom>
            </p:spPr>
            <p:txBody>
              <a:bodyPr wrap="square">
                <a:spAutoFit/>
              </a:bodyPr>
              <a:lstStyle/>
              <a:p>
                <a14:m>
                  <m:oMath xmlns:m="http://schemas.openxmlformats.org/officeDocument/2006/math">
                    <m:acc>
                      <m:accPr>
                        <m:chr m:val="̂"/>
                        <m:ctrlPr>
                          <a:rPr lang="en-US" sz="2800" i="1" dirty="0" smtClean="0">
                            <a:solidFill>
                              <a:srgbClr val="000000"/>
                            </a:solidFill>
                            <a:latin typeface="Cambria Math" panose="02040503050406030204" pitchFamily="18" charset="0"/>
                          </a:rPr>
                        </m:ctrlPr>
                      </m:accPr>
                      <m:e>
                        <m:r>
                          <a:rPr lang="en-US" sz="2800" i="1" dirty="0">
                            <a:solidFill>
                              <a:srgbClr val="000000"/>
                            </a:solidFill>
                            <a:latin typeface="Cambria Math" panose="02040503050406030204" pitchFamily="18" charset="0"/>
                          </a:rPr>
                          <m:t>𝑝</m:t>
                        </m:r>
                      </m:e>
                    </m:acc>
                    <m:r>
                      <a:rPr lang="vi-VN" sz="2800" b="0" i="1" smtClean="0">
                        <a:latin typeface="Cambria Math"/>
                      </a:rPr>
                      <m:t>−</m:t>
                    </m:r>
                    <m:sSub>
                      <m:sSubPr>
                        <m:ctrlPr>
                          <a:rPr lang="vi-VN" sz="2800" b="0" i="1">
                            <a:latin typeface="Cambria Math" panose="02040503050406030204" pitchFamily="18" charset="0"/>
                          </a:rPr>
                        </m:ctrlPr>
                      </m:sSubPr>
                      <m:e>
                        <m:r>
                          <a:rPr lang="vi-VN" sz="2800" b="0" i="1">
                            <a:latin typeface="Cambria Math"/>
                          </a:rPr>
                          <m:t>𝑧</m:t>
                        </m:r>
                      </m:e>
                      <m:sub>
                        <m:r>
                          <a:rPr lang="vi-VN" sz="2800" b="0" i="1">
                            <a:latin typeface="Cambria Math"/>
                            <a:ea typeface="Cambria Math"/>
                          </a:rPr>
                          <m:t>𝛼</m:t>
                        </m:r>
                        <m:r>
                          <a:rPr lang="vi-VN" sz="2800" b="0" i="1">
                            <a:latin typeface="Cambria Math"/>
                            <a:ea typeface="Cambria Math"/>
                          </a:rPr>
                          <m:t>/2</m:t>
                        </m:r>
                      </m:sub>
                    </m:sSub>
                    <m:r>
                      <m:rPr>
                        <m:nor/>
                      </m:rPr>
                      <a:rPr lang="en-US" altLang="en-US" sz="2800" b="0" dirty="0"/>
                      <m:t>∗</m:t>
                    </m:r>
                    <m:rad>
                      <m:radPr>
                        <m:degHide m:val="on"/>
                        <m:ctrlPr>
                          <a:rPr lang="en-US" sz="2800" i="1" dirty="0">
                            <a:latin typeface="Cambria Math" panose="02040503050406030204" pitchFamily="18" charset="0"/>
                          </a:rPr>
                        </m:ctrlPr>
                      </m:radPr>
                      <m:deg/>
                      <m:e>
                        <m:f>
                          <m:fPr>
                            <m:ctrlPr>
                              <a:rPr lang="en-US" sz="2800" i="1" dirty="0">
                                <a:latin typeface="Cambria Math" panose="02040503050406030204" pitchFamily="18" charset="0"/>
                              </a:rPr>
                            </m:ctrlPr>
                          </m:fPr>
                          <m:num>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𝑝</m:t>
                                </m:r>
                              </m:e>
                            </m:acc>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𝑞</m:t>
                                </m:r>
                              </m:e>
                            </m:acc>
                          </m:num>
                          <m:den>
                            <m:r>
                              <a:rPr lang="en-US" sz="2800" i="1" dirty="0">
                                <a:latin typeface="Cambria Math" panose="02040503050406030204" pitchFamily="18" charset="0"/>
                              </a:rPr>
                              <m:t>𝒏</m:t>
                            </m:r>
                          </m:den>
                        </m:f>
                      </m:e>
                    </m:rad>
                    <m:r>
                      <a:rPr lang="vi-VN" sz="2800" b="0" i="1">
                        <a:latin typeface="Cambria Math"/>
                        <a:ea typeface="Cambria Math"/>
                      </a:rPr>
                      <m:t>≤</m:t>
                    </m:r>
                    <m:r>
                      <a:rPr lang="en-US" sz="2800" b="0" i="1" smtClean="0">
                        <a:latin typeface="Cambria Math" panose="02040503050406030204" pitchFamily="18" charset="0"/>
                        <a:ea typeface="Cambria Math"/>
                      </a:rPr>
                      <m:t>𝑝</m:t>
                    </m:r>
                    <m:r>
                      <a:rPr lang="vi-VN" sz="2800" b="0" i="1">
                        <a:latin typeface="Cambria Math"/>
                        <a:ea typeface="Cambria Math"/>
                      </a:rPr>
                      <m:t>≤</m:t>
                    </m:r>
                    <m:acc>
                      <m:accPr>
                        <m:chr m:val="̂"/>
                        <m:ctrlPr>
                          <a:rPr lang="en-US" sz="2800" i="1" dirty="0">
                            <a:solidFill>
                              <a:srgbClr val="000000"/>
                            </a:solidFill>
                            <a:latin typeface="Cambria Math" panose="02040503050406030204" pitchFamily="18" charset="0"/>
                          </a:rPr>
                        </m:ctrlPr>
                      </m:accPr>
                      <m:e>
                        <m:r>
                          <a:rPr lang="en-US" sz="2800" i="1" dirty="0">
                            <a:solidFill>
                              <a:srgbClr val="000000"/>
                            </a:solidFill>
                            <a:latin typeface="Cambria Math" panose="02040503050406030204" pitchFamily="18" charset="0"/>
                          </a:rPr>
                          <m:t>𝑝</m:t>
                        </m:r>
                      </m:e>
                    </m:acc>
                    <m:r>
                      <a:rPr lang="vi-VN" sz="2800" b="0" i="1">
                        <a:latin typeface="Cambria Math"/>
                      </a:rPr>
                      <m:t>+</m:t>
                    </m:r>
                    <m:sSub>
                      <m:sSubPr>
                        <m:ctrlPr>
                          <a:rPr lang="vi-VN" sz="2800" b="0" i="1">
                            <a:latin typeface="Cambria Math" panose="02040503050406030204" pitchFamily="18" charset="0"/>
                          </a:rPr>
                        </m:ctrlPr>
                      </m:sSubPr>
                      <m:e>
                        <m:r>
                          <a:rPr lang="vi-VN" sz="2800" b="0" i="1">
                            <a:latin typeface="Cambria Math"/>
                          </a:rPr>
                          <m:t>𝑧</m:t>
                        </m:r>
                      </m:e>
                      <m:sub>
                        <m:r>
                          <a:rPr lang="vi-VN" sz="2800" b="0" i="1">
                            <a:latin typeface="Cambria Math"/>
                            <a:ea typeface="Cambria Math"/>
                          </a:rPr>
                          <m:t>𝛼</m:t>
                        </m:r>
                        <m:r>
                          <a:rPr lang="vi-VN" sz="2800" b="0" i="1">
                            <a:latin typeface="Cambria Math"/>
                            <a:ea typeface="Cambria Math"/>
                          </a:rPr>
                          <m:t>/2</m:t>
                        </m:r>
                      </m:sub>
                    </m:sSub>
                  </m:oMath>
                </a14:m>
                <a:r>
                  <a:rPr lang="en-US" altLang="en-US" sz="2800" b="0" dirty="0"/>
                  <a:t>*</a:t>
                </a:r>
                <a14:m>
                  <m:oMath xmlns:m="http://schemas.openxmlformats.org/officeDocument/2006/math">
                    <m:rad>
                      <m:radPr>
                        <m:degHide m:val="on"/>
                        <m:ctrlPr>
                          <a:rPr lang="en-US" sz="2800" i="1" dirty="0">
                            <a:latin typeface="Cambria Math" panose="02040503050406030204" pitchFamily="18" charset="0"/>
                          </a:rPr>
                        </m:ctrlPr>
                      </m:radPr>
                      <m:deg/>
                      <m:e>
                        <m:f>
                          <m:fPr>
                            <m:ctrlPr>
                              <a:rPr lang="en-US" sz="2800" i="1" dirty="0">
                                <a:latin typeface="Cambria Math" panose="02040503050406030204" pitchFamily="18" charset="0"/>
                              </a:rPr>
                            </m:ctrlPr>
                          </m:fPr>
                          <m:num>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𝑝</m:t>
                                </m:r>
                              </m:e>
                            </m:acc>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𝑞</m:t>
                                </m:r>
                              </m:e>
                            </m:acc>
                          </m:num>
                          <m:den>
                            <m:r>
                              <a:rPr lang="en-US" sz="2800" i="1" dirty="0">
                                <a:latin typeface="Cambria Math" panose="02040503050406030204" pitchFamily="18" charset="0"/>
                              </a:rPr>
                              <m:t>𝒏</m:t>
                            </m:r>
                          </m:den>
                        </m:f>
                      </m:e>
                    </m:rad>
                  </m:oMath>
                </a14:m>
                <a:endParaRPr lang="en-US" sz="2800" dirty="0"/>
              </a:p>
            </p:txBody>
          </p:sp>
        </mc:Choice>
        <mc:Fallback xmlns="">
          <p:sp>
            <p:nvSpPr>
              <p:cNvPr id="14" name="Rectangle 13"/>
              <p:cNvSpPr>
                <a:spLocks noRot="1" noChangeAspect="1" noMove="1" noResize="1" noEditPoints="1" noAdjustHandles="1" noChangeArrowheads="1" noChangeShapeType="1" noTextEdit="1"/>
              </p:cNvSpPr>
              <p:nvPr/>
            </p:nvSpPr>
            <p:spPr>
              <a:xfrm>
                <a:off x="1600200" y="5101044"/>
                <a:ext cx="5639727" cy="969176"/>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5496521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idx="4294967295"/>
          </p:nvPr>
        </p:nvSpPr>
        <p:spPr bwMode="auto">
          <a:xfrm>
            <a:off x="228600" y="685800"/>
            <a:ext cx="8653462" cy="1219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vi-VN" altLang="en-US"/>
              <a:t>Quy tắc </a:t>
            </a:r>
            <a:r>
              <a:rPr lang="en-US" altLang="en-US"/>
              <a:t>làm tròn</a:t>
            </a:r>
            <a:r>
              <a:rPr lang="vi-VN" altLang="en-US"/>
              <a:t> cho ước </a:t>
            </a:r>
            <a:r>
              <a:rPr lang="en-US" altLang="en-US"/>
              <a:t>lượng</a:t>
            </a:r>
            <a:r>
              <a:rPr lang="vi-VN" altLang="en-US"/>
              <a:t> khoảng tin cậy của p</a:t>
            </a:r>
            <a:endParaRPr lang="en-US" altLang="en-US" i="1"/>
          </a:p>
        </p:txBody>
      </p:sp>
      <p:sp>
        <p:nvSpPr>
          <p:cNvPr id="98307" name="Rectangle 3"/>
          <p:cNvSpPr>
            <a:spLocks noGrp="1" noChangeArrowheads="1"/>
          </p:cNvSpPr>
          <p:nvPr>
            <p:ph type="body" idx="4294967295"/>
          </p:nvPr>
        </p:nvSpPr>
        <p:spPr bwMode="auto">
          <a:xfrm>
            <a:off x="0" y="2533650"/>
            <a:ext cx="8551863" cy="3581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algn="ctr">
              <a:spcBef>
                <a:spcPct val="0"/>
              </a:spcBef>
              <a:buFontTx/>
              <a:buChar char=" "/>
            </a:pPr>
            <a:r>
              <a:rPr lang="en-US" altLang="en-US" sz="3600" b="0"/>
              <a:t>Làm tròn giới hạn khoảng tin cậy cho p đến </a:t>
            </a:r>
            <a:r>
              <a:rPr lang="en-US" altLang="en-US" sz="3600" b="0">
                <a:solidFill>
                  <a:srgbClr val="FF0000"/>
                </a:solidFill>
              </a:rPr>
              <a:t>ba chữ số có nghĩa</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bwMode="auto">
          <a:xfrm>
            <a:off x="304800" y="457200"/>
            <a:ext cx="8305800" cy="5524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2800" dirty="0" err="1"/>
              <a:t>Ví</a:t>
            </a:r>
            <a:r>
              <a:rPr lang="en-US" altLang="en-US" sz="2800" dirty="0"/>
              <a:t> </a:t>
            </a:r>
            <a:r>
              <a:rPr lang="en-US" altLang="en-US" sz="2800" dirty="0" err="1"/>
              <a:t>dụ</a:t>
            </a:r>
            <a:endParaRPr lang="en-US" altLang="en-US" sz="2800" dirty="0">
              <a:solidFill>
                <a:schemeClr val="tx1"/>
              </a:solidFill>
            </a:endParaRPr>
          </a:p>
        </p:txBody>
      </p:sp>
      <p:sp>
        <p:nvSpPr>
          <p:cNvPr id="104451" name="Rectangle 5"/>
          <p:cNvSpPr>
            <a:spLocks noChangeArrowheads="1"/>
          </p:cNvSpPr>
          <p:nvPr/>
        </p:nvSpPr>
        <p:spPr bwMode="auto">
          <a:xfrm>
            <a:off x="1508125" y="3017838"/>
            <a:ext cx="420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sz="2400" b="0"/>
          </a:p>
        </p:txBody>
      </p:sp>
      <p:sp>
        <p:nvSpPr>
          <p:cNvPr id="104452" name="Rectangle 6"/>
          <p:cNvSpPr>
            <a:spLocks noChangeArrowheads="1"/>
          </p:cNvSpPr>
          <p:nvPr/>
        </p:nvSpPr>
        <p:spPr bwMode="auto">
          <a:xfrm>
            <a:off x="1736725" y="2989263"/>
            <a:ext cx="2968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sz="2400" b="0"/>
          </a:p>
        </p:txBody>
      </p:sp>
      <p:sp>
        <p:nvSpPr>
          <p:cNvPr id="104453" name="Rectangle 7"/>
          <p:cNvSpPr>
            <a:spLocks noChangeArrowheads="1"/>
          </p:cNvSpPr>
          <p:nvPr/>
        </p:nvSpPr>
        <p:spPr bwMode="auto">
          <a:xfrm>
            <a:off x="512763" y="3513138"/>
            <a:ext cx="26828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altLang="en-US" sz="2400" b="0">
                <a:solidFill>
                  <a:schemeClr val="hlink"/>
                </a:solidFill>
              </a:rPr>
              <a:t> </a:t>
            </a:r>
            <a:endParaRPr lang="en-US" altLang="en-US" sz="2400" b="0">
              <a:solidFill>
                <a:schemeClr val="tx2"/>
              </a:solidFill>
            </a:endParaRPr>
          </a:p>
          <a:p>
            <a:pPr>
              <a:lnSpc>
                <a:spcPct val="90000"/>
              </a:lnSpc>
              <a:spcBef>
                <a:spcPct val="30000"/>
              </a:spcBef>
            </a:pPr>
            <a:endParaRPr lang="en-US" altLang="en-US" sz="2400" b="0">
              <a:solidFill>
                <a:schemeClr val="tx2"/>
              </a:solidFill>
            </a:endParaRPr>
          </a:p>
        </p:txBody>
      </p:sp>
      <p:sp>
        <p:nvSpPr>
          <p:cNvPr id="104454" name="Rectangle 10"/>
          <p:cNvSpPr>
            <a:spLocks noChangeArrowheads="1"/>
          </p:cNvSpPr>
          <p:nvPr/>
        </p:nvSpPr>
        <p:spPr bwMode="auto">
          <a:xfrm>
            <a:off x="76200" y="833438"/>
            <a:ext cx="9067799"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11113" indent="-11113">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vi-VN" altLang="en-US" sz="2400" b="0" dirty="0"/>
              <a:t>Trong một cuộc thăm dò ý kiến ​​của Trung tâm nghiên cứu Pew của 1007 người lớn được lựa chọn ngẫu nhiên cho thấy 85% người được hỏi biết rằng Twitter là gì. Kết quả mẫu là n = 1007 và</a:t>
            </a:r>
            <a:r>
              <a:rPr lang="en-US" altLang="en-US" sz="2400" b="0" dirty="0"/>
              <a:t> </a:t>
            </a:r>
          </a:p>
        </p:txBody>
      </p:sp>
      <p:graphicFrame>
        <p:nvGraphicFramePr>
          <p:cNvPr id="104455" name="Object 11"/>
          <p:cNvGraphicFramePr>
            <a:graphicFrameLocks noChangeAspect="1"/>
          </p:cNvGraphicFramePr>
          <p:nvPr>
            <p:extLst>
              <p:ext uri="{D42A27DB-BD31-4B8C-83A1-F6EECF244321}">
                <p14:modId xmlns:p14="http://schemas.microsoft.com/office/powerpoint/2010/main" val="2983814270"/>
              </p:ext>
            </p:extLst>
          </p:nvPr>
        </p:nvGraphicFramePr>
        <p:xfrm>
          <a:off x="685800" y="1828800"/>
          <a:ext cx="1206500" cy="368300"/>
        </p:xfrm>
        <a:graphic>
          <a:graphicData uri="http://schemas.openxmlformats.org/presentationml/2006/ole">
            <mc:AlternateContent xmlns:mc="http://schemas.openxmlformats.org/markup-compatibility/2006">
              <mc:Choice xmlns:v="urn:schemas-microsoft-com:vml" Requires="v">
                <p:oleObj name="Equation" r:id="rId3" imgW="1206500" imgH="368300" progId="Equation.DSMT4">
                  <p:embed/>
                </p:oleObj>
              </mc:Choice>
              <mc:Fallback>
                <p:oleObj name="Equation" r:id="rId3" imgW="1206500" imgH="3683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828800"/>
                        <a:ext cx="12065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3"/>
          <p:cNvSpPr txBox="1">
            <a:spLocks noChangeArrowheads="1"/>
          </p:cNvSpPr>
          <p:nvPr/>
        </p:nvSpPr>
        <p:spPr bwMode="auto">
          <a:xfrm>
            <a:off x="0" y="2698750"/>
            <a:ext cx="9144000" cy="29400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285750" indent="-285750" algn="l" rtl="0" eaLnBrk="0" fontAlgn="base" hangingPunct="0">
              <a:lnSpc>
                <a:spcPct val="90000"/>
              </a:lnSpc>
              <a:spcBef>
                <a:spcPct val="30000"/>
              </a:spcBef>
              <a:spcAft>
                <a:spcPct val="0"/>
              </a:spcAft>
              <a:buSzPct val="100000"/>
              <a:buChar char="•"/>
              <a:defRPr sz="2400" b="1">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tx1"/>
                </a:solidFill>
                <a:latin typeface="+mn-lt"/>
              </a:defRPr>
            </a:lvl2pPr>
            <a:lvl3pPr marL="1143000" indent="-228600" algn="l" rtl="0" eaLnBrk="0" fontAlgn="base" hangingPunct="0">
              <a:lnSpc>
                <a:spcPct val="90000"/>
              </a:lnSpc>
              <a:spcBef>
                <a:spcPct val="30000"/>
              </a:spcBef>
              <a:spcAft>
                <a:spcPct val="0"/>
              </a:spcAft>
              <a:buSzPct val="100000"/>
              <a:buChar char="»"/>
              <a:defRPr b="1">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defRPr>
            </a:lvl4pPr>
            <a:lvl5pPr marL="2000250" indent="-171450" algn="ctr" rtl="0" eaLnBrk="0" fontAlgn="base" hangingPunct="0">
              <a:lnSpc>
                <a:spcPct val="90000"/>
              </a:lnSpc>
              <a:spcBef>
                <a:spcPct val="30000"/>
              </a:spcBef>
              <a:spcAft>
                <a:spcPct val="0"/>
              </a:spcAft>
              <a:defRPr sz="800">
                <a:solidFill>
                  <a:schemeClr val="tx1"/>
                </a:solidFill>
                <a:latin typeface="Times New Roman" pitchFamily="18" charset="0"/>
              </a:defRPr>
            </a:lvl5pPr>
            <a:lvl6pPr marL="2457450" indent="-171450" algn="ctr" rtl="0" eaLnBrk="0" fontAlgn="base" hangingPunct="0">
              <a:lnSpc>
                <a:spcPct val="90000"/>
              </a:lnSpc>
              <a:spcBef>
                <a:spcPct val="30000"/>
              </a:spcBef>
              <a:spcAft>
                <a:spcPct val="0"/>
              </a:spcAft>
              <a:defRPr sz="800">
                <a:solidFill>
                  <a:schemeClr val="tx1"/>
                </a:solidFill>
                <a:latin typeface="Times New Roman" pitchFamily="18" charset="0"/>
              </a:defRPr>
            </a:lvl6pPr>
            <a:lvl7pPr marL="2914650" indent="-171450" algn="ctr" rtl="0" eaLnBrk="0" fontAlgn="base" hangingPunct="0">
              <a:lnSpc>
                <a:spcPct val="90000"/>
              </a:lnSpc>
              <a:spcBef>
                <a:spcPct val="30000"/>
              </a:spcBef>
              <a:spcAft>
                <a:spcPct val="0"/>
              </a:spcAft>
              <a:defRPr sz="800">
                <a:solidFill>
                  <a:schemeClr val="tx1"/>
                </a:solidFill>
                <a:latin typeface="Times New Roman" pitchFamily="18" charset="0"/>
              </a:defRPr>
            </a:lvl7pPr>
            <a:lvl8pPr marL="3371850" indent="-171450" algn="ctr" rtl="0" eaLnBrk="0" fontAlgn="base" hangingPunct="0">
              <a:lnSpc>
                <a:spcPct val="90000"/>
              </a:lnSpc>
              <a:spcBef>
                <a:spcPct val="30000"/>
              </a:spcBef>
              <a:spcAft>
                <a:spcPct val="0"/>
              </a:spcAft>
              <a:defRPr sz="800">
                <a:solidFill>
                  <a:schemeClr val="tx1"/>
                </a:solidFill>
                <a:latin typeface="Times New Roman" pitchFamily="18" charset="0"/>
              </a:defRPr>
            </a:lvl8pPr>
            <a:lvl9pPr marL="3829050" indent="-171450" algn="ctr" rtl="0" eaLnBrk="0" fontAlgn="base" hangingPunct="0">
              <a:lnSpc>
                <a:spcPct val="90000"/>
              </a:lnSpc>
              <a:spcBef>
                <a:spcPct val="30000"/>
              </a:spcBef>
              <a:spcAft>
                <a:spcPct val="0"/>
              </a:spcAft>
              <a:defRPr sz="800">
                <a:solidFill>
                  <a:schemeClr val="tx1"/>
                </a:solidFill>
                <a:latin typeface="Times New Roman" pitchFamily="18" charset="0"/>
              </a:defRPr>
            </a:lvl9pPr>
          </a:lstStyle>
          <a:p>
            <a:pPr marL="406400" indent="-406400">
              <a:buFont typeface="Wingdings" panose="05000000000000000000" pitchFamily="2" charset="2"/>
              <a:buNone/>
              <a:defRPr/>
            </a:pPr>
            <a:r>
              <a:rPr lang="en-US" altLang="en-US" b="0" kern="0" dirty="0"/>
              <a:t>a.	</a:t>
            </a:r>
            <a:r>
              <a:rPr lang="vi-VN" altLang="en-US" b="0" kern="0" dirty="0"/>
              <a:t>Tìm</a:t>
            </a:r>
            <a:r>
              <a:rPr lang="en-US" altLang="en-US" b="0" kern="0" dirty="0"/>
              <a:t> </a:t>
            </a:r>
            <a:r>
              <a:rPr lang="en-US" altLang="en-US" b="0" kern="0" dirty="0" err="1"/>
              <a:t>biên</a:t>
            </a:r>
            <a:r>
              <a:rPr lang="en-US" altLang="en-US" b="0" kern="0" dirty="0"/>
              <a:t> </a:t>
            </a:r>
            <a:r>
              <a:rPr lang="en-US" altLang="en-US" b="0" kern="0" dirty="0" err="1"/>
              <a:t>độ</a:t>
            </a:r>
            <a:r>
              <a:rPr lang="vi-VN" altLang="en-US" b="0" kern="0" dirty="0"/>
              <a:t> lỗi E tương ứng với mức tin cậy 95%</a:t>
            </a:r>
            <a:r>
              <a:rPr lang="en-US" altLang="en-US" b="0" kern="0" dirty="0"/>
              <a:t>.</a:t>
            </a:r>
          </a:p>
          <a:p>
            <a:pPr marL="406400" indent="-406400">
              <a:buFont typeface="Wingdings" panose="05000000000000000000" pitchFamily="2" charset="2"/>
              <a:buNone/>
              <a:defRPr/>
            </a:pPr>
            <a:r>
              <a:rPr lang="en-US" altLang="en-US" b="0" kern="0" dirty="0"/>
              <a:t>b.	</a:t>
            </a:r>
            <a:r>
              <a:rPr lang="en-US" altLang="en-US" b="0" kern="0" dirty="0" err="1"/>
              <a:t>Ước</a:t>
            </a:r>
            <a:r>
              <a:rPr lang="en-US" altLang="en-US" b="0" kern="0" dirty="0"/>
              <a:t> </a:t>
            </a:r>
            <a:r>
              <a:rPr lang="en-US" altLang="en-US" b="0" kern="0" dirty="0" err="1"/>
              <a:t>lượng</a:t>
            </a:r>
            <a:r>
              <a:rPr lang="vi-VN" altLang="en-US" b="0" kern="0" dirty="0"/>
              <a:t> khoảng </a:t>
            </a:r>
            <a:r>
              <a:rPr lang="en-US" altLang="en-US" b="0" kern="0" dirty="0"/>
              <a:t>tin </a:t>
            </a:r>
            <a:r>
              <a:rPr lang="en-US" altLang="en-US" b="0" kern="0" dirty="0" err="1"/>
              <a:t>cậy</a:t>
            </a:r>
            <a:r>
              <a:rPr lang="en-US" altLang="en-US" b="0" kern="0" dirty="0"/>
              <a:t> </a:t>
            </a:r>
            <a:r>
              <a:rPr lang="vi-VN" altLang="en-US" b="0" kern="0" dirty="0"/>
              <a:t>của tỷ lệ </a:t>
            </a:r>
            <a:r>
              <a:rPr lang="en-US" altLang="en-US" b="0" kern="0" dirty="0" err="1"/>
              <a:t>quần</a:t>
            </a:r>
            <a:r>
              <a:rPr lang="en-US" altLang="en-US" b="0" kern="0" dirty="0"/>
              <a:t> </a:t>
            </a:r>
            <a:r>
              <a:rPr lang="en-US" altLang="en-US" b="0" kern="0" dirty="0" err="1"/>
              <a:t>thể</a:t>
            </a:r>
            <a:r>
              <a:rPr lang="en-US" altLang="en-US" b="0" kern="0" dirty="0"/>
              <a:t> </a:t>
            </a:r>
            <a:r>
              <a:rPr lang="vi-VN" altLang="en-US" b="0" kern="0" dirty="0"/>
              <a:t>p </a:t>
            </a:r>
            <a:r>
              <a:rPr lang="en-US" altLang="en-US" b="0" kern="0" dirty="0" err="1"/>
              <a:t>với</a:t>
            </a:r>
            <a:r>
              <a:rPr lang="en-US" altLang="en-US" b="0" kern="0" dirty="0"/>
              <a:t> </a:t>
            </a:r>
            <a:r>
              <a:rPr lang="en-US" altLang="en-US" b="0" kern="0" dirty="0" err="1"/>
              <a:t>mức</a:t>
            </a:r>
            <a:r>
              <a:rPr lang="en-US" altLang="en-US" b="0" kern="0" dirty="0"/>
              <a:t> </a:t>
            </a:r>
            <a:r>
              <a:rPr lang="vi-VN" altLang="en-US" b="0" kern="0" dirty="0"/>
              <a:t>tin cậy </a:t>
            </a:r>
            <a:r>
              <a:rPr lang="en-US" altLang="en-US" b="0" kern="0" dirty="0" err="1"/>
              <a:t>là</a:t>
            </a:r>
            <a:r>
              <a:rPr lang="en-US" altLang="en-US" b="0" kern="0" dirty="0"/>
              <a:t> </a:t>
            </a:r>
            <a:r>
              <a:rPr lang="vi-VN" altLang="en-US" b="0" kern="0" dirty="0"/>
              <a:t>95%</a:t>
            </a:r>
            <a:r>
              <a:rPr lang="en-US" altLang="en-US" b="0" kern="0" dirty="0"/>
              <a:t>.</a:t>
            </a:r>
          </a:p>
          <a:p>
            <a:pPr marL="406400" indent="-406400">
              <a:buFont typeface="Wingdings" panose="05000000000000000000" pitchFamily="2" charset="2"/>
              <a:buNone/>
              <a:defRPr/>
            </a:pPr>
            <a:r>
              <a:rPr lang="en-US" altLang="en-US" b="0" kern="0" dirty="0"/>
              <a:t>c.	</a:t>
            </a:r>
            <a:r>
              <a:rPr lang="vi-VN" altLang="en-US" b="0" kern="0" dirty="0"/>
              <a:t>Dựa trên kết quả, chúng ta có thể kết luận một cách </a:t>
            </a:r>
            <a:r>
              <a:rPr lang="en-US" altLang="en-US" b="0" kern="0" dirty="0" err="1"/>
              <a:t>chắc</a:t>
            </a:r>
            <a:r>
              <a:rPr lang="en-US" altLang="en-US" b="0" kern="0" dirty="0"/>
              <a:t> </a:t>
            </a:r>
            <a:r>
              <a:rPr lang="en-US" altLang="en-US" b="0" kern="0" dirty="0" err="1"/>
              <a:t>chắc</a:t>
            </a:r>
            <a:r>
              <a:rPr lang="vi-VN" altLang="en-US" b="0" kern="0" dirty="0"/>
              <a:t> rằng hơn 75% người lớn biết Twitter là gì không</a:t>
            </a:r>
            <a:r>
              <a:rPr lang="en-US" altLang="en-US" b="0" kern="0" dirty="0"/>
              <a:t>?</a:t>
            </a:r>
          </a:p>
          <a:p>
            <a:pPr marL="406400" indent="-406400">
              <a:buFont typeface="Wingdings" panose="05000000000000000000" pitchFamily="2" charset="2"/>
              <a:buNone/>
              <a:defRPr/>
            </a:pPr>
            <a:r>
              <a:rPr lang="en-US" altLang="en-US" b="0" kern="0" dirty="0"/>
              <a:t>d.	</a:t>
            </a:r>
            <a:r>
              <a:rPr lang="en-US" altLang="en-US" b="0" kern="0" dirty="0" err="1"/>
              <a:t>Giả</a:t>
            </a:r>
            <a:r>
              <a:rPr lang="en-US" altLang="en-US" b="0" kern="0" dirty="0"/>
              <a:t> </a:t>
            </a:r>
            <a:r>
              <a:rPr lang="en-US" altLang="en-US" b="0" kern="0" dirty="0" err="1"/>
              <a:t>sử</a:t>
            </a:r>
            <a:r>
              <a:rPr lang="en-US" altLang="en-US" b="0" kern="0" dirty="0"/>
              <a:t> </a:t>
            </a:r>
            <a:r>
              <a:rPr lang="en-US" altLang="en-US" b="0" kern="0" dirty="0" err="1"/>
              <a:t>bạn</a:t>
            </a:r>
            <a:r>
              <a:rPr lang="en-US" altLang="en-US" b="0" kern="0" dirty="0"/>
              <a:t> </a:t>
            </a:r>
            <a:r>
              <a:rPr lang="en-US" altLang="en-US" b="0" kern="0" dirty="0" err="1"/>
              <a:t>là</a:t>
            </a:r>
            <a:r>
              <a:rPr lang="en-US" altLang="en-US" b="0" kern="0" dirty="0"/>
              <a:t> </a:t>
            </a:r>
            <a:r>
              <a:rPr lang="en-US" altLang="en-US" b="0" kern="0" dirty="0" err="1"/>
              <a:t>phóng</a:t>
            </a:r>
            <a:r>
              <a:rPr lang="en-US" altLang="en-US" b="0" kern="0" dirty="0"/>
              <a:t> </a:t>
            </a:r>
            <a:r>
              <a:rPr lang="en-US" altLang="en-US" b="0" kern="0" dirty="0" err="1"/>
              <a:t>viên</a:t>
            </a:r>
            <a:r>
              <a:rPr lang="en-US" altLang="en-US" b="0" kern="0" dirty="0"/>
              <a:t> </a:t>
            </a:r>
            <a:r>
              <a:rPr lang="en-US" altLang="en-US" b="0" kern="0" dirty="0" err="1"/>
              <a:t>báo</a:t>
            </a:r>
            <a:r>
              <a:rPr lang="en-US" altLang="en-US" b="0" kern="0" dirty="0"/>
              <a:t>, </a:t>
            </a:r>
            <a:r>
              <a:rPr lang="en-US" altLang="en-US" b="0" kern="0" dirty="0" err="1"/>
              <a:t>viết</a:t>
            </a:r>
            <a:r>
              <a:rPr lang="en-US" altLang="en-US" b="0" kern="0" dirty="0"/>
              <a:t> </a:t>
            </a:r>
            <a:r>
              <a:rPr lang="en-US" altLang="en-US" b="0" kern="0" dirty="0" err="1"/>
              <a:t>một</a:t>
            </a:r>
            <a:r>
              <a:rPr lang="en-US" altLang="en-US" b="0" kern="0" dirty="0"/>
              <a:t> </a:t>
            </a:r>
            <a:r>
              <a:rPr lang="en-US" altLang="en-US" b="0" kern="0" dirty="0" err="1"/>
              <a:t>phát</a:t>
            </a:r>
            <a:r>
              <a:rPr lang="en-US" altLang="en-US" b="0" kern="0" dirty="0"/>
              <a:t> </a:t>
            </a:r>
            <a:r>
              <a:rPr lang="en-US" altLang="en-US" b="0" kern="0" dirty="0" err="1"/>
              <a:t>biểu</a:t>
            </a:r>
            <a:r>
              <a:rPr lang="en-US" altLang="en-US" b="0" kern="0" dirty="0"/>
              <a:t> </a:t>
            </a:r>
            <a:r>
              <a:rPr lang="en-US" altLang="en-US" b="0" kern="0" dirty="0" err="1"/>
              <a:t>ngắn</a:t>
            </a:r>
            <a:r>
              <a:rPr lang="en-US" altLang="en-US" b="0" kern="0" dirty="0"/>
              <a:t> </a:t>
            </a:r>
            <a:r>
              <a:rPr lang="en-US" altLang="en-US" b="0" kern="0" dirty="0" err="1"/>
              <a:t>gọn</a:t>
            </a:r>
            <a:r>
              <a:rPr lang="en-US" altLang="en-US" b="0" kern="0" dirty="0"/>
              <a:t> </a:t>
            </a:r>
            <a:r>
              <a:rPr lang="en-US" altLang="en-US" b="0" kern="0" dirty="0" err="1"/>
              <a:t>mô</a:t>
            </a:r>
            <a:r>
              <a:rPr lang="en-US" altLang="en-US" b="0" kern="0" dirty="0"/>
              <a:t> </a:t>
            </a:r>
            <a:r>
              <a:rPr lang="en-US" altLang="en-US" b="0" kern="0" dirty="0" err="1"/>
              <a:t>tả</a:t>
            </a:r>
            <a:r>
              <a:rPr lang="en-US" altLang="en-US" b="0" kern="0" dirty="0"/>
              <a:t> </a:t>
            </a:r>
            <a:r>
              <a:rPr lang="en-US" altLang="en-US" b="0" kern="0" dirty="0" err="1"/>
              <a:t>chính</a:t>
            </a:r>
            <a:r>
              <a:rPr lang="en-US" altLang="en-US" b="0" kern="0" dirty="0"/>
              <a:t> </a:t>
            </a:r>
            <a:r>
              <a:rPr lang="en-US" altLang="en-US" b="0" kern="0" dirty="0" err="1"/>
              <a:t>xác</a:t>
            </a:r>
            <a:r>
              <a:rPr lang="en-US" altLang="en-US" b="0" kern="0" dirty="0"/>
              <a:t> </a:t>
            </a:r>
            <a:r>
              <a:rPr lang="en-US" altLang="en-US" b="0" kern="0" dirty="0" err="1"/>
              <a:t>kết</a:t>
            </a:r>
            <a:r>
              <a:rPr lang="en-US" altLang="en-US" b="0" kern="0" dirty="0"/>
              <a:t> </a:t>
            </a:r>
            <a:r>
              <a:rPr lang="en-US" altLang="en-US" b="0" kern="0" dirty="0" err="1"/>
              <a:t>quả</a:t>
            </a:r>
            <a:r>
              <a:rPr lang="en-US" altLang="en-US" b="0" kern="0" dirty="0"/>
              <a:t> </a:t>
            </a:r>
            <a:r>
              <a:rPr lang="en-US" altLang="en-US" b="0" kern="0" dirty="0" err="1"/>
              <a:t>trong</a:t>
            </a:r>
            <a:r>
              <a:rPr lang="en-US" altLang="en-US" b="0" kern="0" dirty="0"/>
              <a:t> </a:t>
            </a:r>
            <a:r>
              <a:rPr lang="en-US" altLang="en-US" b="0" kern="0" dirty="0" err="1"/>
              <a:t>đó</a:t>
            </a:r>
            <a:r>
              <a:rPr lang="en-US" altLang="en-US" b="0" kern="0" dirty="0"/>
              <a:t> </a:t>
            </a:r>
            <a:r>
              <a:rPr lang="en-US" altLang="en-US" b="0" kern="0" dirty="0" err="1"/>
              <a:t>bao</a:t>
            </a:r>
            <a:r>
              <a:rPr lang="en-US" altLang="en-US" b="0" kern="0" dirty="0"/>
              <a:t> </a:t>
            </a:r>
            <a:r>
              <a:rPr lang="en-US" altLang="en-US" b="0" kern="0" dirty="0" err="1"/>
              <a:t>gồm</a:t>
            </a:r>
            <a:r>
              <a:rPr lang="en-US" altLang="en-US" b="0" kern="0" dirty="0"/>
              <a:t> </a:t>
            </a:r>
            <a:r>
              <a:rPr lang="en-US" altLang="en-US" b="0" kern="0" dirty="0" err="1"/>
              <a:t>tất</a:t>
            </a:r>
            <a:r>
              <a:rPr lang="en-US" altLang="en-US" b="0" kern="0" dirty="0"/>
              <a:t> </a:t>
            </a:r>
            <a:r>
              <a:rPr lang="en-US" altLang="en-US" b="0" kern="0" dirty="0" err="1"/>
              <a:t>cả</a:t>
            </a:r>
            <a:r>
              <a:rPr lang="en-US" altLang="en-US" b="0" kern="0" dirty="0"/>
              <a:t> </a:t>
            </a:r>
            <a:r>
              <a:rPr lang="en-US" altLang="en-US" b="0" kern="0" dirty="0" err="1"/>
              <a:t>thông</a:t>
            </a:r>
            <a:r>
              <a:rPr lang="en-US" altLang="en-US" b="0" kern="0" dirty="0"/>
              <a:t> tin </a:t>
            </a:r>
            <a:r>
              <a:rPr lang="en-US" altLang="en-US" b="0" kern="0" dirty="0" err="1"/>
              <a:t>liên</a:t>
            </a:r>
            <a:r>
              <a:rPr lang="en-US" altLang="en-US" b="0" kern="0" dirty="0"/>
              <a:t> </a:t>
            </a:r>
            <a:r>
              <a:rPr lang="en-US" altLang="en-US" b="0" kern="0" dirty="0" err="1"/>
              <a:t>quan</a:t>
            </a:r>
            <a:r>
              <a:rPr lang="en-US" altLang="en-US" b="0" kern="0" dirty="0"/>
              <a:t>.</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Grp="1" noChangeArrowheads="1"/>
          </p:cNvSpPr>
          <p:nvPr>
            <p:ph type="body" idx="4294967295"/>
          </p:nvPr>
        </p:nvSpPr>
        <p:spPr bwMode="auto">
          <a:xfrm>
            <a:off x="0" y="881063"/>
            <a:ext cx="7772400" cy="2379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11113" indent="-11113">
              <a:lnSpc>
                <a:spcPct val="88000"/>
              </a:lnSpc>
              <a:buFont typeface="Wingdings" panose="05000000000000000000" pitchFamily="2" charset="2"/>
              <a:buNone/>
            </a:pPr>
            <a:r>
              <a:rPr lang="vi-VN" altLang="en-US"/>
              <a:t>Kiểm tra yêu cầu: </a:t>
            </a:r>
            <a:r>
              <a:rPr lang="vi-VN" altLang="en-US" b="0"/>
              <a:t>mẫu ngẫu nhiên đơn giản; số thử nghiệm cố định, 1007; các thử nghiệm độc lập; hai kết quả cho mỗi thử nghiệm; xác suất vẫn không đổi. Lưu ý: số lần thành công và thất bại đều là ít nhất 5</a:t>
            </a:r>
            <a:r>
              <a:rPr lang="en-US" altLang="en-US" b="0"/>
              <a:t>.</a:t>
            </a:r>
          </a:p>
        </p:txBody>
      </p:sp>
      <p:sp>
        <p:nvSpPr>
          <p:cNvPr id="106499" name="Rectangle 4"/>
          <p:cNvSpPr>
            <a:spLocks noChangeArrowheads="1"/>
          </p:cNvSpPr>
          <p:nvPr/>
        </p:nvSpPr>
        <p:spPr bwMode="auto">
          <a:xfrm>
            <a:off x="1914525" y="2528888"/>
            <a:ext cx="3540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6500" name="Rectangle 5"/>
          <p:cNvSpPr>
            <a:spLocks noChangeArrowheads="1"/>
          </p:cNvSpPr>
          <p:nvPr/>
        </p:nvSpPr>
        <p:spPr bwMode="auto">
          <a:xfrm>
            <a:off x="1584325" y="3281363"/>
            <a:ext cx="420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6501" name="Rectangle 6"/>
          <p:cNvSpPr>
            <a:spLocks noChangeArrowheads="1"/>
          </p:cNvSpPr>
          <p:nvPr/>
        </p:nvSpPr>
        <p:spPr bwMode="auto">
          <a:xfrm>
            <a:off x="1812925" y="3252788"/>
            <a:ext cx="2968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6502" name="Rectangle 7"/>
          <p:cNvSpPr>
            <a:spLocks noChangeArrowheads="1"/>
          </p:cNvSpPr>
          <p:nvPr/>
        </p:nvSpPr>
        <p:spPr bwMode="auto">
          <a:xfrm>
            <a:off x="588963" y="3776663"/>
            <a:ext cx="26828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altLang="en-US" sz="2400" b="0">
                <a:solidFill>
                  <a:schemeClr val="hlink"/>
                </a:solidFill>
              </a:rPr>
              <a:t> </a:t>
            </a:r>
            <a:endParaRPr lang="en-US" altLang="en-US" sz="2400" b="0">
              <a:solidFill>
                <a:schemeClr val="tx2"/>
              </a:solidFill>
            </a:endParaRPr>
          </a:p>
          <a:p>
            <a:pPr>
              <a:lnSpc>
                <a:spcPct val="90000"/>
              </a:lnSpc>
              <a:spcBef>
                <a:spcPct val="30000"/>
              </a:spcBef>
            </a:pPr>
            <a:endParaRPr lang="en-US" altLang="en-US" sz="2400" b="0">
              <a:solidFill>
                <a:schemeClr val="tx2"/>
              </a:solidFill>
            </a:endParaRPr>
          </a:p>
        </p:txBody>
      </p:sp>
      <p:sp>
        <p:nvSpPr>
          <p:cNvPr id="106503" name="Rectangle 8"/>
          <p:cNvSpPr>
            <a:spLocks noChangeArrowheads="1"/>
          </p:cNvSpPr>
          <p:nvPr/>
        </p:nvSpPr>
        <p:spPr bwMode="auto">
          <a:xfrm>
            <a:off x="1965325" y="4391025"/>
            <a:ext cx="89058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6504" name="Rectangle 9"/>
          <p:cNvSpPr>
            <a:spLocks noChangeArrowheads="1"/>
          </p:cNvSpPr>
          <p:nvPr/>
        </p:nvSpPr>
        <p:spPr bwMode="auto">
          <a:xfrm>
            <a:off x="669925" y="4819650"/>
            <a:ext cx="58070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6505" name="Rectangle 26"/>
          <p:cNvSpPr>
            <a:spLocks noChangeArrowheads="1"/>
          </p:cNvSpPr>
          <p:nvPr/>
        </p:nvSpPr>
        <p:spPr bwMode="auto">
          <a:xfrm>
            <a:off x="381000" y="457200"/>
            <a:ext cx="83058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pPr>
            <a:r>
              <a:rPr lang="en-US" altLang="en-US" sz="3200" dirty="0" err="1">
                <a:solidFill>
                  <a:srgbClr val="008000"/>
                </a:solidFill>
              </a:rPr>
              <a:t>Ví</a:t>
            </a:r>
            <a:r>
              <a:rPr lang="en-US" altLang="en-US" sz="3200" dirty="0">
                <a:solidFill>
                  <a:srgbClr val="008000"/>
                </a:solidFill>
              </a:rPr>
              <a:t> </a:t>
            </a:r>
            <a:r>
              <a:rPr lang="en-US" altLang="en-US" sz="3200" dirty="0" err="1">
                <a:solidFill>
                  <a:srgbClr val="008000"/>
                </a:solidFill>
              </a:rPr>
              <a:t>dụ</a:t>
            </a:r>
            <a:r>
              <a:rPr lang="en-US" altLang="en-US" sz="3200" dirty="0">
                <a:solidFill>
                  <a:srgbClr val="008000"/>
                </a:solidFill>
              </a:rPr>
              <a:t> (</a:t>
            </a:r>
            <a:r>
              <a:rPr lang="en-US" altLang="en-US" sz="3200" dirty="0" err="1">
                <a:solidFill>
                  <a:srgbClr val="008000"/>
                </a:solidFill>
              </a:rPr>
              <a:t>tt</a:t>
            </a:r>
            <a:r>
              <a:rPr lang="en-US" altLang="en-US" sz="3200" dirty="0">
                <a:solidFill>
                  <a:srgbClr val="008000"/>
                </a:solidFill>
              </a:rPr>
              <a:t>)</a:t>
            </a:r>
            <a:endParaRPr lang="en-US" altLang="en-US" sz="3200" dirty="0"/>
          </a:p>
        </p:txBody>
      </p:sp>
      <p:sp>
        <p:nvSpPr>
          <p:cNvPr id="106506" name="Rectangle 28"/>
          <p:cNvSpPr>
            <a:spLocks noChangeArrowheads="1"/>
          </p:cNvSpPr>
          <p:nvPr/>
        </p:nvSpPr>
        <p:spPr bwMode="auto">
          <a:xfrm>
            <a:off x="673100" y="2438400"/>
            <a:ext cx="81803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406400" indent="-406400">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88000"/>
              </a:lnSpc>
              <a:spcBef>
                <a:spcPct val="30000"/>
              </a:spcBef>
              <a:buClr>
                <a:schemeClr val="accent2"/>
              </a:buClr>
              <a:buFont typeface="Wingdings" panose="05000000000000000000" pitchFamily="2" charset="2"/>
              <a:buNone/>
            </a:pPr>
            <a:r>
              <a:rPr lang="en-US" altLang="en-US" sz="2400" b="0"/>
              <a:t>a) Sử dụng công thức để tìm biên độ của lỗi</a:t>
            </a:r>
          </a:p>
        </p:txBody>
      </p:sp>
      <p:graphicFrame>
        <p:nvGraphicFramePr>
          <p:cNvPr id="106507" name="Object 29"/>
          <p:cNvGraphicFramePr>
            <a:graphicFrameLocks noChangeAspect="1"/>
          </p:cNvGraphicFramePr>
          <p:nvPr/>
        </p:nvGraphicFramePr>
        <p:xfrm>
          <a:off x="996950" y="3200400"/>
          <a:ext cx="6554788" cy="1879600"/>
        </p:xfrm>
        <a:graphic>
          <a:graphicData uri="http://schemas.openxmlformats.org/presentationml/2006/ole">
            <mc:AlternateContent xmlns:mc="http://schemas.openxmlformats.org/markup-compatibility/2006">
              <mc:Choice xmlns:v="urn:schemas-microsoft-com:vml" Requires="v">
                <p:oleObj name="Equation" r:id="rId3" imgW="6553200" imgH="1879600" progId="Equation.DSMT4">
                  <p:embed/>
                </p:oleObj>
              </mc:Choice>
              <mc:Fallback>
                <p:oleObj name="Equation" r:id="rId3" imgW="6553200" imgH="1879600"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950" y="3200400"/>
                        <a:ext cx="6554788" cy="187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type="body" idx="4294967295"/>
          </p:nvPr>
        </p:nvSpPr>
        <p:spPr bwMode="auto">
          <a:xfrm>
            <a:off x="0" y="885825"/>
            <a:ext cx="7772400" cy="71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406400" indent="-406400">
              <a:lnSpc>
                <a:spcPct val="88000"/>
              </a:lnSpc>
              <a:buFont typeface="Wingdings" panose="05000000000000000000" pitchFamily="2" charset="2"/>
              <a:buNone/>
            </a:pPr>
            <a:r>
              <a:rPr lang="en-US" altLang="en-US" b="0"/>
              <a:t>b) Khoảng tin cậy 95%:</a:t>
            </a:r>
          </a:p>
        </p:txBody>
      </p:sp>
      <p:sp>
        <p:nvSpPr>
          <p:cNvPr id="108547" name="Rectangle 4"/>
          <p:cNvSpPr>
            <a:spLocks noChangeArrowheads="1"/>
          </p:cNvSpPr>
          <p:nvPr/>
        </p:nvSpPr>
        <p:spPr bwMode="auto">
          <a:xfrm>
            <a:off x="2143125" y="2884488"/>
            <a:ext cx="3540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8548" name="Rectangle 5"/>
          <p:cNvSpPr>
            <a:spLocks noChangeArrowheads="1"/>
          </p:cNvSpPr>
          <p:nvPr/>
        </p:nvSpPr>
        <p:spPr bwMode="auto">
          <a:xfrm>
            <a:off x="1812925" y="3498850"/>
            <a:ext cx="420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8549" name="Rectangle 6"/>
          <p:cNvSpPr>
            <a:spLocks noChangeArrowheads="1"/>
          </p:cNvSpPr>
          <p:nvPr/>
        </p:nvSpPr>
        <p:spPr bwMode="auto">
          <a:xfrm>
            <a:off x="2041525" y="3470275"/>
            <a:ext cx="29686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8550" name="Rectangle 7"/>
          <p:cNvSpPr>
            <a:spLocks noChangeArrowheads="1"/>
          </p:cNvSpPr>
          <p:nvPr/>
        </p:nvSpPr>
        <p:spPr bwMode="auto">
          <a:xfrm>
            <a:off x="817563" y="3994150"/>
            <a:ext cx="268287"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altLang="en-US" sz="2400" b="0">
                <a:solidFill>
                  <a:schemeClr val="hlink"/>
                </a:solidFill>
              </a:rPr>
              <a:t> </a:t>
            </a:r>
            <a:endParaRPr lang="en-US" altLang="en-US" sz="2400" b="0">
              <a:solidFill>
                <a:schemeClr val="tx2"/>
              </a:solidFill>
            </a:endParaRPr>
          </a:p>
          <a:p>
            <a:pPr>
              <a:lnSpc>
                <a:spcPct val="90000"/>
              </a:lnSpc>
              <a:spcBef>
                <a:spcPct val="30000"/>
              </a:spcBef>
            </a:pPr>
            <a:endParaRPr lang="en-US" altLang="en-US" sz="2400" b="0">
              <a:solidFill>
                <a:schemeClr val="tx2"/>
              </a:solidFill>
            </a:endParaRPr>
          </a:p>
        </p:txBody>
      </p:sp>
      <p:sp>
        <p:nvSpPr>
          <p:cNvPr id="108551" name="Rectangle 8"/>
          <p:cNvSpPr>
            <a:spLocks noChangeArrowheads="1"/>
          </p:cNvSpPr>
          <p:nvPr/>
        </p:nvSpPr>
        <p:spPr bwMode="auto">
          <a:xfrm>
            <a:off x="2193925" y="4608513"/>
            <a:ext cx="89058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8552" name="Rectangle 9"/>
          <p:cNvSpPr>
            <a:spLocks noChangeArrowheads="1"/>
          </p:cNvSpPr>
          <p:nvPr/>
        </p:nvSpPr>
        <p:spPr bwMode="auto">
          <a:xfrm>
            <a:off x="593725" y="4694238"/>
            <a:ext cx="58070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08553" name="Rectangle 27"/>
          <p:cNvSpPr>
            <a:spLocks noChangeArrowheads="1"/>
          </p:cNvSpPr>
          <p:nvPr/>
        </p:nvSpPr>
        <p:spPr bwMode="auto">
          <a:xfrm>
            <a:off x="457200" y="457200"/>
            <a:ext cx="83058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pPr>
            <a:r>
              <a:rPr lang="en-US" altLang="en-US" sz="3200">
                <a:solidFill>
                  <a:srgbClr val="008000"/>
                </a:solidFill>
              </a:rPr>
              <a:t>Ví dụ (tt)</a:t>
            </a:r>
            <a:endParaRPr lang="en-US" altLang="en-US" sz="3200" b="0"/>
          </a:p>
        </p:txBody>
      </p:sp>
      <p:graphicFrame>
        <p:nvGraphicFramePr>
          <p:cNvPr id="108554" name="Object 29"/>
          <p:cNvGraphicFramePr>
            <a:graphicFrameLocks noChangeAspect="1"/>
          </p:cNvGraphicFramePr>
          <p:nvPr/>
        </p:nvGraphicFramePr>
        <p:xfrm>
          <a:off x="2860675" y="1800225"/>
          <a:ext cx="3352800" cy="533400"/>
        </p:xfrm>
        <a:graphic>
          <a:graphicData uri="http://schemas.openxmlformats.org/presentationml/2006/ole">
            <mc:AlternateContent xmlns:mc="http://schemas.openxmlformats.org/markup-compatibility/2006">
              <mc:Choice xmlns:v="urn:schemas-microsoft-com:vml" Requires="v">
                <p:oleObj name="Equation" r:id="rId3" imgW="3352800" imgH="533400" progId="Equation.DSMT4">
                  <p:embed/>
                </p:oleObj>
              </mc:Choice>
              <mc:Fallback>
                <p:oleObj name="Equation" r:id="rId3" imgW="3352800" imgH="533400"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0675" y="1800225"/>
                        <a:ext cx="33528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555" name="Object 30"/>
          <p:cNvGraphicFramePr>
            <a:graphicFrameLocks noChangeAspect="1"/>
          </p:cNvGraphicFramePr>
          <p:nvPr/>
        </p:nvGraphicFramePr>
        <p:xfrm>
          <a:off x="701675" y="2725738"/>
          <a:ext cx="7621588" cy="469900"/>
        </p:xfrm>
        <a:graphic>
          <a:graphicData uri="http://schemas.openxmlformats.org/presentationml/2006/ole">
            <mc:AlternateContent xmlns:mc="http://schemas.openxmlformats.org/markup-compatibility/2006">
              <mc:Choice xmlns:v="urn:schemas-microsoft-com:vml" Requires="v">
                <p:oleObj name="Equation" r:id="rId5" imgW="7620000" imgH="469900" progId="Equation.DSMT4">
                  <p:embed/>
                </p:oleObj>
              </mc:Choice>
              <mc:Fallback>
                <p:oleObj name="Equation" r:id="rId5" imgW="7620000" imgH="469900"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675" y="2725738"/>
                        <a:ext cx="7621588"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6" name="Object 31"/>
          <p:cNvGraphicFramePr>
            <a:graphicFrameLocks noChangeAspect="1"/>
          </p:cNvGraphicFramePr>
          <p:nvPr/>
        </p:nvGraphicFramePr>
        <p:xfrm>
          <a:off x="2833688" y="3590925"/>
          <a:ext cx="3327400" cy="469900"/>
        </p:xfrm>
        <a:graphic>
          <a:graphicData uri="http://schemas.openxmlformats.org/presentationml/2006/ole">
            <mc:AlternateContent xmlns:mc="http://schemas.openxmlformats.org/markup-compatibility/2006">
              <mc:Choice xmlns:v="urn:schemas-microsoft-com:vml" Requires="v">
                <p:oleObj name="Equation" r:id="rId7" imgW="3327400" imgH="469900" progId="Equation.DSMT4">
                  <p:embed/>
                </p:oleObj>
              </mc:Choice>
              <mc:Fallback>
                <p:oleObj name="Equation" r:id="rId7" imgW="3327400" imgH="469900" progId="Equation.DSMT4">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3688" y="3590925"/>
                        <a:ext cx="33274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Grp="1" noChangeArrowheads="1"/>
          </p:cNvSpPr>
          <p:nvPr>
            <p:ph type="body" idx="4294967295"/>
          </p:nvPr>
        </p:nvSpPr>
        <p:spPr bwMode="auto">
          <a:xfrm>
            <a:off x="0" y="1143000"/>
            <a:ext cx="9144000" cy="53879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457200" indent="-457200">
              <a:lnSpc>
                <a:spcPct val="98000"/>
              </a:lnSpc>
              <a:buFont typeface="Wingdings" panose="05000000000000000000" pitchFamily="2" charset="2"/>
              <a:buAutoNum type="alphaLcParenR" startAt="3"/>
            </a:pPr>
            <a:r>
              <a:rPr lang="vi-VN" altLang="en-US" b="0" dirty="0"/>
              <a:t>Dựa trên khoảng tin cậy thu được trong phần (b), có hơn 75% người lớn biết Twitter là gì</a:t>
            </a:r>
            <a:r>
              <a:rPr lang="en-US" altLang="en-US" b="0" dirty="0"/>
              <a:t>. </a:t>
            </a:r>
          </a:p>
          <a:p>
            <a:pPr marL="457200" indent="-457200">
              <a:lnSpc>
                <a:spcPct val="98000"/>
              </a:lnSpc>
              <a:buFontTx/>
              <a:buNone/>
            </a:pPr>
            <a:r>
              <a:rPr lang="en-US" altLang="en-US" b="0" dirty="0"/>
              <a:t>	</a:t>
            </a:r>
          </a:p>
          <a:p>
            <a:pPr marL="457200" indent="-457200">
              <a:lnSpc>
                <a:spcPct val="98000"/>
              </a:lnSpc>
              <a:buFontTx/>
              <a:buNone/>
            </a:pPr>
            <a:r>
              <a:rPr lang="en-US" altLang="en-US" b="0" dirty="0"/>
              <a:t>	</a:t>
            </a:r>
            <a:r>
              <a:rPr lang="vi-VN" altLang="en-US" b="0" dirty="0"/>
              <a:t>Bởi vì các giới hạn của 0.828 và 0.872 có khả năng chứa tỷ lệ </a:t>
            </a:r>
            <a:r>
              <a:rPr lang="en-US" altLang="en-US" b="0" dirty="0" err="1"/>
              <a:t>quần</a:t>
            </a:r>
            <a:r>
              <a:rPr lang="en-US" altLang="en-US" b="0" dirty="0"/>
              <a:t> </a:t>
            </a:r>
            <a:r>
              <a:rPr lang="en-US" altLang="en-US" b="0" dirty="0" err="1"/>
              <a:t>thể</a:t>
            </a:r>
            <a:r>
              <a:rPr lang="vi-VN" altLang="en-US" b="0" dirty="0"/>
              <a:t> thực, tỷ lệ </a:t>
            </a:r>
            <a:r>
              <a:rPr lang="en-US" altLang="en-US" b="0" dirty="0" err="1"/>
              <a:t>quần</a:t>
            </a:r>
            <a:r>
              <a:rPr lang="en-US" altLang="en-US" b="0" dirty="0"/>
              <a:t> </a:t>
            </a:r>
            <a:r>
              <a:rPr lang="en-US" altLang="en-US" b="0" dirty="0" err="1"/>
              <a:t>thể</a:t>
            </a:r>
            <a:r>
              <a:rPr lang="vi-VN" altLang="en-US" b="0" dirty="0"/>
              <a:t> là một giá trị lớn hơn 0,75</a:t>
            </a:r>
            <a:r>
              <a:rPr lang="en-US" altLang="en-US" b="0" dirty="0"/>
              <a:t>.</a:t>
            </a:r>
          </a:p>
          <a:p>
            <a:pPr marL="457200" indent="-457200">
              <a:lnSpc>
                <a:spcPct val="88000"/>
              </a:lnSpc>
              <a:buFont typeface="Wingdings" panose="05000000000000000000" pitchFamily="2" charset="2"/>
              <a:buNone/>
            </a:pPr>
            <a:endParaRPr lang="en-US" altLang="en-US" b="0" dirty="0"/>
          </a:p>
        </p:txBody>
      </p:sp>
      <p:sp>
        <p:nvSpPr>
          <p:cNvPr id="110595" name="Rectangle 4"/>
          <p:cNvSpPr>
            <a:spLocks noChangeArrowheads="1"/>
          </p:cNvSpPr>
          <p:nvPr/>
        </p:nvSpPr>
        <p:spPr bwMode="auto">
          <a:xfrm>
            <a:off x="1838325" y="2528888"/>
            <a:ext cx="3540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0596" name="Rectangle 5"/>
          <p:cNvSpPr>
            <a:spLocks noChangeArrowheads="1"/>
          </p:cNvSpPr>
          <p:nvPr/>
        </p:nvSpPr>
        <p:spPr bwMode="auto">
          <a:xfrm>
            <a:off x="1508125" y="3143250"/>
            <a:ext cx="420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0597" name="Rectangle 6"/>
          <p:cNvSpPr>
            <a:spLocks noChangeArrowheads="1"/>
          </p:cNvSpPr>
          <p:nvPr/>
        </p:nvSpPr>
        <p:spPr bwMode="auto">
          <a:xfrm>
            <a:off x="1736725" y="3114675"/>
            <a:ext cx="29686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0598" name="Rectangle 7"/>
          <p:cNvSpPr>
            <a:spLocks noChangeArrowheads="1"/>
          </p:cNvSpPr>
          <p:nvPr/>
        </p:nvSpPr>
        <p:spPr bwMode="auto">
          <a:xfrm>
            <a:off x="512763" y="3638550"/>
            <a:ext cx="265112"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altLang="en-US" sz="2400">
                <a:solidFill>
                  <a:schemeClr val="hlink"/>
                </a:solidFill>
              </a:rPr>
              <a:t> </a:t>
            </a:r>
            <a:endParaRPr lang="en-US" altLang="en-US" sz="2400">
              <a:solidFill>
                <a:schemeClr val="tx2"/>
              </a:solidFill>
            </a:endParaRPr>
          </a:p>
          <a:p>
            <a:pPr>
              <a:lnSpc>
                <a:spcPct val="90000"/>
              </a:lnSpc>
              <a:spcBef>
                <a:spcPct val="30000"/>
              </a:spcBef>
            </a:pPr>
            <a:endParaRPr lang="en-US" altLang="en-US" sz="2400">
              <a:solidFill>
                <a:schemeClr val="tx2"/>
              </a:solidFill>
            </a:endParaRPr>
          </a:p>
        </p:txBody>
      </p:sp>
      <p:sp>
        <p:nvSpPr>
          <p:cNvPr id="110599" name="Rectangle 8"/>
          <p:cNvSpPr>
            <a:spLocks noChangeArrowheads="1"/>
          </p:cNvSpPr>
          <p:nvPr/>
        </p:nvSpPr>
        <p:spPr bwMode="auto">
          <a:xfrm>
            <a:off x="1889125" y="4252913"/>
            <a:ext cx="89058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0600" name="Rectangle 9"/>
          <p:cNvSpPr>
            <a:spLocks noChangeArrowheads="1"/>
          </p:cNvSpPr>
          <p:nvPr/>
        </p:nvSpPr>
        <p:spPr bwMode="auto">
          <a:xfrm>
            <a:off x="593725" y="4819650"/>
            <a:ext cx="58070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0601" name="Rectangle 12"/>
          <p:cNvSpPr>
            <a:spLocks noChangeArrowheads="1"/>
          </p:cNvSpPr>
          <p:nvPr/>
        </p:nvSpPr>
        <p:spPr bwMode="auto">
          <a:xfrm>
            <a:off x="457200" y="457200"/>
            <a:ext cx="8305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pPr>
            <a:r>
              <a:rPr lang="en-US" altLang="en-US" sz="3200" dirty="0" err="1">
                <a:solidFill>
                  <a:srgbClr val="008000"/>
                </a:solidFill>
              </a:rPr>
              <a:t>Ví</a:t>
            </a:r>
            <a:r>
              <a:rPr lang="en-US" altLang="en-US" sz="3200" dirty="0">
                <a:solidFill>
                  <a:srgbClr val="008000"/>
                </a:solidFill>
              </a:rPr>
              <a:t> </a:t>
            </a:r>
            <a:r>
              <a:rPr lang="en-US" altLang="en-US" sz="3200" dirty="0" err="1">
                <a:solidFill>
                  <a:srgbClr val="008000"/>
                </a:solidFill>
              </a:rPr>
              <a:t>dụ</a:t>
            </a:r>
            <a:r>
              <a:rPr lang="en-US" altLang="en-US" sz="3200" dirty="0">
                <a:solidFill>
                  <a:srgbClr val="008000"/>
                </a:solidFill>
              </a:rPr>
              <a:t> (</a:t>
            </a:r>
            <a:r>
              <a:rPr lang="en-US" altLang="en-US" sz="3200" dirty="0" err="1">
                <a:solidFill>
                  <a:srgbClr val="008000"/>
                </a:solidFill>
              </a:rPr>
              <a:t>tt</a:t>
            </a:r>
            <a:r>
              <a:rPr lang="en-US" altLang="en-US" sz="3200" dirty="0">
                <a:solidFill>
                  <a:srgbClr val="008000"/>
                </a:solidFill>
              </a:rPr>
              <a:t>)</a:t>
            </a:r>
            <a:endParaRPr lang="en-US" altLang="en-US" sz="3200"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body" idx="4294967295"/>
          </p:nvPr>
        </p:nvSpPr>
        <p:spPr bwMode="auto">
          <a:xfrm>
            <a:off x="8709" y="1272677"/>
            <a:ext cx="9144000" cy="5548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a:bodyPr>
          <a:lstStyle/>
          <a:p>
            <a:pPr marL="457200" indent="-457200">
              <a:lnSpc>
                <a:spcPct val="98000"/>
              </a:lnSpc>
              <a:buFont typeface="Wingdings" panose="05000000000000000000" pitchFamily="2" charset="2"/>
              <a:buAutoNum type="alphaLcParenR" startAt="4"/>
            </a:pPr>
            <a:r>
              <a:rPr lang="vi-VN" altLang="en-US" b="0"/>
              <a:t>Dưới đây là một </a:t>
            </a:r>
            <a:r>
              <a:rPr lang="en-US" altLang="en-US" b="0"/>
              <a:t>phát biểu</a:t>
            </a:r>
            <a:r>
              <a:rPr lang="vi-VN" altLang="en-US" b="0"/>
              <a:t> tóm tắt kết quả</a:t>
            </a:r>
            <a:r>
              <a:rPr lang="en-US" altLang="en-US" b="0"/>
              <a:t>: </a:t>
            </a:r>
          </a:p>
          <a:p>
            <a:pPr marL="457200" indent="-457200">
              <a:lnSpc>
                <a:spcPct val="98000"/>
              </a:lnSpc>
              <a:buFontTx/>
              <a:buNone/>
            </a:pPr>
            <a:endParaRPr lang="en-US" altLang="en-US" b="0"/>
          </a:p>
          <a:p>
            <a:pPr marL="457200" indent="-457200">
              <a:lnSpc>
                <a:spcPct val="98000"/>
              </a:lnSpc>
              <a:buFontTx/>
              <a:buNone/>
            </a:pPr>
            <a:r>
              <a:rPr lang="en-US" altLang="en-US" b="0"/>
              <a:t>	</a:t>
            </a:r>
            <a:r>
              <a:rPr lang="vi-VN" altLang="en-US" b="0"/>
              <a:t>85% người </a:t>
            </a:r>
            <a:r>
              <a:rPr lang="en-US" altLang="en-US" b="0"/>
              <a:t>lớn</a:t>
            </a:r>
            <a:r>
              <a:rPr lang="vi-VN" altLang="en-US" b="0"/>
              <a:t> ở Hoa Kỳ biết Twitter là gì. Tỷ lệ này dựa trên cuộc thăm dò ý kiến ​​của Trung tâm nghiên cứu Pew với 1007 người lớn được chọn ngẫu nhiên</a:t>
            </a:r>
            <a:r>
              <a:rPr lang="en-US" altLang="en-US" b="0"/>
              <a:t>.</a:t>
            </a:r>
          </a:p>
          <a:p>
            <a:pPr marL="457200" indent="-457200">
              <a:lnSpc>
                <a:spcPct val="98000"/>
              </a:lnSpc>
              <a:buFontTx/>
              <a:buNone/>
            </a:pPr>
            <a:endParaRPr lang="en-US" altLang="en-US" b="0"/>
          </a:p>
          <a:p>
            <a:pPr marL="457200" indent="-457200">
              <a:lnSpc>
                <a:spcPct val="98000"/>
              </a:lnSpc>
              <a:buFontTx/>
              <a:buNone/>
            </a:pPr>
            <a:r>
              <a:rPr lang="en-US" altLang="en-US" b="0"/>
              <a:t>	</a:t>
            </a:r>
            <a:r>
              <a:rPr lang="vi-VN" altLang="en-US" b="0"/>
              <a:t>Về lý thuyết, trong 95% các cuộc thăm dò như vậy, tỷ lệ phần trăm nên khác nhau không quá 2,2</a:t>
            </a:r>
            <a:r>
              <a:rPr lang="en-US" altLang="en-US" b="0"/>
              <a:t>%</a:t>
            </a:r>
            <a:r>
              <a:rPr lang="vi-VN" altLang="en-US" b="0"/>
              <a:t> theo một trong hai hướng từ tỷ lệ phần trăm sẽ được tìm thấy bằng cách phỏng vấn tất cả người lớn ở Hoa Kỳ</a:t>
            </a:r>
            <a:r>
              <a:rPr lang="en-US" altLang="en-US" b="0"/>
              <a:t>.</a:t>
            </a:r>
          </a:p>
        </p:txBody>
      </p:sp>
      <p:sp>
        <p:nvSpPr>
          <p:cNvPr id="112643" name="Rectangle 3"/>
          <p:cNvSpPr>
            <a:spLocks noChangeArrowheads="1"/>
          </p:cNvSpPr>
          <p:nvPr/>
        </p:nvSpPr>
        <p:spPr bwMode="auto">
          <a:xfrm>
            <a:off x="1838325" y="2528888"/>
            <a:ext cx="3540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2644" name="Rectangle 4"/>
          <p:cNvSpPr>
            <a:spLocks noChangeArrowheads="1"/>
          </p:cNvSpPr>
          <p:nvPr/>
        </p:nvSpPr>
        <p:spPr bwMode="auto">
          <a:xfrm>
            <a:off x="1508125" y="3143250"/>
            <a:ext cx="420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2645" name="Rectangle 5"/>
          <p:cNvSpPr>
            <a:spLocks noChangeArrowheads="1"/>
          </p:cNvSpPr>
          <p:nvPr/>
        </p:nvSpPr>
        <p:spPr bwMode="auto">
          <a:xfrm>
            <a:off x="1736725" y="3114675"/>
            <a:ext cx="29686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2646" name="Rectangle 6"/>
          <p:cNvSpPr>
            <a:spLocks noChangeArrowheads="1"/>
          </p:cNvSpPr>
          <p:nvPr/>
        </p:nvSpPr>
        <p:spPr bwMode="auto">
          <a:xfrm>
            <a:off x="512763" y="3638550"/>
            <a:ext cx="265112"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altLang="en-US" sz="2400">
                <a:solidFill>
                  <a:schemeClr val="hlink"/>
                </a:solidFill>
              </a:rPr>
              <a:t> </a:t>
            </a:r>
            <a:endParaRPr lang="en-US" altLang="en-US" sz="2400">
              <a:solidFill>
                <a:schemeClr val="tx2"/>
              </a:solidFill>
            </a:endParaRPr>
          </a:p>
          <a:p>
            <a:pPr>
              <a:lnSpc>
                <a:spcPct val="90000"/>
              </a:lnSpc>
              <a:spcBef>
                <a:spcPct val="30000"/>
              </a:spcBef>
            </a:pPr>
            <a:endParaRPr lang="en-US" altLang="en-US" sz="2400">
              <a:solidFill>
                <a:schemeClr val="tx2"/>
              </a:solidFill>
            </a:endParaRPr>
          </a:p>
        </p:txBody>
      </p:sp>
      <p:sp>
        <p:nvSpPr>
          <p:cNvPr id="112647" name="Rectangle 7"/>
          <p:cNvSpPr>
            <a:spLocks noChangeArrowheads="1"/>
          </p:cNvSpPr>
          <p:nvPr/>
        </p:nvSpPr>
        <p:spPr bwMode="auto">
          <a:xfrm>
            <a:off x="1889125" y="4252913"/>
            <a:ext cx="89058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2648" name="Rectangle 8"/>
          <p:cNvSpPr>
            <a:spLocks noChangeArrowheads="1"/>
          </p:cNvSpPr>
          <p:nvPr/>
        </p:nvSpPr>
        <p:spPr bwMode="auto">
          <a:xfrm>
            <a:off x="593725" y="4819650"/>
            <a:ext cx="58070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12649" name="Rectangle 9"/>
          <p:cNvSpPr>
            <a:spLocks noChangeArrowheads="1"/>
          </p:cNvSpPr>
          <p:nvPr/>
        </p:nvSpPr>
        <p:spPr bwMode="auto">
          <a:xfrm>
            <a:off x="457200" y="563562"/>
            <a:ext cx="8305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pPr>
            <a:r>
              <a:rPr lang="en-US" altLang="en-US" sz="3200" dirty="0" err="1">
                <a:solidFill>
                  <a:srgbClr val="008000"/>
                </a:solidFill>
              </a:rPr>
              <a:t>Ví</a:t>
            </a:r>
            <a:r>
              <a:rPr lang="en-US" altLang="en-US" sz="3200" dirty="0">
                <a:solidFill>
                  <a:srgbClr val="008000"/>
                </a:solidFill>
              </a:rPr>
              <a:t> </a:t>
            </a:r>
            <a:r>
              <a:rPr lang="en-US" altLang="en-US" sz="3200" dirty="0" err="1">
                <a:solidFill>
                  <a:srgbClr val="008000"/>
                </a:solidFill>
              </a:rPr>
              <a:t>dụ</a:t>
            </a:r>
            <a:r>
              <a:rPr lang="en-US" altLang="en-US" sz="3200" dirty="0">
                <a:solidFill>
                  <a:srgbClr val="008000"/>
                </a:solidFill>
              </a:rPr>
              <a:t> (</a:t>
            </a:r>
            <a:r>
              <a:rPr lang="en-US" altLang="en-US" sz="3200" dirty="0" err="1">
                <a:solidFill>
                  <a:srgbClr val="008000"/>
                </a:solidFill>
              </a:rPr>
              <a:t>tt</a:t>
            </a:r>
            <a:r>
              <a:rPr lang="en-US" altLang="en-US" sz="3200" dirty="0">
                <a:solidFill>
                  <a:srgbClr val="008000"/>
                </a:solidFill>
              </a:rPr>
              <a:t>)</a:t>
            </a:r>
            <a:endParaRPr lang="en-US" altLang="en-US" sz="3200"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idx="4294967295"/>
          </p:nvPr>
        </p:nvSpPr>
        <p:spPr bwMode="auto">
          <a:xfrm>
            <a:off x="533400" y="609600"/>
            <a:ext cx="7848600" cy="885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t>Kích</a:t>
            </a:r>
            <a:r>
              <a:rPr lang="en-US" altLang="en-US" dirty="0"/>
              <a:t> </a:t>
            </a:r>
            <a:r>
              <a:rPr lang="en-US" altLang="en-US" dirty="0" err="1"/>
              <a:t>thước</a:t>
            </a:r>
            <a:r>
              <a:rPr lang="en-US" altLang="en-US" dirty="0"/>
              <a:t> </a:t>
            </a:r>
            <a:r>
              <a:rPr lang="en-US" altLang="en-US" dirty="0" err="1"/>
              <a:t>mẫu</a:t>
            </a:r>
            <a:endParaRPr lang="en-US" altLang="en-US" dirty="0"/>
          </a:p>
        </p:txBody>
      </p:sp>
      <p:sp>
        <p:nvSpPr>
          <p:cNvPr id="118787" name="Text Box 3"/>
          <p:cNvSpPr txBox="1">
            <a:spLocks noChangeArrowheads="1"/>
          </p:cNvSpPr>
          <p:nvPr/>
        </p:nvSpPr>
        <p:spPr bwMode="auto">
          <a:xfrm>
            <a:off x="0" y="2051050"/>
            <a:ext cx="9144000" cy="147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50000"/>
              </a:spcBef>
            </a:pPr>
            <a:r>
              <a:rPr lang="vi-VN" altLang="en-US" sz="2800" b="0" dirty="0"/>
              <a:t>Giả sử chúng tôi muốn thu thập dữ liệu mẫu để ước tính tỷ lệ </a:t>
            </a:r>
            <a:r>
              <a:rPr lang="en-US" altLang="en-US" sz="2800" b="0" dirty="0" err="1"/>
              <a:t>quần</a:t>
            </a:r>
            <a:r>
              <a:rPr lang="en-US" altLang="en-US" sz="2800" b="0" dirty="0"/>
              <a:t> </a:t>
            </a:r>
            <a:r>
              <a:rPr lang="en-US" altLang="en-US" sz="2800" b="0" dirty="0" err="1"/>
              <a:t>thể</a:t>
            </a:r>
            <a:r>
              <a:rPr lang="en-US" altLang="en-US" sz="2800" b="0" dirty="0"/>
              <a:t>.  </a:t>
            </a:r>
          </a:p>
          <a:p>
            <a:pPr>
              <a:lnSpc>
                <a:spcPct val="90000"/>
              </a:lnSpc>
              <a:spcBef>
                <a:spcPct val="50000"/>
              </a:spcBef>
            </a:pPr>
            <a:r>
              <a:rPr lang="en-US" altLang="en-US" sz="2800" b="0" dirty="0" err="1"/>
              <a:t>Câu</a:t>
            </a:r>
            <a:r>
              <a:rPr lang="en-US" altLang="en-US" sz="2800" b="0" dirty="0"/>
              <a:t> </a:t>
            </a:r>
            <a:r>
              <a:rPr lang="en-US" altLang="en-US" sz="2800" b="0" dirty="0" err="1"/>
              <a:t>hỏi</a:t>
            </a:r>
            <a:r>
              <a:rPr lang="en-US" altLang="en-US" sz="2800" b="0" dirty="0"/>
              <a:t> </a:t>
            </a:r>
            <a:r>
              <a:rPr lang="en-US" altLang="en-US" sz="2800" b="0" dirty="0" err="1"/>
              <a:t>đặt</a:t>
            </a:r>
            <a:r>
              <a:rPr lang="en-US" altLang="en-US" sz="2800" b="0" dirty="0"/>
              <a:t> </a:t>
            </a:r>
            <a:r>
              <a:rPr lang="en-US" altLang="en-US" sz="2800" b="0" dirty="0" err="1"/>
              <a:t>ra</a:t>
            </a:r>
            <a:r>
              <a:rPr lang="en-US" altLang="en-US" sz="2800" b="0" dirty="0"/>
              <a:t> </a:t>
            </a:r>
            <a:r>
              <a:rPr lang="en-US" altLang="en-US" sz="2800" b="0" dirty="0" err="1"/>
              <a:t>là</a:t>
            </a:r>
            <a:r>
              <a:rPr lang="en-US" altLang="en-US" sz="2800" b="0" dirty="0"/>
              <a:t> </a:t>
            </a:r>
            <a:r>
              <a:rPr lang="en-US" altLang="en-US" sz="2800" b="0" dirty="0" err="1">
                <a:solidFill>
                  <a:srgbClr val="FF0000"/>
                </a:solidFill>
              </a:rPr>
              <a:t>phải</a:t>
            </a:r>
            <a:r>
              <a:rPr lang="en-US" altLang="en-US" sz="2800" b="0" dirty="0">
                <a:solidFill>
                  <a:srgbClr val="FF0000"/>
                </a:solidFill>
              </a:rPr>
              <a:t> </a:t>
            </a:r>
            <a:r>
              <a:rPr lang="en-US" altLang="en-US" sz="2800" b="0" dirty="0" err="1">
                <a:solidFill>
                  <a:srgbClr val="FF0000"/>
                </a:solidFill>
              </a:rPr>
              <a:t>lấy</a:t>
            </a:r>
            <a:r>
              <a:rPr lang="en-US" altLang="en-US" sz="2800" b="0" dirty="0">
                <a:solidFill>
                  <a:srgbClr val="FF0000"/>
                </a:solidFill>
              </a:rPr>
              <a:t> </a:t>
            </a:r>
            <a:r>
              <a:rPr lang="en-US" altLang="en-US" sz="2800" b="0" dirty="0" err="1">
                <a:solidFill>
                  <a:srgbClr val="FF0000"/>
                </a:solidFill>
              </a:rPr>
              <a:t>mẫu</a:t>
            </a:r>
            <a:r>
              <a:rPr lang="en-US" altLang="en-US" sz="2800" b="0" dirty="0">
                <a:solidFill>
                  <a:srgbClr val="FF0000"/>
                </a:solidFill>
              </a:rPr>
              <a:t> </a:t>
            </a:r>
            <a:r>
              <a:rPr lang="en-US" altLang="en-US" sz="2800" b="0" dirty="0" err="1">
                <a:solidFill>
                  <a:srgbClr val="FF0000"/>
                </a:solidFill>
              </a:rPr>
              <a:t>kích</a:t>
            </a:r>
            <a:r>
              <a:rPr lang="en-US" altLang="en-US" sz="2800" b="0" dirty="0">
                <a:solidFill>
                  <a:srgbClr val="FF0000"/>
                </a:solidFill>
              </a:rPr>
              <a:t> </a:t>
            </a:r>
            <a:r>
              <a:rPr lang="en-US" altLang="en-US" sz="2800" b="0" dirty="0" err="1">
                <a:solidFill>
                  <a:srgbClr val="FF0000"/>
                </a:solidFill>
              </a:rPr>
              <a:t>thước</a:t>
            </a:r>
            <a:r>
              <a:rPr lang="en-US" altLang="en-US" sz="2800" b="0" dirty="0">
                <a:solidFill>
                  <a:srgbClr val="FF0000"/>
                </a:solidFill>
              </a:rPr>
              <a:t> </a:t>
            </a:r>
            <a:r>
              <a:rPr lang="en-US" altLang="en-US" sz="2800" b="0" dirty="0" err="1">
                <a:solidFill>
                  <a:srgbClr val="FF0000"/>
                </a:solidFill>
              </a:rPr>
              <a:t>bao</a:t>
            </a:r>
            <a:r>
              <a:rPr lang="en-US" altLang="en-US" sz="2800" b="0" dirty="0">
                <a:solidFill>
                  <a:srgbClr val="FF0000"/>
                </a:solidFill>
              </a:rPr>
              <a:t> </a:t>
            </a:r>
            <a:r>
              <a:rPr lang="en-US" altLang="en-US" sz="2800" b="0" dirty="0" err="1">
                <a:solidFill>
                  <a:srgbClr val="FF0000"/>
                </a:solidFill>
              </a:rPr>
              <a:t>nhiêu</a:t>
            </a:r>
            <a:r>
              <a:rPr lang="en-US" altLang="en-US" sz="2800" b="0" dirty="0"/>
              <a:t>?</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5"/>
          <p:cNvSpPr>
            <a:spLocks noGrp="1" noChangeArrowheads="1"/>
          </p:cNvSpPr>
          <p:nvPr>
            <p:ph type="title" idx="4294967295"/>
          </p:nvPr>
        </p:nvSpPr>
        <p:spPr bwMode="auto">
          <a:xfrm>
            <a:off x="304800" y="685800"/>
            <a:ext cx="8105775" cy="6508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dirty="0" err="1"/>
              <a:t>Xác</a:t>
            </a:r>
            <a:r>
              <a:rPr lang="en-US" altLang="en-US" dirty="0"/>
              <a:t> </a:t>
            </a:r>
            <a:r>
              <a:rPr lang="en-US" altLang="en-US" dirty="0" err="1"/>
              <a:t>định</a:t>
            </a:r>
            <a:r>
              <a:rPr lang="en-US" altLang="en-US" dirty="0"/>
              <a:t> </a:t>
            </a:r>
            <a:r>
              <a:rPr lang="en-US" altLang="en-US" dirty="0" err="1"/>
              <a:t>kích</a:t>
            </a:r>
            <a:r>
              <a:rPr lang="en-US" altLang="en-US" dirty="0"/>
              <a:t> </a:t>
            </a:r>
            <a:r>
              <a:rPr lang="en-US" altLang="en-US" dirty="0" err="1"/>
              <a:t>thước</a:t>
            </a:r>
            <a:r>
              <a:rPr lang="en-US" altLang="en-US" dirty="0"/>
              <a:t> </a:t>
            </a:r>
            <a:r>
              <a:rPr lang="en-US" altLang="en-US" dirty="0" err="1"/>
              <a:t>mẫu</a:t>
            </a:r>
            <a:endParaRPr lang="en-US" altLang="en-US" dirty="0"/>
          </a:p>
        </p:txBody>
      </p:sp>
      <p:grpSp>
        <p:nvGrpSpPr>
          <p:cNvPr id="120835" name="Group 31"/>
          <p:cNvGrpSpPr>
            <a:grpSpLocks/>
          </p:cNvGrpSpPr>
          <p:nvPr/>
        </p:nvGrpSpPr>
        <p:grpSpPr bwMode="auto">
          <a:xfrm>
            <a:off x="1768475" y="1209675"/>
            <a:ext cx="6061075" cy="5099050"/>
            <a:chOff x="1114" y="762"/>
            <a:chExt cx="3818" cy="3212"/>
          </a:xfrm>
        </p:grpSpPr>
        <p:grpSp>
          <p:nvGrpSpPr>
            <p:cNvPr id="120836" name="Group 31"/>
            <p:cNvGrpSpPr>
              <a:grpSpLocks/>
            </p:cNvGrpSpPr>
            <p:nvPr/>
          </p:nvGrpSpPr>
          <p:grpSpPr bwMode="auto">
            <a:xfrm>
              <a:off x="1114" y="2226"/>
              <a:ext cx="3818" cy="568"/>
              <a:chOff x="1942" y="1938"/>
              <a:chExt cx="3818" cy="568"/>
            </a:xfrm>
          </p:grpSpPr>
          <p:sp>
            <p:nvSpPr>
              <p:cNvPr id="120839" name="AutoShape 21"/>
              <p:cNvSpPr>
                <a:spLocks noChangeArrowheads="1"/>
              </p:cNvSpPr>
              <p:nvPr/>
            </p:nvSpPr>
            <p:spPr bwMode="auto">
              <a:xfrm flipH="1">
                <a:off x="1942" y="1938"/>
                <a:ext cx="376" cy="568"/>
              </a:xfrm>
              <a:prstGeom prst="downArrow">
                <a:avLst>
                  <a:gd name="adj1" fmla="val 50000"/>
                  <a:gd name="adj2" fmla="val 75567"/>
                </a:avLst>
              </a:prstGeom>
              <a:solidFill>
                <a:schemeClr val="hlink"/>
              </a:solidFill>
              <a:ln w="12700">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20840" name="Rectangle 22"/>
              <p:cNvSpPr>
                <a:spLocks noChangeArrowheads="1"/>
              </p:cNvSpPr>
              <p:nvPr/>
            </p:nvSpPr>
            <p:spPr bwMode="auto">
              <a:xfrm>
                <a:off x="2477" y="1957"/>
                <a:ext cx="3283"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en-US" altLang="en-US" sz="3600"/>
                  <a:t>(solve for </a:t>
                </a:r>
                <a:r>
                  <a:rPr lang="en-US" altLang="en-US" sz="3600" i="1"/>
                  <a:t>n</a:t>
                </a:r>
                <a:r>
                  <a:rPr lang="en-US" altLang="en-US" sz="3600"/>
                  <a:t> by algebra)</a:t>
                </a:r>
              </a:p>
            </p:txBody>
          </p:sp>
        </p:grpSp>
        <p:pic>
          <p:nvPicPr>
            <p:cNvPr id="120837" name="Picture 29" descr="determining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8" y="2869"/>
              <a:ext cx="1997"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8" name="Picture 30" descr="determining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60" y="762"/>
              <a:ext cx="1856" cy="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idx="4294967295"/>
          </p:nvPr>
        </p:nvSpPr>
        <p:spPr bwMode="auto">
          <a:xfrm>
            <a:off x="304800" y="609600"/>
            <a:ext cx="8591550" cy="10318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vi-VN" altLang="en-US" dirty="0"/>
              <a:t>Kích thước mẫu để ước tính tỷ lệ p</a:t>
            </a:r>
            <a:endParaRPr lang="en-US" altLang="en-US" i="1" dirty="0"/>
          </a:p>
        </p:txBody>
      </p:sp>
      <p:sp>
        <p:nvSpPr>
          <p:cNvPr id="122883" name="Rectangle 5"/>
          <p:cNvSpPr>
            <a:spLocks noChangeArrowheads="1"/>
          </p:cNvSpPr>
          <p:nvPr/>
        </p:nvSpPr>
        <p:spPr bwMode="auto">
          <a:xfrm>
            <a:off x="954088" y="5464175"/>
            <a:ext cx="8745537"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22884" name="Rectangle 22"/>
          <p:cNvSpPr>
            <a:spLocks noChangeArrowheads="1"/>
          </p:cNvSpPr>
          <p:nvPr/>
        </p:nvSpPr>
        <p:spPr bwMode="auto">
          <a:xfrm>
            <a:off x="6753225" y="5103813"/>
            <a:ext cx="1809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sz="2400">
              <a:solidFill>
                <a:schemeClr val="hlink"/>
              </a:solidFill>
            </a:endParaRPr>
          </a:p>
        </p:txBody>
      </p:sp>
      <p:grpSp>
        <p:nvGrpSpPr>
          <p:cNvPr id="122885" name="Group 36"/>
          <p:cNvGrpSpPr>
            <a:grpSpLocks/>
          </p:cNvGrpSpPr>
          <p:nvPr/>
        </p:nvGrpSpPr>
        <p:grpSpPr bwMode="auto">
          <a:xfrm>
            <a:off x="1019175" y="1751013"/>
            <a:ext cx="5881688" cy="4435475"/>
            <a:chOff x="642" y="1103"/>
            <a:chExt cx="3705" cy="2794"/>
          </a:xfrm>
        </p:grpSpPr>
        <p:sp>
          <p:nvSpPr>
            <p:cNvPr id="122886" name="Rectangle 6"/>
            <p:cNvSpPr>
              <a:spLocks noChangeArrowheads="1"/>
            </p:cNvSpPr>
            <p:nvPr/>
          </p:nvSpPr>
          <p:spPr bwMode="auto">
            <a:xfrm>
              <a:off x="654" y="1103"/>
              <a:ext cx="3352"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en-US" altLang="en-US" sz="2800"/>
                <a:t>Khi ước lượng tỉ lệ </a:t>
              </a:r>
              <a:r>
                <a:rPr lang="en-US" altLang="en-US" sz="2800" i="1"/>
                <a:t>    </a:t>
              </a:r>
              <a:r>
                <a:rPr lang="en-US" altLang="en-US" sz="2800"/>
                <a:t>đã biết: </a:t>
              </a:r>
            </a:p>
          </p:txBody>
        </p:sp>
        <p:sp>
          <p:nvSpPr>
            <p:cNvPr id="122887" name="Rectangle 21"/>
            <p:cNvSpPr>
              <a:spLocks noChangeArrowheads="1"/>
            </p:cNvSpPr>
            <p:nvPr/>
          </p:nvSpPr>
          <p:spPr bwMode="auto">
            <a:xfrm>
              <a:off x="642" y="2730"/>
              <a:ext cx="370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en-US" altLang="en-US" sz="2800"/>
                <a:t>Khi ước lượng tỉ lệ       chưa biết:</a:t>
              </a:r>
            </a:p>
          </p:txBody>
        </p:sp>
        <p:pic>
          <p:nvPicPr>
            <p:cNvPr id="122888" name="Picture 32" descr="samplesiz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39" y="3193"/>
              <a:ext cx="1408"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9" name="Picture 33" descr="determining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12" y="1628"/>
              <a:ext cx="1529" cy="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90" name="Picture 34" descr="definition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2" y="1104"/>
              <a:ext cx="17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91" name="Picture 35" descr="definition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5" y="2753"/>
              <a:ext cx="17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idx="4294967295"/>
          </p:nvPr>
        </p:nvSpPr>
        <p:spPr bwMode="auto">
          <a:xfrm>
            <a:off x="685800" y="609600"/>
            <a:ext cx="8196262" cy="1254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vi-VN" altLang="en-US" dirty="0"/>
              <a:t>Quy tắc </a:t>
            </a:r>
            <a:r>
              <a:rPr lang="en-US" altLang="en-US" dirty="0" err="1"/>
              <a:t>làm</a:t>
            </a:r>
            <a:r>
              <a:rPr lang="en-US" altLang="en-US" dirty="0"/>
              <a:t> </a:t>
            </a:r>
            <a:r>
              <a:rPr lang="en-US" altLang="en-US" dirty="0" err="1"/>
              <a:t>tròn</a:t>
            </a:r>
            <a:r>
              <a:rPr lang="vi-VN" altLang="en-US" dirty="0"/>
              <a:t> để xác định kích thước mẫu</a:t>
            </a:r>
            <a:endParaRPr lang="en-US" altLang="en-US" i="1" dirty="0"/>
          </a:p>
        </p:txBody>
      </p:sp>
      <p:sp>
        <p:nvSpPr>
          <p:cNvPr id="124931" name="Rectangle 4"/>
          <p:cNvSpPr>
            <a:spLocks noChangeArrowheads="1"/>
          </p:cNvSpPr>
          <p:nvPr/>
        </p:nvSpPr>
        <p:spPr bwMode="auto">
          <a:xfrm>
            <a:off x="0" y="2193925"/>
            <a:ext cx="9143999" cy="865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r>
              <a:rPr lang="vi-VN" altLang="en-US" sz="2800" b="0" dirty="0"/>
              <a:t>Nếu cỡ mẫu n được tính không phải là số nguyên, hãy làm tròn giá trị của n đến </a:t>
            </a:r>
            <a:r>
              <a:rPr lang="vi-VN" altLang="en-US" sz="2800" b="0" dirty="0">
                <a:solidFill>
                  <a:srgbClr val="FF0000"/>
                </a:solidFill>
              </a:rPr>
              <a:t>số nguyên lớn hơn tiếp theo</a:t>
            </a:r>
            <a:r>
              <a:rPr lang="vi-VN" altLang="en-US" sz="2800" b="0" dirty="0"/>
              <a:t>.</a:t>
            </a:r>
            <a:endParaRPr lang="en-US" altLang="en-US" sz="2800" b="0"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idx="4294967295"/>
          </p:nvPr>
        </p:nvSpPr>
        <p:spPr bwMode="auto">
          <a:xfrm>
            <a:off x="457200" y="457200"/>
            <a:ext cx="8229600" cy="563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sz="2800"/>
              <a:t>Ví dụ:</a:t>
            </a:r>
            <a:endParaRPr lang="en-US" altLang="en-US" sz="2800">
              <a:solidFill>
                <a:schemeClr val="tx1"/>
              </a:solidFill>
            </a:endParaRPr>
          </a:p>
        </p:txBody>
      </p:sp>
      <p:sp>
        <p:nvSpPr>
          <p:cNvPr id="40963" name="Rectangle 3"/>
          <p:cNvSpPr>
            <a:spLocks noGrp="1" noChangeArrowheads="1"/>
          </p:cNvSpPr>
          <p:nvPr>
            <p:ph type="body" idx="4294967295"/>
          </p:nvPr>
        </p:nvSpPr>
        <p:spPr bwMode="auto">
          <a:xfrm>
            <a:off x="0" y="1000125"/>
            <a:ext cx="9144000" cy="501967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ormAutofit/>
          </a:bodyPr>
          <a:lstStyle/>
          <a:p>
            <a:pPr marL="1588" indent="-1588">
              <a:spcBef>
                <a:spcPct val="0"/>
              </a:spcBef>
              <a:buFontTx/>
              <a:buNone/>
              <a:tabLst>
                <a:tab pos="455613" algn="l"/>
              </a:tabLst>
              <a:defRPr/>
            </a:pPr>
            <a:r>
              <a:rPr lang="vi-VN" b="0" dirty="0"/>
              <a:t>Nhiều công ty quan tâm đến việc biết phần trăm người lớn mua quần áo trực tuyến.</a:t>
            </a:r>
            <a:endParaRPr lang="en-US" b="0" dirty="0"/>
          </a:p>
          <a:p>
            <a:pPr marL="1588" indent="-1588">
              <a:spcBef>
                <a:spcPct val="0"/>
              </a:spcBef>
              <a:buFontTx/>
              <a:buNone/>
              <a:tabLst>
                <a:tab pos="455613" algn="l"/>
              </a:tabLst>
              <a:defRPr/>
            </a:pPr>
            <a:endParaRPr lang="en-US" b="0" dirty="0"/>
          </a:p>
          <a:p>
            <a:pPr marL="1588" indent="-1588">
              <a:spcBef>
                <a:spcPct val="0"/>
              </a:spcBef>
              <a:buFontTx/>
              <a:buNone/>
              <a:tabLst>
                <a:tab pos="455613" algn="l"/>
              </a:tabLst>
              <a:defRPr/>
            </a:pPr>
            <a:r>
              <a:rPr lang="vi-VN" b="0" dirty="0"/>
              <a:t>C</a:t>
            </a:r>
            <a:r>
              <a:rPr lang="en-US" b="0" dirty="0" err="1"/>
              <a:t>ần</a:t>
            </a:r>
            <a:r>
              <a:rPr lang="en-US" b="0" dirty="0"/>
              <a:t> </a:t>
            </a:r>
            <a:r>
              <a:rPr lang="en-US" b="0" dirty="0" err="1"/>
              <a:t>phải</a:t>
            </a:r>
            <a:r>
              <a:rPr lang="en-US" b="0" dirty="0"/>
              <a:t> </a:t>
            </a:r>
            <a:r>
              <a:rPr lang="en-US" b="0" dirty="0" err="1"/>
              <a:t>lấy</a:t>
            </a:r>
            <a:r>
              <a:rPr lang="en-US" b="0" dirty="0"/>
              <a:t> </a:t>
            </a:r>
            <a:r>
              <a:rPr lang="en-US" b="0" dirty="0" err="1"/>
              <a:t>mẫu</a:t>
            </a:r>
            <a:r>
              <a:rPr lang="en-US" b="0" dirty="0"/>
              <a:t> </a:t>
            </a:r>
            <a:r>
              <a:rPr lang="en-US" b="0" dirty="0" err="1"/>
              <a:t>bao</a:t>
            </a:r>
            <a:r>
              <a:rPr lang="en-US" b="0" dirty="0"/>
              <a:t> </a:t>
            </a:r>
            <a:r>
              <a:rPr lang="en-US" b="0" dirty="0" err="1"/>
              <a:t>nhiêu</a:t>
            </a:r>
            <a:r>
              <a:rPr lang="en-US" b="0" dirty="0"/>
              <a:t> </a:t>
            </a:r>
            <a:r>
              <a:rPr lang="en-US" b="0" dirty="0" err="1"/>
              <a:t>người</a:t>
            </a:r>
            <a:r>
              <a:rPr lang="en-US" b="0" dirty="0"/>
              <a:t> </a:t>
            </a:r>
            <a:r>
              <a:rPr lang="en-US" b="0" dirty="0" err="1"/>
              <a:t>lớn</a:t>
            </a:r>
            <a:r>
              <a:rPr lang="en-US" b="0" dirty="0"/>
              <a:t> </a:t>
            </a:r>
            <a:r>
              <a:rPr lang="en-US" b="0" dirty="0" err="1"/>
              <a:t>để</a:t>
            </a:r>
            <a:r>
              <a:rPr lang="en-US" b="0" dirty="0"/>
              <a:t> </a:t>
            </a:r>
            <a:r>
              <a:rPr lang="vi-VN" b="0" dirty="0"/>
              <a:t>khảo sát để tin tưởng </a:t>
            </a:r>
            <a:r>
              <a:rPr lang="en-US" b="0" dirty="0" err="1"/>
              <a:t>rằng</a:t>
            </a:r>
            <a:r>
              <a:rPr lang="en-US" b="0" dirty="0"/>
              <a:t> </a:t>
            </a:r>
            <a:r>
              <a:rPr lang="vi-VN" b="0" dirty="0"/>
              <a:t>95%</a:t>
            </a:r>
            <a:r>
              <a:rPr lang="en-US" b="0" dirty="0"/>
              <a:t> </a:t>
            </a:r>
            <a:r>
              <a:rPr lang="en-US" b="0" dirty="0" err="1"/>
              <a:t>giá</a:t>
            </a:r>
            <a:r>
              <a:rPr lang="en-US" b="0" dirty="0"/>
              <a:t> </a:t>
            </a:r>
            <a:r>
              <a:rPr lang="en-US" b="0" dirty="0" err="1"/>
              <a:t>trị</a:t>
            </a:r>
            <a:r>
              <a:rPr lang="en-US" b="0" dirty="0"/>
              <a:t> </a:t>
            </a:r>
            <a:r>
              <a:rPr lang="vi-VN" b="0" dirty="0"/>
              <a:t>tỷ lệ</a:t>
            </a:r>
            <a:r>
              <a:rPr lang="en-US" b="0" dirty="0"/>
              <a:t> </a:t>
            </a:r>
            <a:r>
              <a:rPr lang="en-US" b="0" dirty="0" err="1"/>
              <a:t>thực</a:t>
            </a:r>
            <a:r>
              <a:rPr lang="en-US" b="0" dirty="0"/>
              <a:t> </a:t>
            </a:r>
            <a:r>
              <a:rPr lang="en-US" b="0" dirty="0" err="1"/>
              <a:t>của</a:t>
            </a:r>
            <a:r>
              <a:rPr lang="en-US" b="0" dirty="0"/>
              <a:t> </a:t>
            </a:r>
            <a:r>
              <a:rPr lang="en-US" b="0" dirty="0" err="1"/>
              <a:t>quần</a:t>
            </a:r>
            <a:r>
              <a:rPr lang="en-US" b="0" dirty="0"/>
              <a:t> </a:t>
            </a:r>
            <a:r>
              <a:rPr lang="en-US" b="0" dirty="0" err="1"/>
              <a:t>thể</a:t>
            </a:r>
            <a:r>
              <a:rPr lang="en-US" b="0" dirty="0"/>
              <a:t> </a:t>
            </a:r>
            <a:r>
              <a:rPr lang="en-US" b="0" dirty="0" err="1"/>
              <a:t>có</a:t>
            </a:r>
            <a:r>
              <a:rPr lang="en-US" b="0" dirty="0"/>
              <a:t> </a:t>
            </a:r>
            <a:r>
              <a:rPr lang="en-US" b="0" dirty="0" err="1"/>
              <a:t>biên</a:t>
            </a:r>
            <a:r>
              <a:rPr lang="en-US" b="0" dirty="0"/>
              <a:t> </a:t>
            </a:r>
            <a:r>
              <a:rPr lang="en-US" b="0" dirty="0" err="1"/>
              <a:t>độ</a:t>
            </a:r>
            <a:r>
              <a:rPr lang="en-US" b="0" dirty="0"/>
              <a:t> </a:t>
            </a:r>
            <a:r>
              <a:rPr lang="en-US" b="0" dirty="0" err="1"/>
              <a:t>lỗi</a:t>
            </a:r>
            <a:r>
              <a:rPr lang="en-US" b="0" dirty="0"/>
              <a:t> </a:t>
            </a:r>
            <a:r>
              <a:rPr lang="en-US" b="0" dirty="0" err="1"/>
              <a:t>là</a:t>
            </a:r>
            <a:r>
              <a:rPr lang="vi-VN" b="0" dirty="0"/>
              <a:t> </a:t>
            </a:r>
            <a:r>
              <a:rPr lang="en-US" b="0" dirty="0"/>
              <a:t>3%</a:t>
            </a:r>
            <a:r>
              <a:rPr lang="vi-VN" b="0" dirty="0"/>
              <a:t>?</a:t>
            </a:r>
            <a:endParaRPr lang="en-US" b="0" dirty="0"/>
          </a:p>
          <a:p>
            <a:pPr marL="1588" indent="-1588">
              <a:spcBef>
                <a:spcPct val="0"/>
              </a:spcBef>
              <a:buFontTx/>
              <a:buNone/>
              <a:tabLst>
                <a:tab pos="455613" algn="l"/>
              </a:tabLst>
              <a:defRPr/>
            </a:pPr>
            <a:endParaRPr lang="en-US" b="0" dirty="0"/>
          </a:p>
          <a:p>
            <a:pPr marL="458788" indent="-457200">
              <a:spcBef>
                <a:spcPct val="0"/>
              </a:spcBef>
              <a:buFontTx/>
              <a:buAutoNum type="alphaLcPeriod"/>
              <a:tabLst>
                <a:tab pos="455613" algn="l"/>
              </a:tabLst>
              <a:defRPr/>
            </a:pPr>
            <a:r>
              <a:rPr lang="vi-VN" b="0" dirty="0"/>
              <a:t>Sử dụng kết quả gần đây từ Cục điều tra dân số: 66% người lớn mua quần áo trực tuyến.</a:t>
            </a:r>
            <a:endParaRPr lang="en-US" b="0" dirty="0"/>
          </a:p>
          <a:p>
            <a:pPr marL="1588" indent="0">
              <a:spcBef>
                <a:spcPct val="0"/>
              </a:spcBef>
              <a:buFontTx/>
              <a:buNone/>
              <a:tabLst>
                <a:tab pos="455613" algn="l"/>
              </a:tabLst>
              <a:defRPr/>
            </a:pPr>
            <a:endParaRPr lang="en-US" b="0" dirty="0"/>
          </a:p>
          <a:p>
            <a:pPr marL="457200" indent="-457200">
              <a:spcBef>
                <a:spcPct val="0"/>
              </a:spcBef>
              <a:buFontTx/>
              <a:buAutoNum type="alphaLcPeriod" startAt="2"/>
              <a:tabLst>
                <a:tab pos="455613" algn="l"/>
              </a:tabLst>
              <a:defRPr/>
            </a:pPr>
            <a:r>
              <a:rPr lang="vi-VN" b="0" dirty="0"/>
              <a:t>Giả sử rằng chúng t</a:t>
            </a:r>
            <a:r>
              <a:rPr lang="en-US" b="0" dirty="0"/>
              <a:t>a</a:t>
            </a:r>
            <a:r>
              <a:rPr lang="vi-VN" b="0" dirty="0"/>
              <a:t> không có thông tin </a:t>
            </a:r>
            <a:r>
              <a:rPr lang="en-US" b="0" dirty="0" err="1"/>
              <a:t>nào</a:t>
            </a:r>
            <a:r>
              <a:rPr lang="en-US" b="0" dirty="0"/>
              <a:t> </a:t>
            </a:r>
            <a:r>
              <a:rPr lang="vi-VN" b="0" dirty="0"/>
              <a:t>trước</a:t>
            </a:r>
            <a:r>
              <a:rPr lang="en-US" b="0" dirty="0"/>
              <a:t> </a:t>
            </a:r>
            <a:r>
              <a:rPr lang="en-US" b="0" dirty="0" err="1"/>
              <a:t>đó</a:t>
            </a:r>
            <a:r>
              <a:rPr lang="vi-VN" b="0" dirty="0"/>
              <a:t> cho thấy giá trị </a:t>
            </a:r>
            <a:r>
              <a:rPr lang="en-US" b="0" dirty="0" err="1"/>
              <a:t>xác</a:t>
            </a:r>
            <a:r>
              <a:rPr lang="en-US" b="0" dirty="0"/>
              <a:t> </a:t>
            </a:r>
            <a:r>
              <a:rPr lang="en-US" b="0" dirty="0" err="1"/>
              <a:t>suất</a:t>
            </a:r>
            <a:r>
              <a:rPr lang="vi-VN" b="0" dirty="0"/>
              <a:t> của tỷ lệ.</a:t>
            </a:r>
            <a:endParaRPr lang="en-US" b="0" dirty="0"/>
          </a:p>
        </p:txBody>
      </p:sp>
      <p:sp>
        <p:nvSpPr>
          <p:cNvPr id="126980" name="Rectangle 4"/>
          <p:cNvSpPr>
            <a:spLocks noChangeArrowheads="1"/>
          </p:cNvSpPr>
          <p:nvPr/>
        </p:nvSpPr>
        <p:spPr bwMode="auto">
          <a:xfrm>
            <a:off x="2295525" y="3036888"/>
            <a:ext cx="3540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26981" name="Rectangle 5"/>
          <p:cNvSpPr>
            <a:spLocks noChangeArrowheads="1"/>
          </p:cNvSpPr>
          <p:nvPr/>
        </p:nvSpPr>
        <p:spPr bwMode="auto">
          <a:xfrm>
            <a:off x="1736725" y="3651250"/>
            <a:ext cx="420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26982" name="Rectangle 6"/>
          <p:cNvSpPr>
            <a:spLocks noChangeArrowheads="1"/>
          </p:cNvSpPr>
          <p:nvPr/>
        </p:nvSpPr>
        <p:spPr bwMode="auto">
          <a:xfrm>
            <a:off x="1965325" y="3622675"/>
            <a:ext cx="29686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
        <p:nvSpPr>
          <p:cNvPr id="126983" name="Rectangle 8"/>
          <p:cNvSpPr>
            <a:spLocks noChangeArrowheads="1"/>
          </p:cNvSpPr>
          <p:nvPr/>
        </p:nvSpPr>
        <p:spPr bwMode="auto">
          <a:xfrm>
            <a:off x="2117725" y="4760913"/>
            <a:ext cx="89058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type="body" idx="4294967295"/>
          </p:nvPr>
        </p:nvSpPr>
        <p:spPr bwMode="auto">
          <a:xfrm>
            <a:off x="0" y="847725"/>
            <a:ext cx="7772400" cy="965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457200" indent="-457200">
              <a:lnSpc>
                <a:spcPct val="88000"/>
              </a:lnSpc>
              <a:buFont typeface="Wingdings" panose="05000000000000000000" pitchFamily="2" charset="2"/>
              <a:buNone/>
            </a:pPr>
            <a:r>
              <a:rPr lang="en-US" altLang="en-US" b="0"/>
              <a:t>a)	Sử dụng</a:t>
            </a:r>
          </a:p>
        </p:txBody>
      </p:sp>
      <p:sp>
        <p:nvSpPr>
          <p:cNvPr id="129027" name="Rectangle 9"/>
          <p:cNvSpPr>
            <a:spLocks noChangeArrowheads="1"/>
          </p:cNvSpPr>
          <p:nvPr/>
        </p:nvSpPr>
        <p:spPr bwMode="auto">
          <a:xfrm>
            <a:off x="838200" y="4495800"/>
            <a:ext cx="58070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151571" name="Rectangle 19"/>
          <p:cNvSpPr>
            <a:spLocks noChangeArrowheads="1"/>
          </p:cNvSpPr>
          <p:nvPr/>
        </p:nvSpPr>
        <p:spPr bwMode="auto">
          <a:xfrm>
            <a:off x="5638800" y="2711450"/>
            <a:ext cx="3338513" cy="208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sz="2400" b="0" dirty="0">
                <a:solidFill>
                  <a:schemeClr val="tx2"/>
                </a:solidFill>
              </a:rPr>
              <a:t>Đ</a:t>
            </a:r>
            <a:r>
              <a:rPr lang="vi-VN" sz="2400" b="0" dirty="0">
                <a:solidFill>
                  <a:schemeClr val="tx2"/>
                </a:solidFill>
              </a:rPr>
              <a:t>ể tin tưởng </a:t>
            </a:r>
            <a:r>
              <a:rPr lang="en-US" sz="2400" b="0" dirty="0" err="1">
                <a:solidFill>
                  <a:schemeClr val="tx2"/>
                </a:solidFill>
              </a:rPr>
              <a:t>rằng</a:t>
            </a:r>
            <a:r>
              <a:rPr lang="en-US" sz="2400" b="0" dirty="0">
                <a:solidFill>
                  <a:schemeClr val="tx2"/>
                </a:solidFill>
              </a:rPr>
              <a:t> </a:t>
            </a:r>
            <a:r>
              <a:rPr lang="vi-VN" sz="2400" b="0" dirty="0">
                <a:solidFill>
                  <a:schemeClr val="tx2"/>
                </a:solidFill>
              </a:rPr>
              <a:t>95%</a:t>
            </a:r>
            <a:r>
              <a:rPr lang="en-US" sz="2400" b="0" dirty="0">
                <a:solidFill>
                  <a:schemeClr val="tx2"/>
                </a:solidFill>
              </a:rPr>
              <a:t> </a:t>
            </a:r>
            <a:r>
              <a:rPr lang="en-US" sz="2400" b="0" dirty="0" err="1">
                <a:solidFill>
                  <a:schemeClr val="tx2"/>
                </a:solidFill>
              </a:rPr>
              <a:t>giá</a:t>
            </a:r>
            <a:r>
              <a:rPr lang="en-US" sz="2400" b="0" dirty="0">
                <a:solidFill>
                  <a:schemeClr val="tx2"/>
                </a:solidFill>
              </a:rPr>
              <a:t> </a:t>
            </a:r>
            <a:r>
              <a:rPr lang="en-US" sz="2400" b="0" dirty="0" err="1">
                <a:solidFill>
                  <a:schemeClr val="tx2"/>
                </a:solidFill>
              </a:rPr>
              <a:t>trị</a:t>
            </a:r>
            <a:r>
              <a:rPr lang="en-US" sz="2400" b="0" dirty="0">
                <a:solidFill>
                  <a:schemeClr val="tx2"/>
                </a:solidFill>
              </a:rPr>
              <a:t> </a:t>
            </a:r>
            <a:r>
              <a:rPr lang="vi-VN" sz="2400" b="0" dirty="0">
                <a:solidFill>
                  <a:schemeClr val="tx2"/>
                </a:solidFill>
              </a:rPr>
              <a:t>tỷ lệ</a:t>
            </a:r>
            <a:r>
              <a:rPr lang="en-US" sz="2400" b="0" dirty="0">
                <a:solidFill>
                  <a:schemeClr val="tx2"/>
                </a:solidFill>
              </a:rPr>
              <a:t> </a:t>
            </a:r>
            <a:r>
              <a:rPr lang="en-US" sz="2400" b="0" dirty="0" err="1">
                <a:solidFill>
                  <a:schemeClr val="tx2"/>
                </a:solidFill>
              </a:rPr>
              <a:t>thực</a:t>
            </a:r>
            <a:r>
              <a:rPr lang="en-US" sz="2400" b="0" dirty="0">
                <a:solidFill>
                  <a:schemeClr val="tx2"/>
                </a:solidFill>
              </a:rPr>
              <a:t> </a:t>
            </a:r>
            <a:r>
              <a:rPr lang="en-US" sz="2400" b="0" dirty="0" err="1">
                <a:solidFill>
                  <a:schemeClr val="tx2"/>
                </a:solidFill>
              </a:rPr>
              <a:t>của</a:t>
            </a:r>
            <a:r>
              <a:rPr lang="en-US" sz="2400" b="0" dirty="0">
                <a:solidFill>
                  <a:schemeClr val="tx2"/>
                </a:solidFill>
              </a:rPr>
              <a:t> </a:t>
            </a:r>
            <a:r>
              <a:rPr lang="en-US" sz="2400" b="0" dirty="0" err="1">
                <a:solidFill>
                  <a:schemeClr val="tx2"/>
                </a:solidFill>
              </a:rPr>
              <a:t>quần</a:t>
            </a:r>
            <a:r>
              <a:rPr lang="en-US" sz="2400" b="0" dirty="0">
                <a:solidFill>
                  <a:schemeClr val="tx2"/>
                </a:solidFill>
              </a:rPr>
              <a:t> </a:t>
            </a:r>
            <a:r>
              <a:rPr lang="en-US" sz="2400" b="0" dirty="0" err="1">
                <a:solidFill>
                  <a:schemeClr val="tx2"/>
                </a:solidFill>
              </a:rPr>
              <a:t>thể</a:t>
            </a:r>
            <a:r>
              <a:rPr lang="en-US" sz="2400" b="0" dirty="0">
                <a:solidFill>
                  <a:schemeClr val="tx2"/>
                </a:solidFill>
              </a:rPr>
              <a:t> </a:t>
            </a:r>
            <a:r>
              <a:rPr lang="en-US" sz="2400" b="0" dirty="0" err="1">
                <a:solidFill>
                  <a:schemeClr val="tx2"/>
                </a:solidFill>
              </a:rPr>
              <a:t>có</a:t>
            </a:r>
            <a:r>
              <a:rPr lang="en-US" sz="2400" b="0" dirty="0">
                <a:solidFill>
                  <a:schemeClr val="tx2"/>
                </a:solidFill>
              </a:rPr>
              <a:t> </a:t>
            </a:r>
            <a:r>
              <a:rPr lang="en-US" sz="2400" b="0" dirty="0" err="1">
                <a:solidFill>
                  <a:schemeClr val="tx2"/>
                </a:solidFill>
              </a:rPr>
              <a:t>biên</a:t>
            </a:r>
            <a:r>
              <a:rPr lang="en-US" sz="2400" b="0" dirty="0">
                <a:solidFill>
                  <a:schemeClr val="tx2"/>
                </a:solidFill>
              </a:rPr>
              <a:t> </a:t>
            </a:r>
            <a:r>
              <a:rPr lang="en-US" sz="2400" b="0" dirty="0" err="1">
                <a:solidFill>
                  <a:schemeClr val="tx2"/>
                </a:solidFill>
              </a:rPr>
              <a:t>độ</a:t>
            </a:r>
            <a:r>
              <a:rPr lang="en-US" sz="2400" b="0" dirty="0">
                <a:solidFill>
                  <a:schemeClr val="tx2"/>
                </a:solidFill>
              </a:rPr>
              <a:t> </a:t>
            </a:r>
            <a:r>
              <a:rPr lang="en-US" sz="2400" b="0" dirty="0" err="1">
                <a:solidFill>
                  <a:schemeClr val="tx2"/>
                </a:solidFill>
              </a:rPr>
              <a:t>lỗi</a:t>
            </a:r>
            <a:r>
              <a:rPr lang="en-US" sz="2400" b="0" dirty="0">
                <a:solidFill>
                  <a:schemeClr val="tx2"/>
                </a:solidFill>
              </a:rPr>
              <a:t> </a:t>
            </a:r>
            <a:r>
              <a:rPr lang="en-US" sz="2400" b="0" dirty="0" err="1">
                <a:solidFill>
                  <a:schemeClr val="tx2"/>
                </a:solidFill>
              </a:rPr>
              <a:t>là</a:t>
            </a:r>
            <a:r>
              <a:rPr lang="vi-VN" sz="2400" b="0" dirty="0">
                <a:solidFill>
                  <a:schemeClr val="tx2"/>
                </a:solidFill>
              </a:rPr>
              <a:t> </a:t>
            </a:r>
            <a:r>
              <a:rPr lang="en-US" sz="2400" b="0" dirty="0">
                <a:solidFill>
                  <a:schemeClr val="tx2"/>
                </a:solidFill>
              </a:rPr>
              <a:t>3%, </a:t>
            </a:r>
            <a:r>
              <a:rPr lang="en-US" sz="2400" b="0" dirty="0" err="1">
                <a:solidFill>
                  <a:schemeClr val="tx2"/>
                </a:solidFill>
              </a:rPr>
              <a:t>c</a:t>
            </a:r>
            <a:r>
              <a:rPr lang="en-US" altLang="en-US" sz="2400" b="0" dirty="0" err="1">
                <a:solidFill>
                  <a:schemeClr val="tx2"/>
                </a:solidFill>
              </a:rPr>
              <a:t>ần</a:t>
            </a:r>
            <a:r>
              <a:rPr lang="en-US" altLang="en-US" sz="2400" b="0" dirty="0">
                <a:solidFill>
                  <a:schemeClr val="tx2"/>
                </a:solidFill>
              </a:rPr>
              <a:t> </a:t>
            </a:r>
            <a:r>
              <a:rPr lang="vi-VN" altLang="en-US" sz="2400" b="0" dirty="0">
                <a:solidFill>
                  <a:schemeClr val="tx2"/>
                </a:solidFill>
              </a:rPr>
              <a:t>lấy mẫu ngẫu nhiên đơn giản là 958 người lớn.</a:t>
            </a:r>
            <a:endParaRPr lang="en-US" altLang="en-US" sz="2400" b="0" dirty="0">
              <a:solidFill>
                <a:schemeClr val="tx2"/>
              </a:solidFill>
            </a:endParaRPr>
          </a:p>
        </p:txBody>
      </p:sp>
      <p:sp>
        <p:nvSpPr>
          <p:cNvPr id="129029" name="Rectangle 26"/>
          <p:cNvSpPr>
            <a:spLocks noChangeArrowheads="1"/>
          </p:cNvSpPr>
          <p:nvPr/>
        </p:nvSpPr>
        <p:spPr bwMode="auto">
          <a:xfrm>
            <a:off x="304800" y="381000"/>
            <a:ext cx="8229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pPr>
            <a:r>
              <a:rPr lang="en-US" altLang="en-US" sz="2800" b="0" dirty="0" err="1">
                <a:solidFill>
                  <a:srgbClr val="008000"/>
                </a:solidFill>
              </a:rPr>
              <a:t>Ví</a:t>
            </a:r>
            <a:r>
              <a:rPr lang="en-US" altLang="en-US" sz="2800" b="0" dirty="0">
                <a:solidFill>
                  <a:srgbClr val="008000"/>
                </a:solidFill>
              </a:rPr>
              <a:t> </a:t>
            </a:r>
            <a:r>
              <a:rPr lang="en-US" altLang="en-US" sz="2800" b="0" dirty="0" err="1">
                <a:solidFill>
                  <a:srgbClr val="008000"/>
                </a:solidFill>
              </a:rPr>
              <a:t>dụ</a:t>
            </a:r>
            <a:r>
              <a:rPr lang="en-US" altLang="en-US" sz="2800" b="0" dirty="0">
                <a:solidFill>
                  <a:srgbClr val="008000"/>
                </a:solidFill>
              </a:rPr>
              <a:t> (</a:t>
            </a:r>
            <a:r>
              <a:rPr lang="en-US" altLang="en-US" sz="2800" b="0" dirty="0" err="1">
                <a:solidFill>
                  <a:srgbClr val="008000"/>
                </a:solidFill>
              </a:rPr>
              <a:t>tt</a:t>
            </a:r>
            <a:r>
              <a:rPr lang="en-US" altLang="en-US" sz="2800" b="0" dirty="0">
                <a:solidFill>
                  <a:srgbClr val="008000"/>
                </a:solidFill>
              </a:rPr>
              <a:t>)</a:t>
            </a:r>
            <a:endParaRPr lang="en-US" altLang="en-US" sz="2800" b="0" dirty="0"/>
          </a:p>
        </p:txBody>
      </p:sp>
      <p:graphicFrame>
        <p:nvGraphicFramePr>
          <p:cNvPr id="129030" name="Object 30"/>
          <p:cNvGraphicFramePr>
            <a:graphicFrameLocks noChangeAspect="1"/>
          </p:cNvGraphicFramePr>
          <p:nvPr/>
        </p:nvGraphicFramePr>
        <p:xfrm>
          <a:off x="2501900" y="879475"/>
          <a:ext cx="4660900" cy="1485900"/>
        </p:xfrm>
        <a:graphic>
          <a:graphicData uri="http://schemas.openxmlformats.org/presentationml/2006/ole">
            <mc:AlternateContent xmlns:mc="http://schemas.openxmlformats.org/markup-compatibility/2006">
              <mc:Choice xmlns:v="urn:schemas-microsoft-com:vml" Requires="v">
                <p:oleObj name="Equation" r:id="rId3" imgW="4660900" imgH="1485900" progId="Equation.DSMT4">
                  <p:embed/>
                </p:oleObj>
              </mc:Choice>
              <mc:Fallback>
                <p:oleObj name="Equation" r:id="rId3" imgW="4660900" imgH="1485900" progId="Equation.DSMT4">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1900" y="879475"/>
                        <a:ext cx="4660900" cy="148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1583" name="Object 31"/>
          <p:cNvGraphicFramePr>
            <a:graphicFrameLocks noChangeAspect="1"/>
          </p:cNvGraphicFramePr>
          <p:nvPr/>
        </p:nvGraphicFramePr>
        <p:xfrm>
          <a:off x="1042988" y="2800350"/>
          <a:ext cx="3771900" cy="3327400"/>
        </p:xfrm>
        <a:graphic>
          <a:graphicData uri="http://schemas.openxmlformats.org/presentationml/2006/ole">
            <mc:AlternateContent xmlns:mc="http://schemas.openxmlformats.org/markup-compatibility/2006">
              <mc:Choice xmlns:v="urn:schemas-microsoft-com:vml" Requires="v">
                <p:oleObj name="Equation" r:id="rId5" imgW="3771900" imgH="3327400" progId="Equation.DSMT4">
                  <p:embed/>
                </p:oleObj>
              </mc:Choice>
              <mc:Fallback>
                <p:oleObj name="Equation" r:id="rId5" imgW="3771900" imgH="3327400" progId="Equation.DSMT4">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2800350"/>
                        <a:ext cx="3771900" cy="332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15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157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71"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body" idx="4294967295"/>
          </p:nvPr>
        </p:nvSpPr>
        <p:spPr bwMode="auto">
          <a:xfrm>
            <a:off x="0" y="820738"/>
            <a:ext cx="7772400" cy="965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marL="457200" indent="-457200">
              <a:lnSpc>
                <a:spcPct val="88000"/>
              </a:lnSpc>
              <a:buFont typeface="Wingdings" panose="05000000000000000000" pitchFamily="2" charset="2"/>
              <a:buNone/>
            </a:pPr>
            <a:r>
              <a:rPr lang="en-US" altLang="en-US" b="0"/>
              <a:t>b)	Sử dụng</a:t>
            </a:r>
          </a:p>
        </p:txBody>
      </p:sp>
      <p:sp>
        <p:nvSpPr>
          <p:cNvPr id="131075" name="Rectangle 3"/>
          <p:cNvSpPr>
            <a:spLocks noChangeArrowheads="1"/>
          </p:cNvSpPr>
          <p:nvPr/>
        </p:nvSpPr>
        <p:spPr bwMode="auto">
          <a:xfrm>
            <a:off x="790575" y="4492625"/>
            <a:ext cx="580707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pPr>
            <a:endParaRPr lang="en-US" altLang="en-US" b="0"/>
          </a:p>
        </p:txBody>
      </p:sp>
      <p:sp>
        <p:nvSpPr>
          <p:cNvPr id="545796" name="Rectangle 4"/>
          <p:cNvSpPr>
            <a:spLocks noChangeArrowheads="1"/>
          </p:cNvSpPr>
          <p:nvPr/>
        </p:nvSpPr>
        <p:spPr bwMode="auto">
          <a:xfrm>
            <a:off x="5181600" y="2362200"/>
            <a:ext cx="3770313" cy="208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nSpc>
                <a:spcPct val="90000"/>
              </a:lnSpc>
              <a:spcBef>
                <a:spcPct val="30000"/>
              </a:spcBef>
            </a:pPr>
            <a:r>
              <a:rPr lang="en-US" sz="2400" b="0" dirty="0">
                <a:solidFill>
                  <a:schemeClr val="tx2"/>
                </a:solidFill>
              </a:rPr>
              <a:t>Đ</a:t>
            </a:r>
            <a:r>
              <a:rPr lang="vi-VN" sz="2400" b="0" dirty="0">
                <a:solidFill>
                  <a:schemeClr val="tx2"/>
                </a:solidFill>
              </a:rPr>
              <a:t>ể tin tưởng </a:t>
            </a:r>
            <a:r>
              <a:rPr lang="en-US" sz="2400" b="0" dirty="0" err="1">
                <a:solidFill>
                  <a:schemeClr val="tx2"/>
                </a:solidFill>
              </a:rPr>
              <a:t>rằng</a:t>
            </a:r>
            <a:r>
              <a:rPr lang="en-US" sz="2400" b="0" dirty="0">
                <a:solidFill>
                  <a:schemeClr val="tx2"/>
                </a:solidFill>
              </a:rPr>
              <a:t> </a:t>
            </a:r>
            <a:r>
              <a:rPr lang="vi-VN" sz="2400" b="0" dirty="0">
                <a:solidFill>
                  <a:schemeClr val="tx2"/>
                </a:solidFill>
              </a:rPr>
              <a:t>95%</a:t>
            </a:r>
            <a:r>
              <a:rPr lang="en-US" sz="2400" b="0" dirty="0">
                <a:solidFill>
                  <a:schemeClr val="tx2"/>
                </a:solidFill>
              </a:rPr>
              <a:t> </a:t>
            </a:r>
            <a:r>
              <a:rPr lang="en-US" sz="2400" b="0" dirty="0" err="1">
                <a:solidFill>
                  <a:schemeClr val="tx2"/>
                </a:solidFill>
              </a:rPr>
              <a:t>giá</a:t>
            </a:r>
            <a:r>
              <a:rPr lang="en-US" sz="2400" b="0" dirty="0">
                <a:solidFill>
                  <a:schemeClr val="tx2"/>
                </a:solidFill>
              </a:rPr>
              <a:t> </a:t>
            </a:r>
            <a:r>
              <a:rPr lang="en-US" sz="2400" b="0" dirty="0" err="1">
                <a:solidFill>
                  <a:schemeClr val="tx2"/>
                </a:solidFill>
              </a:rPr>
              <a:t>trị</a:t>
            </a:r>
            <a:r>
              <a:rPr lang="en-US" sz="2400" b="0" dirty="0">
                <a:solidFill>
                  <a:schemeClr val="tx2"/>
                </a:solidFill>
              </a:rPr>
              <a:t> </a:t>
            </a:r>
            <a:r>
              <a:rPr lang="vi-VN" sz="2400" b="0" dirty="0">
                <a:solidFill>
                  <a:schemeClr val="tx2"/>
                </a:solidFill>
              </a:rPr>
              <a:t>tỷ lệ</a:t>
            </a:r>
            <a:r>
              <a:rPr lang="en-US" sz="2400" b="0" dirty="0">
                <a:solidFill>
                  <a:schemeClr val="tx2"/>
                </a:solidFill>
              </a:rPr>
              <a:t> </a:t>
            </a:r>
            <a:r>
              <a:rPr lang="en-US" sz="2400" b="0" dirty="0" err="1">
                <a:solidFill>
                  <a:schemeClr val="tx2"/>
                </a:solidFill>
              </a:rPr>
              <a:t>thực</a:t>
            </a:r>
            <a:r>
              <a:rPr lang="en-US" sz="2400" b="0" dirty="0">
                <a:solidFill>
                  <a:schemeClr val="tx2"/>
                </a:solidFill>
              </a:rPr>
              <a:t> </a:t>
            </a:r>
            <a:r>
              <a:rPr lang="en-US" sz="2400" b="0" dirty="0" err="1">
                <a:solidFill>
                  <a:schemeClr val="tx2"/>
                </a:solidFill>
              </a:rPr>
              <a:t>của</a:t>
            </a:r>
            <a:r>
              <a:rPr lang="en-US" sz="2400" b="0" dirty="0">
                <a:solidFill>
                  <a:schemeClr val="tx2"/>
                </a:solidFill>
              </a:rPr>
              <a:t> </a:t>
            </a:r>
            <a:r>
              <a:rPr lang="en-US" sz="2400" b="0" dirty="0" err="1">
                <a:solidFill>
                  <a:schemeClr val="tx2"/>
                </a:solidFill>
              </a:rPr>
              <a:t>quần</a:t>
            </a:r>
            <a:r>
              <a:rPr lang="en-US" sz="2400" b="0" dirty="0">
                <a:solidFill>
                  <a:schemeClr val="tx2"/>
                </a:solidFill>
              </a:rPr>
              <a:t> </a:t>
            </a:r>
            <a:r>
              <a:rPr lang="en-US" sz="2400" b="0" dirty="0" err="1">
                <a:solidFill>
                  <a:schemeClr val="tx2"/>
                </a:solidFill>
              </a:rPr>
              <a:t>thể</a:t>
            </a:r>
            <a:r>
              <a:rPr lang="en-US" sz="2400" b="0" dirty="0">
                <a:solidFill>
                  <a:schemeClr val="tx2"/>
                </a:solidFill>
              </a:rPr>
              <a:t> </a:t>
            </a:r>
            <a:r>
              <a:rPr lang="en-US" sz="2400" b="0" dirty="0" err="1">
                <a:solidFill>
                  <a:schemeClr val="tx2"/>
                </a:solidFill>
              </a:rPr>
              <a:t>có</a:t>
            </a:r>
            <a:r>
              <a:rPr lang="en-US" sz="2400" b="0" dirty="0">
                <a:solidFill>
                  <a:schemeClr val="tx2"/>
                </a:solidFill>
              </a:rPr>
              <a:t> </a:t>
            </a:r>
            <a:r>
              <a:rPr lang="en-US" sz="2400" b="0" dirty="0" err="1">
                <a:solidFill>
                  <a:schemeClr val="tx2"/>
                </a:solidFill>
              </a:rPr>
              <a:t>biên</a:t>
            </a:r>
            <a:r>
              <a:rPr lang="en-US" sz="2400" b="0" dirty="0">
                <a:solidFill>
                  <a:schemeClr val="tx2"/>
                </a:solidFill>
              </a:rPr>
              <a:t> </a:t>
            </a:r>
            <a:r>
              <a:rPr lang="en-US" sz="2400" b="0" dirty="0" err="1">
                <a:solidFill>
                  <a:schemeClr val="tx2"/>
                </a:solidFill>
              </a:rPr>
              <a:t>độ</a:t>
            </a:r>
            <a:r>
              <a:rPr lang="en-US" sz="2400" b="0" dirty="0">
                <a:solidFill>
                  <a:schemeClr val="tx2"/>
                </a:solidFill>
              </a:rPr>
              <a:t> </a:t>
            </a:r>
            <a:r>
              <a:rPr lang="en-US" sz="2400" b="0" dirty="0" err="1">
                <a:solidFill>
                  <a:schemeClr val="tx2"/>
                </a:solidFill>
              </a:rPr>
              <a:t>lỗi</a:t>
            </a:r>
            <a:r>
              <a:rPr lang="en-US" sz="2400" b="0" dirty="0">
                <a:solidFill>
                  <a:schemeClr val="tx2"/>
                </a:solidFill>
              </a:rPr>
              <a:t> </a:t>
            </a:r>
            <a:r>
              <a:rPr lang="en-US" sz="2400" b="0" dirty="0" err="1">
                <a:solidFill>
                  <a:schemeClr val="tx2"/>
                </a:solidFill>
              </a:rPr>
              <a:t>là</a:t>
            </a:r>
            <a:r>
              <a:rPr lang="vi-VN" sz="2400" b="0" dirty="0">
                <a:solidFill>
                  <a:schemeClr val="tx2"/>
                </a:solidFill>
              </a:rPr>
              <a:t> </a:t>
            </a:r>
            <a:r>
              <a:rPr lang="en-US" sz="2400" b="0" dirty="0">
                <a:solidFill>
                  <a:schemeClr val="tx2"/>
                </a:solidFill>
              </a:rPr>
              <a:t>3%, </a:t>
            </a:r>
            <a:r>
              <a:rPr lang="en-US" sz="2400" b="0" dirty="0" err="1">
                <a:solidFill>
                  <a:schemeClr val="tx2"/>
                </a:solidFill>
              </a:rPr>
              <a:t>c</a:t>
            </a:r>
            <a:r>
              <a:rPr lang="en-US" altLang="en-US" sz="2400" b="0" dirty="0" err="1">
                <a:solidFill>
                  <a:schemeClr val="tx2"/>
                </a:solidFill>
              </a:rPr>
              <a:t>ần</a:t>
            </a:r>
            <a:r>
              <a:rPr lang="en-US" altLang="en-US" sz="2400" b="0" dirty="0">
                <a:solidFill>
                  <a:schemeClr val="tx2"/>
                </a:solidFill>
              </a:rPr>
              <a:t> </a:t>
            </a:r>
            <a:r>
              <a:rPr lang="vi-VN" altLang="en-US" sz="2400" b="0" dirty="0">
                <a:solidFill>
                  <a:schemeClr val="tx2"/>
                </a:solidFill>
              </a:rPr>
              <a:t>lấy mẫu ngẫu nhiên đơn giản là </a:t>
            </a:r>
            <a:r>
              <a:rPr lang="en-US" altLang="en-US" sz="2400" b="0" dirty="0">
                <a:solidFill>
                  <a:schemeClr val="tx2"/>
                </a:solidFill>
              </a:rPr>
              <a:t>1068</a:t>
            </a:r>
            <a:r>
              <a:rPr lang="vi-VN" altLang="en-US" sz="2400" b="0" dirty="0">
                <a:solidFill>
                  <a:schemeClr val="tx2"/>
                </a:solidFill>
              </a:rPr>
              <a:t> người lớn.</a:t>
            </a:r>
            <a:endParaRPr lang="en-US" altLang="en-US" sz="2400" b="0" dirty="0">
              <a:solidFill>
                <a:schemeClr val="tx2"/>
              </a:solidFill>
            </a:endParaRPr>
          </a:p>
        </p:txBody>
      </p:sp>
      <p:sp>
        <p:nvSpPr>
          <p:cNvPr id="131077" name="Rectangle 5"/>
          <p:cNvSpPr>
            <a:spLocks noChangeArrowheads="1"/>
          </p:cNvSpPr>
          <p:nvPr/>
        </p:nvSpPr>
        <p:spPr bwMode="auto">
          <a:xfrm>
            <a:off x="228600" y="381000"/>
            <a:ext cx="83058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lnSpc>
                <a:spcPct val="90000"/>
              </a:lnSpc>
            </a:pPr>
            <a:r>
              <a:rPr lang="en-US" altLang="en-US" sz="2800" b="0" dirty="0" err="1">
                <a:solidFill>
                  <a:srgbClr val="008000"/>
                </a:solidFill>
              </a:rPr>
              <a:t>Ví</a:t>
            </a:r>
            <a:r>
              <a:rPr lang="en-US" altLang="en-US" sz="2800" b="0" dirty="0">
                <a:solidFill>
                  <a:srgbClr val="008000"/>
                </a:solidFill>
              </a:rPr>
              <a:t> </a:t>
            </a:r>
            <a:r>
              <a:rPr lang="en-US" altLang="en-US" sz="2800" b="0" dirty="0" err="1">
                <a:solidFill>
                  <a:srgbClr val="008000"/>
                </a:solidFill>
              </a:rPr>
              <a:t>dụ</a:t>
            </a:r>
            <a:r>
              <a:rPr lang="en-US" altLang="en-US" sz="2800" b="0" dirty="0">
                <a:solidFill>
                  <a:srgbClr val="008000"/>
                </a:solidFill>
              </a:rPr>
              <a:t> (</a:t>
            </a:r>
            <a:r>
              <a:rPr lang="en-US" altLang="en-US" sz="2800" b="0" dirty="0" err="1">
                <a:solidFill>
                  <a:srgbClr val="008000"/>
                </a:solidFill>
              </a:rPr>
              <a:t>tt</a:t>
            </a:r>
            <a:r>
              <a:rPr lang="en-US" altLang="en-US" sz="2800" b="0" dirty="0">
                <a:solidFill>
                  <a:srgbClr val="008000"/>
                </a:solidFill>
              </a:rPr>
              <a:t>)</a:t>
            </a:r>
            <a:endParaRPr lang="en-US" altLang="en-US" sz="2800" b="0" dirty="0"/>
          </a:p>
        </p:txBody>
      </p:sp>
      <p:graphicFrame>
        <p:nvGraphicFramePr>
          <p:cNvPr id="131078" name="Object 6"/>
          <p:cNvGraphicFramePr>
            <a:graphicFrameLocks noChangeAspect="1"/>
          </p:cNvGraphicFramePr>
          <p:nvPr/>
        </p:nvGraphicFramePr>
        <p:xfrm>
          <a:off x="2501900" y="798513"/>
          <a:ext cx="3670300" cy="1003300"/>
        </p:xfrm>
        <a:graphic>
          <a:graphicData uri="http://schemas.openxmlformats.org/presentationml/2006/ole">
            <mc:AlternateContent xmlns:mc="http://schemas.openxmlformats.org/markup-compatibility/2006">
              <mc:Choice xmlns:v="urn:schemas-microsoft-com:vml" Requires="v">
                <p:oleObj name="Equation" r:id="rId3" imgW="3670300" imgH="1003300" progId="Equation.DSMT4">
                  <p:embed/>
                </p:oleObj>
              </mc:Choice>
              <mc:Fallback>
                <p:oleObj name="Equation" r:id="rId3" imgW="3670300" imgH="10033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1900" y="798513"/>
                        <a:ext cx="36703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5799" name="Object 7"/>
          <p:cNvGraphicFramePr>
            <a:graphicFrameLocks noChangeAspect="1"/>
          </p:cNvGraphicFramePr>
          <p:nvPr/>
        </p:nvGraphicFramePr>
        <p:xfrm>
          <a:off x="1303338" y="2773363"/>
          <a:ext cx="2667000" cy="3327400"/>
        </p:xfrm>
        <a:graphic>
          <a:graphicData uri="http://schemas.openxmlformats.org/presentationml/2006/ole">
            <mc:AlternateContent xmlns:mc="http://schemas.openxmlformats.org/markup-compatibility/2006">
              <mc:Choice xmlns:v="urn:schemas-microsoft-com:vml" Requires="v">
                <p:oleObj name="Equation" r:id="rId5" imgW="2667000" imgH="3327400" progId="Equation.DSMT4">
                  <p:embed/>
                </p:oleObj>
              </mc:Choice>
              <mc:Fallback>
                <p:oleObj name="Equation" r:id="rId5" imgW="2667000" imgH="33274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3338" y="2773363"/>
                        <a:ext cx="2667000" cy="332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457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579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6" grpId="0" build="p"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roject planning overview presentat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vinhlinh's font">
      <a:majorFont>
        <a:latin typeface="Cambria"/>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12000"/>
                <a:satMod val="240000"/>
              </a:schemeClr>
              <a:schemeClr val="phClr">
                <a:tint val="98000"/>
              </a:schemeClr>
            </a:duotone>
          </a:blip>
          <a:tile tx="0" ty="0" sx="100000" sy="100000" flip="none" algn="ctr"/>
        </a:blipFill>
      </a:bgFillStyleLst>
    </a:fmtScheme>
  </a:themeElements>
  <a:objectDefaults>
    <a:spDef>
      <a:spPr>
        <a:solidFill>
          <a:schemeClr val="accent1">
            <a:lumMod val="50000"/>
          </a:schemeClr>
        </a:solidFill>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pPr>
      <a:bodyPr/>
      <a:lstStyle/>
      <a:style>
        <a:lnRef idx="1">
          <a:schemeClr val="accent1"/>
        </a:lnRef>
        <a:fillRef idx="0">
          <a:schemeClr val="accent1"/>
        </a:fillRef>
        <a:effectRef idx="0">
          <a:schemeClr val="accent1"/>
        </a:effectRef>
        <a:fontRef idx="minor">
          <a:schemeClr val="tx1"/>
        </a:fontRef>
      </a:style>
    </a:lnDef>
    <a:txDef>
      <a:spPr>
        <a:noFill/>
        <a:ln>
          <a:solidFill>
            <a:schemeClr val="accent1">
              <a:lumMod val="20000"/>
              <a:lumOff val="80000"/>
            </a:schemeClr>
          </a:solidFill>
        </a:ln>
      </a:spPr>
      <a:bodyPr wrap="square" rtlCol="0" anchor="ctr" anchorCtr="1">
        <a:spAutoFit/>
      </a:bodyPr>
      <a:lstStyle>
        <a:defPPr algn="l">
          <a:defRPr dirty="0" smtClean="0"/>
        </a:defPPr>
      </a:lstStyle>
    </a:txDef>
  </a:objectDefaults>
  <a:extraClrSchemeLst/>
  <a:extLst>
    <a:ext uri="{05A4C25C-085E-4340-85A3-A5531E510DB2}">
      <thm15:themeFamily xmlns:thm15="http://schemas.microsoft.com/office/thememl/2012/main" name="Business project planning overview presentation.potx" id="{0D6D6775-FC9F-484B-A889-C0FCD86449E3}" vid="{CBE6795F-D548-4056-89FC-5BC618C494F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6BAE39B23011E40BDBD43013935DC0B" ma:contentTypeVersion="14" ma:contentTypeDescription="Create a new document." ma:contentTypeScope="" ma:versionID="6568e48e987e6d5d9701e0ebd7c159e4">
  <xsd:schema xmlns:xsd="http://www.w3.org/2001/XMLSchema" xmlns:xs="http://www.w3.org/2001/XMLSchema" xmlns:p="http://schemas.microsoft.com/office/2006/metadata/properties" xmlns:ns2="5939594d-4720-433a-9aed-557226e5ac23" xmlns:ns3="c0a428b2-ccfb-41da-a441-66f48fe010e1" targetNamespace="http://schemas.microsoft.com/office/2006/metadata/properties" ma:root="true" ma:fieldsID="3b1438c299ba7dec7e34130e14a7dc19" ns2:_="" ns3:_="">
    <xsd:import namespace="5939594d-4720-433a-9aed-557226e5ac23"/>
    <xsd:import namespace="c0a428b2-ccfb-41da-a441-66f48fe010e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39594d-4720-433a-9aed-557226e5ac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d91ae26-2a01-4c1f-813e-662ea83684b4"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0a428b2-ccfb-41da-a441-66f48fe010e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1ad47853-20e2-40e6-ada4-6f126ff3cb18}" ma:internalName="TaxCatchAll" ma:showField="CatchAllData" ma:web="c0a428b2-ccfb-41da-a441-66f48fe010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939594d-4720-433a-9aed-557226e5ac23">
      <Terms xmlns="http://schemas.microsoft.com/office/infopath/2007/PartnerControls"/>
    </lcf76f155ced4ddcb4097134ff3c332f>
    <TaxCatchAll xmlns="c0a428b2-ccfb-41da-a441-66f48fe010e1" xsi:nil="true"/>
  </documentManagement>
</p:properties>
</file>

<file path=customXml/itemProps1.xml><?xml version="1.0" encoding="utf-8"?>
<ds:datastoreItem xmlns:ds="http://schemas.openxmlformats.org/officeDocument/2006/customXml" ds:itemID="{1BE7DA46-7B29-49C3-BAA6-FF9FC68802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39594d-4720-433a-9aed-557226e5ac23"/>
    <ds:schemaRef ds:uri="c0a428b2-ccfb-41da-a441-66f48fe010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76E780C-2AE9-4994-9BEB-DE77B330AF30}">
  <ds:schemaRefs>
    <ds:schemaRef ds:uri="http://schemas.microsoft.com/sharepoint/v3/contenttype/forms"/>
  </ds:schemaRefs>
</ds:datastoreItem>
</file>

<file path=customXml/itemProps3.xml><?xml version="1.0" encoding="utf-8"?>
<ds:datastoreItem xmlns:ds="http://schemas.openxmlformats.org/officeDocument/2006/customXml" ds:itemID="{FA1D0517-2541-4B02-914D-0156DBC877FB}">
  <ds:schemaRefs>
    <ds:schemaRef ds:uri="http://schemas.microsoft.com/office/2006/metadata/properties"/>
    <ds:schemaRef ds:uri="http://schemas.microsoft.com/office/infopath/2007/PartnerControls"/>
    <ds:schemaRef ds:uri="5939594d-4720-433a-9aed-557226e5ac23"/>
    <ds:schemaRef ds:uri="c0a428b2-ccfb-41da-a441-66f48fe010e1"/>
  </ds:schemaRefs>
</ds:datastoreItem>
</file>

<file path=docProps/app.xml><?xml version="1.0" encoding="utf-8"?>
<Properties xmlns="http://schemas.openxmlformats.org/officeDocument/2006/extended-properties" xmlns:vt="http://schemas.openxmlformats.org/officeDocument/2006/docPropsVTypes">
  <Template/>
  <TotalTime>14354</TotalTime>
  <Pages>28</Pages>
  <Words>4851</Words>
  <Application>Microsoft Office PowerPoint</Application>
  <PresentationFormat>On-screen Show (4:3)</PresentationFormat>
  <Paragraphs>376</Paragraphs>
  <Slides>61</Slides>
  <Notes>60</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6" baseType="lpstr">
      <vt:lpstr>Arabic Typesetting</vt:lpstr>
      <vt:lpstr>Arial</vt:lpstr>
      <vt:lpstr>Calibri</vt:lpstr>
      <vt:lpstr>Cambria</vt:lpstr>
      <vt:lpstr>Cambria Math</vt:lpstr>
      <vt:lpstr>Courier New</vt:lpstr>
      <vt:lpstr>Georgia</vt:lpstr>
      <vt:lpstr>inherit</vt:lpstr>
      <vt:lpstr>Palatino Linotype</vt:lpstr>
      <vt:lpstr>Symbol</vt:lpstr>
      <vt:lpstr>Times New Roman</vt:lpstr>
      <vt:lpstr>Wingdings</vt:lpstr>
      <vt:lpstr>ヒラギノ角ゴ ProN W3</vt:lpstr>
      <vt:lpstr>Project planning overview presentation</vt:lpstr>
      <vt:lpstr>Equation</vt:lpstr>
      <vt:lpstr>Chương 7 Ước lượng và kích thước mẫu</vt:lpstr>
      <vt:lpstr>Giới thiệu </vt:lpstr>
      <vt:lpstr>Giới thiệu  </vt:lpstr>
      <vt:lpstr>Giới thiệu  </vt:lpstr>
      <vt:lpstr>Ví dụ</vt:lpstr>
      <vt:lpstr>Ví dụ ước lượng điểm</vt:lpstr>
      <vt:lpstr>Ví dụ ước lượng điểm</vt:lpstr>
      <vt:lpstr>Ví dụ ước lượng khoảng</vt:lpstr>
      <vt:lpstr>Chương 7 Ước lượng và kích thước mẫu</vt:lpstr>
      <vt:lpstr>Khái niệm chính</vt:lpstr>
      <vt:lpstr>PowerPoint Presentation</vt:lpstr>
      <vt:lpstr>Khoảng ước lượng cho trung bình μ</vt:lpstr>
      <vt:lpstr>Khoảng ước lượng cho trung bình μ</vt:lpstr>
      <vt:lpstr>Khoảng ước lượng cho trung bình μ</vt:lpstr>
      <vt:lpstr>Khoảng ước lượng cho trung bình μ</vt:lpstr>
      <vt:lpstr>Định nghĩa</vt:lpstr>
      <vt:lpstr>Diễn giải khoảng tin cậy</vt:lpstr>
      <vt:lpstr>Finding zα/2 for a 95%  Confidence Level</vt:lpstr>
      <vt:lpstr>Ví dụ</vt:lpstr>
      <vt:lpstr>Ví dụ</vt:lpstr>
      <vt:lpstr>Ví dụ</vt:lpstr>
      <vt:lpstr>Ví dụ</vt:lpstr>
      <vt:lpstr>PowerPoint Presentation</vt:lpstr>
      <vt:lpstr>Chọn phân phối phù hợp</vt:lpstr>
      <vt:lpstr>PowerPoint Presentation</vt:lpstr>
      <vt:lpstr>Định nghĩa</vt:lpstr>
      <vt:lpstr>Ký hiệu</vt:lpstr>
      <vt:lpstr>Khoảng tin cậy cho ước lượng của μ (Với σ không biết)</vt:lpstr>
      <vt:lpstr>Ví dụ</vt:lpstr>
      <vt:lpstr>Ví dụ (tt)</vt:lpstr>
      <vt:lpstr>Ví dụ (tt)</vt:lpstr>
      <vt:lpstr>Các thuộc tính quan trọng của phân phối t</vt:lpstr>
      <vt:lpstr>Phân phối t với n = 3 và n = 12</vt:lpstr>
      <vt:lpstr>Ví dụ</vt:lpstr>
      <vt:lpstr>Ví dụ</vt:lpstr>
      <vt:lpstr>Ví dụ</vt:lpstr>
      <vt:lpstr>Ví dụ</vt:lpstr>
      <vt:lpstr>Kích thước mẫu</vt:lpstr>
      <vt:lpstr>Tìm kích thước mẫu để ước lượng trung bình quần thể</vt:lpstr>
      <vt:lpstr>Quy tắc làm tròn cho kích thước mẫu n</vt:lpstr>
      <vt:lpstr>Tìm kích thước mẫu n khi σ không xác định</vt:lpstr>
      <vt:lpstr>Ví dụ</vt:lpstr>
      <vt:lpstr>Chương 7 Ước lượng và kích thước mẫu</vt:lpstr>
      <vt:lpstr>PowerPoint Presentation</vt:lpstr>
      <vt:lpstr>PowerPoint Presentation</vt:lpstr>
      <vt:lpstr>Ví dụ</vt:lpstr>
      <vt:lpstr>Khoảng ước lượng cho tỉ lệ p</vt:lpstr>
      <vt:lpstr>Khoảng ước lượng cho tỉ lệ p</vt:lpstr>
      <vt:lpstr>Quy tắc làm tròn cho ước lượng khoảng tin cậy của p</vt:lpstr>
      <vt:lpstr>Ví dụ</vt:lpstr>
      <vt:lpstr>PowerPoint Presentation</vt:lpstr>
      <vt:lpstr>PowerPoint Presentation</vt:lpstr>
      <vt:lpstr>PowerPoint Presentation</vt:lpstr>
      <vt:lpstr>PowerPoint Presentation</vt:lpstr>
      <vt:lpstr>Kích thước mẫu</vt:lpstr>
      <vt:lpstr>Xác định kích thước mẫu</vt:lpstr>
      <vt:lpstr>Kích thước mẫu để ước tính tỷ lệ p</vt:lpstr>
      <vt:lpstr>Quy tắc làm tròn để xác định kích thước mẫu</vt:lpstr>
      <vt:lpstr>Ví dụ:</vt:lpstr>
      <vt:lpstr>PowerPoint Presentation</vt:lpstr>
      <vt:lpstr>PowerPoint Presentation</vt:lpstr>
    </vt:vector>
  </TitlesOfParts>
  <Company>Copyright © 2014, 2012, 2010 Pearson Education, Inc. All Rights Reserved.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Elementary Statistics 12e</dc:title>
  <dc:subject>Chapter 7 Section 1</dc:subject>
  <dc:creator>Mario Triola</dc:creator>
  <cp:lastModifiedBy>Tran Nhat Hoang Anh</cp:lastModifiedBy>
  <cp:revision>794</cp:revision>
  <cp:lastPrinted>1997-05-28T14:02:53Z</cp:lastPrinted>
  <dcterms:created xsi:type="dcterms:W3CDTF">1997-05-25T09:08:44Z</dcterms:created>
  <dcterms:modified xsi:type="dcterms:W3CDTF">2025-11-05T01:16:12Z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0x010100D6BAE39B23011E40BDBD43013935DC0B</vt:lpwstr>
  </property>
</Properties>
</file>